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4" r:id="rId22"/>
    <p:sldId id="285" r:id="rId23"/>
    <p:sldId id="286" r:id="rId24"/>
    <p:sldId id="277" r:id="rId25"/>
    <p:sldId id="278" r:id="rId26"/>
    <p:sldId id="279" r:id="rId27"/>
    <p:sldId id="280" r:id="rId28"/>
    <p:sldId id="281" r:id="rId29"/>
    <p:sldId id="282" r:id="rId30"/>
    <p:sldId id="283"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9114F"/>
    <a:srgbClr val="F8FAFC"/>
    <a:srgbClr val="FBFD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5" d="100"/>
          <a:sy n="125" d="100"/>
        </p:scale>
        <p:origin x="-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Profit Contribution (%)</c:v>
                </c:pt>
              </c:strCache>
            </c:strRef>
          </c:tx>
          <c:spPr>
            <a:solidFill>
              <a:srgbClr val="F58220"/>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Predictive Maint.</c:v>
                </c:pt>
                <c:pt idx="1">
                  <c:v>EV Manufacturing</c:v>
                </c:pt>
                <c:pt idx="2">
                  <c:v>Defect Reduction</c:v>
                </c:pt>
                <c:pt idx="3">
                  <c:v>Inventory Opt.</c:v>
                </c:pt>
                <c:pt idx="4">
                  <c:v>Supply Chain</c:v>
                </c:pt>
              </c:strCache>
            </c:strRef>
          </c:cat>
          <c:val>
            <c:numRef>
              <c:f>Sheet1!$B$2:$B$6</c:f>
              <c:numCache>
                <c:formatCode>General</c:formatCode>
                <c:ptCount val="5"/>
                <c:pt idx="0">
                  <c:v>8</c:v>
                </c:pt>
                <c:pt idx="1">
                  <c:v>6</c:v>
                </c:pt>
                <c:pt idx="2">
                  <c:v>5</c:v>
                </c:pt>
                <c:pt idx="3">
                  <c:v>4</c:v>
                </c:pt>
                <c:pt idx="4">
                  <c:v>3</c:v>
                </c:pt>
              </c:numCache>
            </c:numRef>
          </c:val>
          <c:extLst>
            <c:ext xmlns:c16="http://schemas.microsoft.com/office/drawing/2014/chart" uri="{C3380CC4-5D6E-409C-BE32-E72D297353CC}">
              <c16:uniqueId val="{00000000-C147-4E48-AE50-8486477DEBA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Uptime %</c:v>
                </c:pt>
              </c:strCache>
            </c:strRef>
          </c:tx>
          <c:spPr>
            <a:ln w="25400" cap="flat">
              <a:solidFill>
                <a:srgbClr val="F58220"/>
              </a:solidFill>
              <a:prstDash val="solid"/>
              <a:round/>
            </a:ln>
            <a:effectLst/>
          </c:spPr>
          <c:marker>
            <c:symbol val="circle"/>
            <c:size val="6"/>
            <c:spPr>
              <a:solidFill>
                <a:srgbClr val="F58220"/>
              </a:solidFill>
              <a:ln w="9525" cap="flat">
                <a:solidFill>
                  <a:srgbClr val="F58220"/>
                </a:solidFill>
                <a:prstDash val="solid"/>
                <a:round/>
              </a:ln>
              <a:effectLst/>
            </c:spPr>
          </c:marker>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Jan (No Training)</c:v>
                </c:pt>
                <c:pt idx="1">
                  <c:v>Feb (No Calibration)</c:v>
                </c:pt>
                <c:pt idx="2">
                  <c:v>Mar (Remediated)</c:v>
                </c:pt>
                <c:pt idx="3">
                  <c:v>Apr (Remediated)</c:v>
                </c:pt>
              </c:strCache>
            </c:strRef>
          </c:cat>
          <c:val>
            <c:numRef>
              <c:f>Sheet1!$B$2:$B$5</c:f>
              <c:numCache>
                <c:formatCode>General</c:formatCode>
                <c:ptCount val="4"/>
                <c:pt idx="0">
                  <c:v>72.099999999999994</c:v>
                </c:pt>
                <c:pt idx="1">
                  <c:v>78.5</c:v>
                </c:pt>
                <c:pt idx="2">
                  <c:v>95.2</c:v>
                </c:pt>
                <c:pt idx="3">
                  <c:v>98</c:v>
                </c:pt>
              </c:numCache>
            </c:numRef>
          </c:val>
          <c:smooth val="1"/>
          <c:extLst>
            <c:ext xmlns:c16="http://schemas.microsoft.com/office/drawing/2014/chart" uri="{C3380CC4-5D6E-409C-BE32-E72D297353CC}">
              <c16:uniqueId val="{00000000-BDB6-4E68-A69D-4AA6DAA504B5}"/>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Manual (Method A)</c:v>
                </c:pt>
              </c:strCache>
            </c:strRef>
          </c:tx>
          <c:spPr>
            <a:solidFill>
              <a:srgbClr val="0B1D35"/>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Accuracy %</c:v>
                </c:pt>
                <c:pt idx="1">
                  <c:v>Defect Escape %</c:v>
                </c:pt>
                <c:pt idx="2">
                  <c:v>Inspect Time (s)</c:v>
                </c:pt>
              </c:strCache>
            </c:strRef>
          </c:cat>
          <c:val>
            <c:numRef>
              <c:f>Sheet1!$B$2:$B$4</c:f>
              <c:numCache>
                <c:formatCode>General</c:formatCode>
                <c:ptCount val="3"/>
                <c:pt idx="0">
                  <c:v>78</c:v>
                </c:pt>
                <c:pt idx="1">
                  <c:v>8.1999999999999993</c:v>
                </c:pt>
                <c:pt idx="2">
                  <c:v>120</c:v>
                </c:pt>
              </c:numCache>
            </c:numRef>
          </c:val>
          <c:extLst>
            <c:ext xmlns:c16="http://schemas.microsoft.com/office/drawing/2014/chart" uri="{C3380CC4-5D6E-409C-BE32-E72D297353CC}">
              <c16:uniqueId val="{00000000-09D3-4A7E-B0CA-6A491C58E4ED}"/>
            </c:ext>
          </c:extLst>
        </c:ser>
        <c:ser>
          <c:idx val="1"/>
          <c:order val="1"/>
          <c:tx>
            <c:strRef>
              <c:f>Sheet1!$C$1</c:f>
              <c:strCache>
                <c:ptCount val="1"/>
                <c:pt idx="0">
                  <c:v>Automated (Method B)</c:v>
                </c:pt>
              </c:strCache>
            </c:strRef>
          </c:tx>
          <c:spPr>
            <a:solidFill>
              <a:srgbClr val="F58220"/>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Accuracy %</c:v>
                </c:pt>
                <c:pt idx="1">
                  <c:v>Defect Escape %</c:v>
                </c:pt>
                <c:pt idx="2">
                  <c:v>Inspect Time (s)</c:v>
                </c:pt>
              </c:strCache>
            </c:strRef>
          </c:cat>
          <c:val>
            <c:numRef>
              <c:f>Sheet1!$C$2:$C$4</c:f>
              <c:numCache>
                <c:formatCode>General</c:formatCode>
                <c:ptCount val="3"/>
                <c:pt idx="0">
                  <c:v>98</c:v>
                </c:pt>
                <c:pt idx="1">
                  <c:v>1.2</c:v>
                </c:pt>
                <c:pt idx="2">
                  <c:v>15</c:v>
                </c:pt>
              </c:numCache>
            </c:numRef>
          </c:val>
          <c:extLst>
            <c:ext xmlns:c16="http://schemas.microsoft.com/office/drawing/2014/chart" uri="{C3380CC4-5D6E-409C-BE32-E72D297353CC}">
              <c16:uniqueId val="{00000001-09D3-4A7E-B0CA-6A491C58E4E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2740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we present our Integrated Operations Analysis for Tata Motors — a complete data engineering and business intelligence strategy spanning PostgreSQL database design, SQL ETL pipelines, Excel analytical workbooks, interactive Power BI dashboards, and automated operational workflows using n8n with Generative AI. Over the next 25 slides, we will demonstrate how these tools work together to optimize manufacturing operations, track logistics efficiency, and drive a projected 26 percent profit growth for one of India's largest automotive companies. This presentation covers all three weeks of our project: business understanding and DBMS foundations, SQL ETL and Excel analytics, and Power BI dashboarding with GenAI automation.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presentation follows a five-part consulting narrative. We begin with the business case — Tata Motors' profile, product dissection, operational challenges, and profit growth strategies. Next, we cover database foundations including schema design, guesstimates, cohort analysis, and A/B testing. The third section walks through our SQL ETL pipeline — extraction, cleaning, and feature engineering. Section four presents our Excel and Power BI analytical dashboards. Finally, we conclude with n8n automation workflows, GenAI-powered shipment reasoners, strategic recommendations, and our implementation roadmap. Each section builds on the previous one, demonstrating a complete end-to-end data engineering lifecycle.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Tata Motors is a 42-billion-dollar global automotive leader. The company operates core manufacturing plants in Pune and Sanand, featuring high-precision robotic welding and sensor-mapped assembly lines. Tata Motors holds over 70 percent of India's passenger electric vehicle market, with models like Nexon EV and Tiago EV leading the transition. With over 100,000 employees across engineering centers, factories, and dealerships, the company generates millions of transactional data points daily. The manufacturing industry itself is undergoing an Industry 4.0 transformation — moving from isolated automation to integrated data networks that enable predictive maintenance, AI-based quality inspection, and real-time supply chain monitoring.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dissects Tata Motors' manufacturing process into four core layers. Advanced Assembly uses robotic logistics loaders with RFID tracking to move components efficiently. Dedicated EV Production Blocks handle the specialized requirements of battery packs and electric drivetrains. Precision R and D facilities run continuous prototyping and crash testing. Smart Quality Control deploys AI computer vision to inspect castings during assembly, reducing defect escape rates by 12 percent. The workflow diagram on the right shows how these layers connect — from component sourcing through robotic assembly, quality inspection, and final dispatch.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Tata Motors faces four critical manufacturing challenges. First, unplanned downtime from unexpected motor breakdowns can halt entire production lines. Second, domestic logistics take an average of 118 days — longer than international routes — creating dealer dissatisfaction. Third, inventory imbalances tie up working capital or cause production stoppages. Fourth, human visual inspectors miss micro-defects, leading to costly warranty returns. Our database design, dashboards, and automation systems are specifically engineered to address each of these pain points through real-time monitoring, predictive alerts, and automated escalation.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counter these operational bottlenecks, Tata Motors deploys six remediation strategies across internal and external domains. Internally: predictive maintenance via vibration sensors, SAP IBP integration for demand-supply synchronization, and AI computer vision for automated quality inspection. Externally: battery localization through regional gigafactories, Tata Power charging network expansion, and modular EV platforms enabling multi-body-style production. Our database tracks each remediation project, giving management clear visibility into milestones.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modeled five core initiatives projected to deliver a cumulative 26 percent profit margin increase. Predictive maintenance leads with an 8 percent contribution by minimizing unplanned shutdowns. EV manufacturing expansion adds 6 percent through new product lines and localized battery supply. Quality defect reduction via automated inspection contributes 5 percent. Inventory optimization reduces storage overhead for 4 percent, and supply chain improvements add 3 percent. The horizontal bar chart on the right visualizes this waterfall breakdown, clearly showing the relative impact of each initiative.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database architecture is built on seven core relational tables organized into three domains. The Customer and Billing domain contains the Customer table linked to Membership via M_ID, and Payment_Details tracking financial transactions. The Logistics domain has Shipment_Details connected to Status tracking delivery progress. The Workforce domain links Employee_Details to shipment management through a link table. The bottom section shows our Entity-Relationship model — Customer connects to Membership, which connects to Payment, then to Shipment, Status, and finally Employee. Primary and foreign key constraints enforce referential integrity throughout.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determine database capacity requirements and validate our project assumptions, we analyzed five key industry guesstimates. We project a 71 percent increase in global manufacturing automation adoption driven by Industry 4.0. Developing regions will see 1.5 to 1.6 million plants adopting digital monitoring systems. Twenty percent of mid-sized manufacturers will use AI-driven demand forecasting by 2026. Predictive maintenance is expected to reduce unplanned downtime by 40 to 45 percent. Finally, supply chain digitization could cut inventory holding costs by 30 to 35 percent. These projections frame the business case for our data engineering investments.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our cohort analysis tracks machine uptime retention by installation month. Unremediated machines installed in January drop to just 72 percent uptime by Month 6, while machines receiving targeted operator training and weekly calibration maintain 98 percent uptime. On the right, our A/B test compares manual quality inspection against automated computer vision inspection. Method B achieves 98 percent accuracy versus 78 percent for manual checks, reduces defect escape rates from 8.2 percent to 1.2 percent, and cuts inspection time from 120 seconds to just 15 seconds. With an NPV of 2.8 million dollars over three years against a 500K capital cost, the business case for scaling automated inspection is clear.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consolidates four critical DBMS concepts using live SQL examples. ACID transaction safety wraps inventory updates and sales inserts inside BEGIN/COMMIT blocks, ensuring automatic rollback on failure. B-Tree and composite indexing accelerates dashboard queries by eliminating full table scans. Range and geographical partitioning splits historical data by quarter or region, keeping active tables lean. Horizontal sharding using the Citus extension distributes sensor logs across factory-specific nodes, enabling millions of daily IoT records to be processed without bottlenecks. Together, these techniques ensure our database scales reliably.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storage architecture uses a hybrid Data Lake and Data Warehouse design. Structured data like customer records and payment transactions reside in our PostgreSQL warehouse, optimized for fast analytical queries. Unstructured data — IoT sensor telemetry, CCTV feeds, and raw machine logs — are routed to a data lake for cheap storage and machine learning analysis. ETL pipelines bridge the two, extracting from the lake, transforming the data, and loading it into warehouse tables. We also address advanced scenarios: product traceability using PostgreSQL audit logs and triggers, duplicate supplier detection using Levenshtein fuzzy matching, and real-time dashboards powered by materialized views with incremental refreshes.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transition into the core data engineering phase of the project. Over the next three slides, we walk through our complete SQL ETL pipeline — from raw CSV extraction using PostgreSQL's bulk COPY engine, through data cleaning and feature engineering transformations, to our active development workspace. This database layer forms the single source of truth that feeds all downstream dashboards, reports, and AI automation engines.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ETL pipeline follows a three-phase architecture. In the Extract phase, we use PostgreSQL's native COPY engine to bulk-ingest seven CSV datasets — customer, employee, membership, shipment, status, payment, and employee-manages-shipment — directly into staging tables. This bypasses the overhead of row-by-row INSERT statements. In the Transform phase, we apply INITCAP to normalize customer names, LOWER to standardize email addresses, calculate customer retention age using DATE_PART, create payment categories using CASE statements, and compute shipment efficiency ratios with NULLIF to prevent division-by-zero errors. In the Load phase, enriched data is materialized into a CustomerPayments master table and exported to CSV for downstream analytics.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both our data cleaning and feature engineering processes. On the left, the comparison table demonstrates how raw messy records are transformed — mixed-case names become properly capitalized, emails are standardized to lowercase, payment amounts are categorized into tiers, and division-by-zero risks are handled with NULLIF. Below the table, we highlight three engineered features: CustomerAge calculated from membership start dates, PaymentCategory using CASE logic, and ShipmentEfficiency as a weight-to-cost ratio. The right panel shows the actual SQL code executed in our PostgreSQL environment to perform these transformations.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showcases our active PostgreSQL development workspace. The screenshot on the right shows the PGAdmin interface where we execute schema creation scripts, run ETL transformations, and verify data integrity. Our environment hosts seven staging tables and three analytics tables, all enforcing primary and foreign key constraints with CASCADE delete rules. The workspace connects directly to our Excel dashboards and n8n automation nodes through secure local database ports. We verified data integrity by confirming 200 unique customer records using COUNT DISTINCT queries across the customer table.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transition to our visual analytics layer. Excel remains a critical self-service tool for business users, while Power BI provides enterprise-grade interactive dashboards. Over the next four slides, we demonstrate how PostgreSQL data flows into Excel formulas and pivot charts, and then scales into Power BI's star schema model with interactive slicers, trend visualizations, and financial health monitors.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Excel workbook uses advanced formulas to connect and analyze datasets. The KPI strip at the top shows key analytical results: COD transactions average 49,578 rupees versus 45,039 for card payments, over 60 percent of shipments are heavy cargo, and domestic transit averages 118 days. XLOOKUP joins customer demographics with membership dates. AVERAGEIFS calculates payment mode averages. Array formulas count shipments per employee. Conditional formatting highlights heavy cargo automatically.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Excel dashboard on the right provides logistics managers with a self-service operational monitoring tool. Our analysis uncovered four critical insights. First, domestic shipments take an average of 118 days — 22 days longer than international routes — indicating local transit bottlenecks requiring hub optimization. Second, Cash on Delivery transactions average 49,578 rupees, higher than card payments, revealing a cash dependency risk. Third, over 60 percent of shipments are classified as heavy cargo, increasing transport overhead. Fourth, HR operations generate the highest average shipment charges at 1,129 rupees. These findings directly inform our business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Power BI analytics suite connects directly to our PostgreSQL database through a three-layer architecture. The ingestion layer uses Power Query to load CustomerPayments master tables and staging CSV datasets. The modeling layer implements a Star Schema — a central fact table linked to Customer, Shipment Status, and Payment dimension tables using M_ID keys, with DAX calculated measures for dynamic aggregations. The front-end layer renders interactive panels for customer segmentation, employee performance rankings, logistics route analysis, and financial health monitoring. Slicers, dropdowns, and timeline controls allow users to filter data across multiple dimensions.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41DFF-6B8F-6B26-56B2-B5321F736B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AAED9C-8295-13EE-AD24-2306FF872F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77A21-7706-5E02-C464-2F53C20836C4}"/>
              </a:ext>
            </a:extLst>
          </p:cNvPr>
          <p:cNvSpPr>
            <a:spLocks noGrp="1"/>
          </p:cNvSpPr>
          <p:nvPr>
            <p:ph type="body" idx="1"/>
          </p:nvPr>
        </p:nvSpPr>
        <p:spPr/>
        <p:txBody>
          <a:bodyPr/>
          <a:lstStyle/>
          <a:p>
            <a:r>
              <a:rPr lang="en-US" dirty="0"/>
              <a:t>This gallery showcases all three pages of our Power BI dashboard. Page 1 focuses on Customer Insights — tracking total customer counts, retail versus wholesale segmentation, and membership status distribution across regions. Page 2 covers Employee Performance and Logistics — measuring shipments managed per employee, average transit times, delivery success rates, and workload balance. Page 3 provides a Financial Health Monitor — displaying total payments received, outstanding balances, payment mode distribution between COD and card, and monthly billing trends. Together, these three pages give management a complete operational view.</a:t>
            </a:r>
          </a:p>
        </p:txBody>
      </p:sp>
      <p:sp>
        <p:nvSpPr>
          <p:cNvPr id="4" name="Slide Number Placeholder 3">
            <a:extLst>
              <a:ext uri="{FF2B5EF4-FFF2-40B4-BE49-F238E27FC236}">
                <a16:creationId xmlns:a16="http://schemas.microsoft.com/office/drawing/2014/main" id="{19F00211-8DBA-6660-BC61-35A299F25CAE}"/>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5155463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D027A-5324-8FB3-3E07-73F4B2D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D1F59-FE9B-8F86-C3EC-6A81981FE6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B75DE-5E68-C82C-C7C7-26325A124748}"/>
              </a:ext>
            </a:extLst>
          </p:cNvPr>
          <p:cNvSpPr>
            <a:spLocks noGrp="1"/>
          </p:cNvSpPr>
          <p:nvPr>
            <p:ph type="body" idx="1"/>
          </p:nvPr>
        </p:nvSpPr>
        <p:spPr/>
        <p:txBody>
          <a:bodyPr/>
          <a:lstStyle/>
          <a:p>
            <a:r>
              <a:rPr lang="en-US" dirty="0"/>
              <a:t>This gallery showcases all three pages of our Power BI dashboard. Page 1 focuses on Customer Insights — tracking total customer counts, retail versus wholesale segmentation, and membership status distribution across regions. Page 2 covers Employee Performance and Logistics — measuring shipments managed per employee, average transit times, delivery success rates, and workload balance. Page 3 provides a Financial Health Monitor — displaying total payments received, outstanding balances, payment mode distribution between COD and card, and monthly billing trends. Together, these three pages give management a complete operational view.</a:t>
            </a:r>
          </a:p>
        </p:txBody>
      </p:sp>
      <p:sp>
        <p:nvSpPr>
          <p:cNvPr id="4" name="Slide Number Placeholder 3">
            <a:extLst>
              <a:ext uri="{FF2B5EF4-FFF2-40B4-BE49-F238E27FC236}">
                <a16:creationId xmlns:a16="http://schemas.microsoft.com/office/drawing/2014/main" id="{B1A8F5DA-ADB4-8F8C-3B46-D5DC348282BC}"/>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8206615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73E0C-16D3-F44F-E5E4-076D51DCF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7ED0C-B066-94CE-185F-23552787B6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904CE-104A-97E4-6BE2-F9659E1F5ED8}"/>
              </a:ext>
            </a:extLst>
          </p:cNvPr>
          <p:cNvSpPr>
            <a:spLocks noGrp="1"/>
          </p:cNvSpPr>
          <p:nvPr>
            <p:ph type="body" idx="1"/>
          </p:nvPr>
        </p:nvSpPr>
        <p:spPr/>
        <p:txBody>
          <a:bodyPr/>
          <a:lstStyle/>
          <a:p>
            <a:r>
              <a:rPr lang="en-US" dirty="0"/>
              <a:t>This gallery showcases all three pages of our Power BI dashboard. Page 1 focuses on Customer Insights — tracking total customer counts, retail versus wholesale segmentation, and membership status distribution across regions. Page 2 covers Employee Performance and Logistics — measuring shipments managed per employee, average transit times, delivery success rates, and workload balance. Page 3 provides a Financial Health Monitor — displaying total payments received, outstanding balances, payment mode distribution between COD and card, and monthly billing trends. Together, these three pages give management a complete operational view.</a:t>
            </a:r>
          </a:p>
        </p:txBody>
      </p:sp>
      <p:sp>
        <p:nvSpPr>
          <p:cNvPr id="4" name="Slide Number Placeholder 3">
            <a:extLst>
              <a:ext uri="{FF2B5EF4-FFF2-40B4-BE49-F238E27FC236}">
                <a16:creationId xmlns:a16="http://schemas.microsoft.com/office/drawing/2014/main" id="{D743CD0C-3B0B-7A90-953E-8B258C795F7A}"/>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9608177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final technical section, we showcase automated workflows using n8n and Generative AI. Dashboards are valuable, but they require users to actively log in. To combat dashboard fatigue, we built automation pipelines that push daily summary reports to managers via email and use Large Language Models to explain shipping issues on demand. Let us look at how we connected PostgreSQL database queries with AI reasoning nodes inside n8n.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n8n workflow automates daily operations reporting. A cron trigger fires every morning, querying PostgreSQL for aggregated shipment metrics — total shipments, delivery statuses, domestic versus international splits, and outstanding payments. A JavaScript formatter node structures the SQL output into JSON arrays. The data is then passed to a Groq-hosted Large Language Model that generates a concise, manager-friendly summary highlighting delays and payment issues. The final email node delivers this report directly to operations managers, eliminating the need to manually open dashboards. The sample output shows 200 total shipments with 100 pending deliveries and 100 outstanding payments flagged as COD risk.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n8n workflow handles on-demand support queries. When a support agent asks 'Why is shipment SH_180 not delivered?', a webhook triggers a database fetch that pulls the customer profile, payment status, shipment details, and assigned employee information. This context is passed to a Generative AI node which reasons about the issue and generates a plain-English explanation. The AI correctly identifies that SH_180 is delayed because it is an International Regular shipment with longer transit times, the payment is pending because the customer chose COD, and the assigned employee is managing multiple international shipments. This system helps support agents resolve tickets faster without needing technical database knowledge.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our analysis, we recommend three strategic initiatives. First, optimize domestic logistics by establishing regional transshipment hubs, deploying GPS fleet tracking, and auditing carrier allocations monthly — targeting a 30 percent reduction in domestic delivery delays. Second, digitize billing systems by offering dealer rebates for digital payments, implementing SMS checkout gateways, and integrating real-time POS accounting — targeting a reduction of COD transactions from 50 percent to 25 percent. Third, control departmental costs through multi-level approval workflows for high-cost shipments, strict departmental budgets, and automated weekly spend summaries via n8n — targeting a 20 percent reduction in administrative logistics costs.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phased 24-month roadmap manages capital expenditure and reduces deployment risk. Phase 1, months zero to six, establishes the PostgreSQL database foundation with schema design, ETL pipelines, and data quality audits. Phase 2, months six to twelve, delivers the analytics layer — Excel dashboards, Power BI star schema models, and predictive maintenance sensor integration. Phase 3, months twelve to eighteen, deploys n8n automation workflows, GenAI reasoners, and logistics route optimization. Phase 4, months eighteen to twenty-four, scales the system to additional manufacturing sites, integrates WhatsApp business queries, and rolls out ML-based demand forecasting.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risk framework identifies and mitigates four key threats. High integration capital costs are managed through phased deployment with intermediate ROI milestones. Supplier transition lags are covered by backup fleet SLA agreements. Staff adoption friction is addressed through mandatory training workshops and automated n8n email alerts that combat dashboard fatigue. Data quality drift is prevented by automated ETL validation checks and weekly data audits. In reflection, this project demonstrates the power of a unified data pipeline. Integrating PostgreSQL with Excel and Power BI creates a reporting ecosystem that is more than the sum of its parts. GenAI automation bridges the gap between complex database states and non-technical stakeholders. And schema-first design with early constraint enforcement keeps the system stable as data volumes scale.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We have presented a comprehensive, end-to-end data engineering and business intelligence framework designed to transform Tata Motors' operations. Our architecture spans PostgreSQL relational databases, SQL ETL pipelines, Excel analytical workbooks, interactive Power BI dashboards, and automated n8n workflows powered by Generative AI. Together, these tools provide real-time operational visibility, predictive alerts, and AI-powered issue resolution. We are now open to questions, feedback, and discussion about implementation details, technical architecture, or next steps. Thank you.</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5"/>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F58220"/>
          </a:solidFill>
          <a:ln w="12700">
            <a:solidFill>
              <a:srgbClr val="F58220"/>
            </a:solidFill>
            <a:prstDash val="solid"/>
          </a:ln>
        </p:spPr>
      </p:sp>
      <p:sp>
        <p:nvSpPr>
          <p:cNvPr id="3" name="Shape 1"/>
          <p:cNvSpPr/>
          <p:nvPr/>
        </p:nvSpPr>
        <p:spPr>
          <a:xfrm>
            <a:off x="731520" y="2331720"/>
            <a:ext cx="7772400" cy="2743"/>
          </a:xfrm>
          <a:prstGeom prst="rect">
            <a:avLst/>
          </a:prstGeom>
          <a:solidFill>
            <a:srgbClr val="3EA6FF"/>
          </a:solidFill>
          <a:ln w="12700">
            <a:solidFill>
              <a:srgbClr val="3EA6FF"/>
            </a:solidFill>
            <a:prstDash val="solid"/>
          </a:ln>
        </p:spPr>
      </p:sp>
      <p:sp>
        <p:nvSpPr>
          <p:cNvPr id="4" name="Text 2"/>
          <p:cNvSpPr/>
          <p:nvPr/>
        </p:nvSpPr>
        <p:spPr>
          <a:xfrm>
            <a:off x="731520" y="822960"/>
            <a:ext cx="7772400" cy="1371600"/>
          </a:xfrm>
          <a:prstGeom prst="rect">
            <a:avLst/>
          </a:prstGeom>
          <a:noFill/>
          <a:ln/>
        </p:spPr>
        <p:txBody>
          <a:bodyPr wrap="square" rtlCol="0" anchor="ctr"/>
          <a:lstStyle/>
          <a:p>
            <a:pPr marL="0" indent="0">
              <a:lnSpc>
                <a:spcPts val="4200"/>
              </a:lnSpc>
              <a:buNone/>
            </a:pPr>
            <a:r>
              <a:rPr lang="en-US" sz="3800" b="1" dirty="0">
                <a:solidFill>
                  <a:srgbClr val="FFFFFF"/>
                </a:solidFill>
                <a:latin typeface="Arial" pitchFamily="34" charset="0"/>
                <a:ea typeface="Arial" pitchFamily="34" charset="-122"/>
                <a:cs typeface="Arial" pitchFamily="34" charset="-120"/>
              </a:rPr>
              <a:t>TATA MOTORS INTEGRATED OPERATIONS</a:t>
            </a:r>
            <a:r>
              <a:rPr lang="en-US" sz="3800" dirty="0"/>
              <a:t> </a:t>
            </a:r>
            <a:r>
              <a:rPr lang="en-US" sz="3800" b="1" dirty="0">
                <a:solidFill>
                  <a:srgbClr val="FFFFFF"/>
                </a:solidFill>
                <a:latin typeface="Arial" pitchFamily="34" charset="0"/>
                <a:ea typeface="Arial" pitchFamily="34" charset="-122"/>
                <a:cs typeface="Arial" pitchFamily="34" charset="-120"/>
              </a:rPr>
              <a:t>ANALYSIS</a:t>
            </a:r>
            <a:endParaRPr lang="en-US" sz="3800" dirty="0"/>
          </a:p>
        </p:txBody>
      </p:sp>
      <p:sp>
        <p:nvSpPr>
          <p:cNvPr id="5" name="Text 3"/>
          <p:cNvSpPr/>
          <p:nvPr/>
        </p:nvSpPr>
        <p:spPr>
          <a:xfrm>
            <a:off x="731520" y="2468880"/>
            <a:ext cx="7772400" cy="411480"/>
          </a:xfrm>
          <a:prstGeom prst="rect">
            <a:avLst/>
          </a:prstGeom>
          <a:noFill/>
          <a:ln/>
        </p:spPr>
        <p:txBody>
          <a:bodyPr wrap="square" rtlCol="0" anchor="ctr"/>
          <a:lstStyle/>
          <a:p>
            <a:pPr marL="0" indent="0">
              <a:buNone/>
            </a:pPr>
            <a:r>
              <a:rPr lang="en-US" sz="1300" dirty="0">
                <a:solidFill>
                  <a:srgbClr val="3EA6FF"/>
                </a:solidFill>
                <a:latin typeface="Arial" pitchFamily="34" charset="0"/>
                <a:ea typeface="Arial" pitchFamily="34" charset="-122"/>
                <a:cs typeface="Arial" pitchFamily="34" charset="-120"/>
              </a:rPr>
              <a:t>Data Engineering &amp; BI Strategy  |  PostgreSQL  ·  Excel  ·  Power BI  ·  n8n + GenAI</a:t>
            </a:r>
            <a:endParaRPr lang="en-US" sz="1300" dirty="0"/>
          </a:p>
        </p:txBody>
      </p:sp>
      <p:sp>
        <p:nvSpPr>
          <p:cNvPr id="6" name="Text 4"/>
          <p:cNvSpPr/>
          <p:nvPr/>
        </p:nvSpPr>
        <p:spPr>
          <a:xfrm>
            <a:off x="731520" y="3337560"/>
            <a:ext cx="7772400" cy="1188720"/>
          </a:xfrm>
          <a:prstGeom prst="rect">
            <a:avLst/>
          </a:prstGeom>
          <a:noFill/>
          <a:ln/>
        </p:spPr>
        <p:txBody>
          <a:bodyPr wrap="square" rtlCol="0" anchor="ctr"/>
          <a:lstStyle/>
          <a:p>
            <a:pPr marL="0" indent="0">
              <a:lnSpc>
                <a:spcPts val="1500"/>
              </a:lnSpc>
              <a:buNone/>
            </a:pPr>
            <a:r>
              <a:rPr lang="en-US" sz="1000" dirty="0">
                <a:solidFill>
                  <a:srgbClr val="FFFFFF"/>
                </a:solidFill>
                <a:latin typeface="Arial" pitchFamily="34" charset="0"/>
                <a:ea typeface="Arial" pitchFamily="34" charset="-122"/>
                <a:cs typeface="Arial" pitchFamily="34" charset="-120"/>
              </a:rPr>
              <a:t>DOMAIN: MANUFACTURING &amp; LOGISTICS</a:t>
            </a:r>
            <a:endParaRPr lang="en-US" sz="1000" dirty="0"/>
          </a:p>
          <a:p>
            <a:pPr marL="0" indent="0">
              <a:lnSpc>
                <a:spcPts val="1500"/>
              </a:lnSpc>
              <a:buNone/>
            </a:pPr>
            <a:r>
              <a:rPr lang="en-US" sz="1000" dirty="0">
                <a:solidFill>
                  <a:srgbClr val="FFFFFF"/>
                </a:solidFill>
                <a:latin typeface="Arial" pitchFamily="34" charset="0"/>
                <a:ea typeface="Arial" pitchFamily="34" charset="-122"/>
                <a:cs typeface="Arial" pitchFamily="34" charset="-120"/>
              </a:rPr>
              <a:t>COMPANY: TATA MOTORS LTD</a:t>
            </a:r>
            <a:endParaRPr lang="en-US" sz="1000" dirty="0"/>
          </a:p>
          <a:p>
            <a:pPr marL="0" indent="0">
              <a:lnSpc>
                <a:spcPts val="1500"/>
              </a:lnSpc>
              <a:buNone/>
            </a:pPr>
            <a:r>
              <a:rPr lang="en-US" sz="1000" dirty="0">
                <a:solidFill>
                  <a:srgbClr val="FFFFFF"/>
                </a:solidFill>
                <a:latin typeface="Arial" pitchFamily="34" charset="0"/>
                <a:ea typeface="Arial" pitchFamily="34" charset="-122"/>
                <a:cs typeface="Arial" pitchFamily="34" charset="-120"/>
              </a:rPr>
              <a:t>TEAM: Husnain Khan  ·  Neha Lahene  ·  Nithin V Anil  ·  Ruchi Nailwal  ·  Sachin Singh  ·  Sayeed Ahmed</a:t>
            </a:r>
            <a:endParaRPr lang="en-US" sz="1000" dirty="0"/>
          </a:p>
          <a:p>
            <a:pPr marL="0" indent="0">
              <a:lnSpc>
                <a:spcPts val="1500"/>
              </a:lnSpc>
              <a:buNone/>
            </a:pPr>
            <a:r>
              <a:rPr lang="en-US" sz="1000" dirty="0">
                <a:solidFill>
                  <a:srgbClr val="FFFFFF"/>
                </a:solidFill>
                <a:latin typeface="Arial" pitchFamily="34" charset="0"/>
                <a:ea typeface="Arial" pitchFamily="34" charset="-122"/>
                <a:cs typeface="Arial" pitchFamily="34" charset="-120"/>
              </a:rPr>
              <a:t>DATE: May 2026</a:t>
            </a:r>
            <a:endParaRPr lang="en-US" sz="1000" dirty="0"/>
          </a:p>
        </p:txBody>
      </p:sp>
      <p:sp>
        <p:nvSpPr>
          <p:cNvPr id="7" name="Shape 5"/>
          <p:cNvSpPr/>
          <p:nvPr/>
        </p:nvSpPr>
        <p:spPr>
          <a:xfrm>
            <a:off x="731520" y="4709160"/>
            <a:ext cx="1828800" cy="32004"/>
          </a:xfrm>
          <a:prstGeom prst="rect">
            <a:avLst/>
          </a:prstGeom>
          <a:solidFill>
            <a:srgbClr val="F58220"/>
          </a:solidFill>
          <a:ln w="12700">
            <a:solidFill>
              <a:srgbClr val="F58220"/>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Executive Presentation Agenda</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TABLE OF CONTENTS</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2</a:t>
            </a:r>
            <a:endParaRPr lang="en-US" sz="700" dirty="0"/>
          </a:p>
        </p:txBody>
      </p:sp>
      <p:sp>
        <p:nvSpPr>
          <p:cNvPr id="8" name="Shape 6"/>
          <p:cNvSpPr/>
          <p:nvPr/>
        </p:nvSpPr>
        <p:spPr>
          <a:xfrm>
            <a:off x="320040" y="868680"/>
            <a:ext cx="1600200" cy="3794760"/>
          </a:xfrm>
          <a:prstGeom prst="roundRect">
            <a:avLst>
              <a:gd name="adj" fmla="val 3429"/>
            </a:avLst>
          </a:prstGeom>
          <a:solidFill>
            <a:srgbClr val="FFFFFF"/>
          </a:solidFill>
          <a:ln w="9525">
            <a:solidFill>
              <a:srgbClr val="E2E8F0"/>
            </a:solidFill>
            <a:prstDash val="solid"/>
          </a:ln>
        </p:spPr>
      </p:sp>
      <p:sp>
        <p:nvSpPr>
          <p:cNvPr id="9" name="Shape 7"/>
          <p:cNvSpPr/>
          <p:nvPr/>
        </p:nvSpPr>
        <p:spPr>
          <a:xfrm>
            <a:off x="868680" y="987552"/>
            <a:ext cx="457200" cy="457200"/>
          </a:xfrm>
          <a:prstGeom prst="ellipse">
            <a:avLst/>
          </a:prstGeom>
          <a:solidFill>
            <a:srgbClr val="0B1D35"/>
          </a:solidFill>
          <a:ln w="12700">
            <a:solidFill>
              <a:srgbClr val="0B1D35"/>
            </a:solidFill>
            <a:prstDash val="solid"/>
          </a:ln>
        </p:spPr>
      </p:sp>
      <p:sp>
        <p:nvSpPr>
          <p:cNvPr id="10" name="Text 8"/>
          <p:cNvSpPr/>
          <p:nvPr/>
        </p:nvSpPr>
        <p:spPr>
          <a:xfrm>
            <a:off x="868680" y="987552"/>
            <a:ext cx="45720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01</a:t>
            </a:r>
            <a:endParaRPr lang="en-US" sz="1400" dirty="0"/>
          </a:p>
        </p:txBody>
      </p:sp>
      <p:sp>
        <p:nvSpPr>
          <p:cNvPr id="11" name="Text 9"/>
          <p:cNvSpPr/>
          <p:nvPr/>
        </p:nvSpPr>
        <p:spPr>
          <a:xfrm>
            <a:off x="411480" y="1554480"/>
            <a:ext cx="1417320" cy="256032"/>
          </a:xfrm>
          <a:prstGeom prst="rect">
            <a:avLst/>
          </a:prstGeom>
          <a:noFill/>
          <a:ln/>
        </p:spPr>
        <p:txBody>
          <a:bodyPr wrap="square" rtlCol="0" anchor="ctr"/>
          <a:lstStyle/>
          <a:p>
            <a:pPr marL="0" indent="0" algn="ctr">
              <a:buNone/>
            </a:pPr>
            <a:r>
              <a:rPr lang="en-US" sz="900" b="1" dirty="0">
                <a:solidFill>
                  <a:srgbClr val="0B1D35"/>
                </a:solidFill>
                <a:latin typeface="Arial" pitchFamily="34" charset="0"/>
                <a:ea typeface="Arial" pitchFamily="34" charset="-122"/>
                <a:cs typeface="Arial" pitchFamily="34" charset="-120"/>
              </a:rPr>
              <a:t>BUSINESS CASE</a:t>
            </a:r>
            <a:endParaRPr lang="en-US" sz="900" dirty="0"/>
          </a:p>
        </p:txBody>
      </p:sp>
      <p:sp>
        <p:nvSpPr>
          <p:cNvPr id="12" name="Shape 10"/>
          <p:cNvSpPr/>
          <p:nvPr/>
        </p:nvSpPr>
        <p:spPr>
          <a:xfrm>
            <a:off x="594360" y="1874520"/>
            <a:ext cx="1051560" cy="18288"/>
          </a:xfrm>
          <a:prstGeom prst="rect">
            <a:avLst/>
          </a:prstGeom>
          <a:solidFill>
            <a:srgbClr val="0B1D35"/>
          </a:solidFill>
          <a:ln w="12700">
            <a:solidFill>
              <a:srgbClr val="0B1D35"/>
            </a:solidFill>
            <a:prstDash val="solid"/>
          </a:ln>
        </p:spPr>
      </p:sp>
      <p:sp>
        <p:nvSpPr>
          <p:cNvPr id="13" name="Text 11"/>
          <p:cNvSpPr/>
          <p:nvPr/>
        </p:nvSpPr>
        <p:spPr>
          <a:xfrm>
            <a:off x="429768" y="20116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Company Profile &amp; KPIs</a:t>
            </a:r>
            <a:endParaRPr lang="en-US" sz="850" dirty="0"/>
          </a:p>
        </p:txBody>
      </p:sp>
      <p:sp>
        <p:nvSpPr>
          <p:cNvPr id="14" name="Text 12"/>
          <p:cNvSpPr/>
          <p:nvPr/>
        </p:nvSpPr>
        <p:spPr>
          <a:xfrm>
            <a:off x="429768" y="24688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Product Dissection</a:t>
            </a:r>
            <a:endParaRPr lang="en-US" sz="850" dirty="0"/>
          </a:p>
        </p:txBody>
      </p:sp>
      <p:sp>
        <p:nvSpPr>
          <p:cNvPr id="15" name="Text 13"/>
          <p:cNvSpPr/>
          <p:nvPr/>
        </p:nvSpPr>
        <p:spPr>
          <a:xfrm>
            <a:off x="429768" y="29260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Challenges &amp; Solutions</a:t>
            </a:r>
            <a:endParaRPr lang="en-US" sz="850" dirty="0"/>
          </a:p>
        </p:txBody>
      </p:sp>
      <p:sp>
        <p:nvSpPr>
          <p:cNvPr id="16" name="Text 14"/>
          <p:cNvSpPr/>
          <p:nvPr/>
        </p:nvSpPr>
        <p:spPr>
          <a:xfrm>
            <a:off x="429768" y="33832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Profit Growth Strategy</a:t>
            </a:r>
            <a:endParaRPr lang="en-US" sz="850" dirty="0"/>
          </a:p>
        </p:txBody>
      </p:sp>
      <p:sp>
        <p:nvSpPr>
          <p:cNvPr id="17" name="Shape 15"/>
          <p:cNvSpPr/>
          <p:nvPr/>
        </p:nvSpPr>
        <p:spPr>
          <a:xfrm>
            <a:off x="548640" y="4160520"/>
            <a:ext cx="1143000" cy="320040"/>
          </a:xfrm>
          <a:prstGeom prst="roundRect">
            <a:avLst>
              <a:gd name="adj" fmla="val 11429"/>
            </a:avLst>
          </a:prstGeom>
          <a:solidFill>
            <a:srgbClr val="0B1D35"/>
          </a:solidFill>
          <a:ln w="12700">
            <a:solidFill>
              <a:srgbClr val="0B1D35"/>
            </a:solidFill>
            <a:prstDash val="solid"/>
          </a:ln>
        </p:spPr>
      </p:sp>
      <p:sp>
        <p:nvSpPr>
          <p:cNvPr id="18" name="Text 16"/>
          <p:cNvSpPr/>
          <p:nvPr/>
        </p:nvSpPr>
        <p:spPr>
          <a:xfrm>
            <a:off x="548640" y="4160520"/>
            <a:ext cx="1143000" cy="320040"/>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Slides 3–7</a:t>
            </a:r>
            <a:endParaRPr lang="en-US" sz="800" dirty="0"/>
          </a:p>
        </p:txBody>
      </p:sp>
      <p:sp>
        <p:nvSpPr>
          <p:cNvPr id="19" name="Shape 17"/>
          <p:cNvSpPr/>
          <p:nvPr/>
        </p:nvSpPr>
        <p:spPr>
          <a:xfrm>
            <a:off x="2057400" y="868680"/>
            <a:ext cx="1600200" cy="3794760"/>
          </a:xfrm>
          <a:prstGeom prst="roundRect">
            <a:avLst>
              <a:gd name="adj" fmla="val 3429"/>
            </a:avLst>
          </a:prstGeom>
          <a:solidFill>
            <a:srgbClr val="FFFFFF"/>
          </a:solidFill>
          <a:ln w="9525">
            <a:solidFill>
              <a:srgbClr val="E2E8F0"/>
            </a:solidFill>
            <a:prstDash val="solid"/>
          </a:ln>
        </p:spPr>
      </p:sp>
      <p:sp>
        <p:nvSpPr>
          <p:cNvPr id="20" name="Shape 18"/>
          <p:cNvSpPr/>
          <p:nvPr/>
        </p:nvSpPr>
        <p:spPr>
          <a:xfrm>
            <a:off x="2606040" y="987552"/>
            <a:ext cx="457200" cy="457200"/>
          </a:xfrm>
          <a:prstGeom prst="ellipse">
            <a:avLst/>
          </a:prstGeom>
          <a:solidFill>
            <a:srgbClr val="3EA6FF"/>
          </a:solidFill>
          <a:ln w="12700">
            <a:solidFill>
              <a:srgbClr val="3EA6FF"/>
            </a:solidFill>
            <a:prstDash val="solid"/>
          </a:ln>
        </p:spPr>
      </p:sp>
      <p:sp>
        <p:nvSpPr>
          <p:cNvPr id="21" name="Text 19"/>
          <p:cNvSpPr/>
          <p:nvPr/>
        </p:nvSpPr>
        <p:spPr>
          <a:xfrm>
            <a:off x="2606040" y="987552"/>
            <a:ext cx="45720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22" name="Text 20"/>
          <p:cNvSpPr/>
          <p:nvPr/>
        </p:nvSpPr>
        <p:spPr>
          <a:xfrm>
            <a:off x="2148840" y="1554480"/>
            <a:ext cx="1417320" cy="256032"/>
          </a:xfrm>
          <a:prstGeom prst="rect">
            <a:avLst/>
          </a:prstGeom>
          <a:noFill/>
          <a:ln/>
        </p:spPr>
        <p:txBody>
          <a:bodyPr wrap="square" rtlCol="0" anchor="ctr"/>
          <a:lstStyle/>
          <a:p>
            <a:pPr marL="0" indent="0" algn="ctr">
              <a:buNone/>
            </a:pPr>
            <a:r>
              <a:rPr lang="en-US" sz="900" b="1" dirty="0">
                <a:solidFill>
                  <a:srgbClr val="0B1D35"/>
                </a:solidFill>
                <a:latin typeface="Arial" pitchFamily="34" charset="0"/>
                <a:ea typeface="Arial" pitchFamily="34" charset="-122"/>
                <a:cs typeface="Arial" pitchFamily="34" charset="-120"/>
              </a:rPr>
              <a:t>DBMS &amp; SCHEMA</a:t>
            </a:r>
            <a:endParaRPr lang="en-US" sz="900" dirty="0"/>
          </a:p>
        </p:txBody>
      </p:sp>
      <p:sp>
        <p:nvSpPr>
          <p:cNvPr id="23" name="Shape 21"/>
          <p:cNvSpPr/>
          <p:nvPr/>
        </p:nvSpPr>
        <p:spPr>
          <a:xfrm>
            <a:off x="2331720" y="1874520"/>
            <a:ext cx="1051560" cy="18288"/>
          </a:xfrm>
          <a:prstGeom prst="rect">
            <a:avLst/>
          </a:prstGeom>
          <a:solidFill>
            <a:srgbClr val="3EA6FF"/>
          </a:solidFill>
          <a:ln w="12700">
            <a:solidFill>
              <a:srgbClr val="3EA6FF"/>
            </a:solidFill>
            <a:prstDash val="solid"/>
          </a:ln>
        </p:spPr>
      </p:sp>
      <p:sp>
        <p:nvSpPr>
          <p:cNvPr id="24" name="Text 22"/>
          <p:cNvSpPr/>
          <p:nvPr/>
        </p:nvSpPr>
        <p:spPr>
          <a:xfrm>
            <a:off x="2167128" y="20116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Schema Design &amp; ER Model</a:t>
            </a:r>
            <a:endParaRPr lang="en-US" sz="850" dirty="0"/>
          </a:p>
        </p:txBody>
      </p:sp>
      <p:sp>
        <p:nvSpPr>
          <p:cNvPr id="25" name="Text 23"/>
          <p:cNvSpPr/>
          <p:nvPr/>
        </p:nvSpPr>
        <p:spPr>
          <a:xfrm>
            <a:off x="2167128" y="24688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Guesstimates &amp; Forecasts</a:t>
            </a:r>
            <a:endParaRPr lang="en-US" sz="850" dirty="0"/>
          </a:p>
        </p:txBody>
      </p:sp>
      <p:sp>
        <p:nvSpPr>
          <p:cNvPr id="26" name="Text 24"/>
          <p:cNvSpPr/>
          <p:nvPr/>
        </p:nvSpPr>
        <p:spPr>
          <a:xfrm>
            <a:off x="2167128" y="29260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Cohort &amp; A/B Testing</a:t>
            </a:r>
            <a:endParaRPr lang="en-US" sz="850" dirty="0"/>
          </a:p>
        </p:txBody>
      </p:sp>
      <p:sp>
        <p:nvSpPr>
          <p:cNvPr id="27" name="Text 25"/>
          <p:cNvSpPr/>
          <p:nvPr/>
        </p:nvSpPr>
        <p:spPr>
          <a:xfrm>
            <a:off x="2167128" y="33832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ACID · Index · Partition</a:t>
            </a:r>
            <a:endParaRPr lang="en-US" sz="850" dirty="0"/>
          </a:p>
        </p:txBody>
      </p:sp>
      <p:sp>
        <p:nvSpPr>
          <p:cNvPr id="28" name="Shape 26"/>
          <p:cNvSpPr/>
          <p:nvPr/>
        </p:nvSpPr>
        <p:spPr>
          <a:xfrm>
            <a:off x="2286000" y="4160520"/>
            <a:ext cx="1143000" cy="320040"/>
          </a:xfrm>
          <a:prstGeom prst="roundRect">
            <a:avLst>
              <a:gd name="adj" fmla="val 11429"/>
            </a:avLst>
          </a:prstGeom>
          <a:solidFill>
            <a:srgbClr val="3EA6FF"/>
          </a:solidFill>
          <a:ln w="12700">
            <a:solidFill>
              <a:srgbClr val="3EA6FF"/>
            </a:solidFill>
            <a:prstDash val="solid"/>
          </a:ln>
        </p:spPr>
      </p:sp>
      <p:sp>
        <p:nvSpPr>
          <p:cNvPr id="29" name="Text 27"/>
          <p:cNvSpPr/>
          <p:nvPr/>
        </p:nvSpPr>
        <p:spPr>
          <a:xfrm>
            <a:off x="2286000" y="4160520"/>
            <a:ext cx="1143000" cy="320040"/>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Slides 8–12</a:t>
            </a:r>
            <a:endParaRPr lang="en-US" sz="800" dirty="0"/>
          </a:p>
        </p:txBody>
      </p:sp>
      <p:sp>
        <p:nvSpPr>
          <p:cNvPr id="30" name="Shape 28"/>
          <p:cNvSpPr/>
          <p:nvPr/>
        </p:nvSpPr>
        <p:spPr>
          <a:xfrm>
            <a:off x="3794760" y="868680"/>
            <a:ext cx="1600200" cy="3794760"/>
          </a:xfrm>
          <a:prstGeom prst="roundRect">
            <a:avLst>
              <a:gd name="adj" fmla="val 3429"/>
            </a:avLst>
          </a:prstGeom>
          <a:solidFill>
            <a:srgbClr val="FFFFFF"/>
          </a:solidFill>
          <a:ln w="9525">
            <a:solidFill>
              <a:srgbClr val="E2E8F0"/>
            </a:solidFill>
            <a:prstDash val="solid"/>
          </a:ln>
        </p:spPr>
      </p:sp>
      <p:sp>
        <p:nvSpPr>
          <p:cNvPr id="31" name="Shape 29"/>
          <p:cNvSpPr/>
          <p:nvPr/>
        </p:nvSpPr>
        <p:spPr>
          <a:xfrm>
            <a:off x="4343400" y="987552"/>
            <a:ext cx="457200" cy="457200"/>
          </a:xfrm>
          <a:prstGeom prst="ellipse">
            <a:avLst/>
          </a:prstGeom>
          <a:solidFill>
            <a:srgbClr val="F58220"/>
          </a:solidFill>
          <a:ln w="12700">
            <a:solidFill>
              <a:srgbClr val="F58220"/>
            </a:solidFill>
            <a:prstDash val="solid"/>
          </a:ln>
        </p:spPr>
      </p:sp>
      <p:sp>
        <p:nvSpPr>
          <p:cNvPr id="32" name="Text 30"/>
          <p:cNvSpPr/>
          <p:nvPr/>
        </p:nvSpPr>
        <p:spPr>
          <a:xfrm>
            <a:off x="4343400" y="987552"/>
            <a:ext cx="45720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03</a:t>
            </a:r>
            <a:endParaRPr lang="en-US" sz="1400" dirty="0"/>
          </a:p>
        </p:txBody>
      </p:sp>
      <p:sp>
        <p:nvSpPr>
          <p:cNvPr id="33" name="Text 31"/>
          <p:cNvSpPr/>
          <p:nvPr/>
        </p:nvSpPr>
        <p:spPr>
          <a:xfrm>
            <a:off x="3886200" y="1554480"/>
            <a:ext cx="1417320" cy="256032"/>
          </a:xfrm>
          <a:prstGeom prst="rect">
            <a:avLst/>
          </a:prstGeom>
          <a:noFill/>
          <a:ln/>
        </p:spPr>
        <p:txBody>
          <a:bodyPr wrap="square" rtlCol="0" anchor="ctr"/>
          <a:lstStyle/>
          <a:p>
            <a:pPr marL="0" indent="0" algn="ctr">
              <a:buNone/>
            </a:pPr>
            <a:r>
              <a:rPr lang="en-US" sz="900" b="1" dirty="0">
                <a:solidFill>
                  <a:srgbClr val="0B1D35"/>
                </a:solidFill>
                <a:latin typeface="Arial" pitchFamily="34" charset="0"/>
                <a:ea typeface="Arial" pitchFamily="34" charset="-122"/>
                <a:cs typeface="Arial" pitchFamily="34" charset="-120"/>
              </a:rPr>
              <a:t>SQL ETL</a:t>
            </a:r>
            <a:endParaRPr lang="en-US" sz="900" dirty="0"/>
          </a:p>
        </p:txBody>
      </p:sp>
      <p:sp>
        <p:nvSpPr>
          <p:cNvPr id="34" name="Shape 32"/>
          <p:cNvSpPr/>
          <p:nvPr/>
        </p:nvSpPr>
        <p:spPr>
          <a:xfrm>
            <a:off x="4069080" y="1874520"/>
            <a:ext cx="1051560" cy="18288"/>
          </a:xfrm>
          <a:prstGeom prst="rect">
            <a:avLst/>
          </a:prstGeom>
          <a:solidFill>
            <a:srgbClr val="F58220"/>
          </a:solidFill>
          <a:ln w="12700">
            <a:solidFill>
              <a:srgbClr val="F58220"/>
            </a:solidFill>
            <a:prstDash val="solid"/>
          </a:ln>
        </p:spPr>
      </p:sp>
      <p:sp>
        <p:nvSpPr>
          <p:cNvPr id="35" name="Text 33"/>
          <p:cNvSpPr/>
          <p:nvPr/>
        </p:nvSpPr>
        <p:spPr>
          <a:xfrm>
            <a:off x="3904488" y="20116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ETL Pipeline Architecture</a:t>
            </a:r>
            <a:endParaRPr lang="en-US" sz="850" dirty="0"/>
          </a:p>
        </p:txBody>
      </p:sp>
      <p:sp>
        <p:nvSpPr>
          <p:cNvPr id="36" name="Text 34"/>
          <p:cNvSpPr/>
          <p:nvPr/>
        </p:nvSpPr>
        <p:spPr>
          <a:xfrm>
            <a:off x="3904488" y="24688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Data Cleaning &amp; Features</a:t>
            </a:r>
            <a:endParaRPr lang="en-US" sz="850" dirty="0"/>
          </a:p>
        </p:txBody>
      </p:sp>
      <p:sp>
        <p:nvSpPr>
          <p:cNvPr id="37" name="Text 35"/>
          <p:cNvSpPr/>
          <p:nvPr/>
        </p:nvSpPr>
        <p:spPr>
          <a:xfrm>
            <a:off x="3904488" y="29260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IDE Workspace Demo</a:t>
            </a:r>
            <a:endParaRPr lang="en-US" sz="850" dirty="0"/>
          </a:p>
        </p:txBody>
      </p:sp>
      <p:sp>
        <p:nvSpPr>
          <p:cNvPr id="38" name="Shape 36"/>
          <p:cNvSpPr/>
          <p:nvPr/>
        </p:nvSpPr>
        <p:spPr>
          <a:xfrm>
            <a:off x="4023360" y="4160520"/>
            <a:ext cx="1143000" cy="320040"/>
          </a:xfrm>
          <a:prstGeom prst="roundRect">
            <a:avLst>
              <a:gd name="adj" fmla="val 11429"/>
            </a:avLst>
          </a:prstGeom>
          <a:solidFill>
            <a:srgbClr val="F58220"/>
          </a:solidFill>
          <a:ln w="12700">
            <a:solidFill>
              <a:srgbClr val="F58220"/>
            </a:solidFill>
            <a:prstDash val="solid"/>
          </a:ln>
        </p:spPr>
      </p:sp>
      <p:sp>
        <p:nvSpPr>
          <p:cNvPr id="39" name="Text 37"/>
          <p:cNvSpPr/>
          <p:nvPr/>
        </p:nvSpPr>
        <p:spPr>
          <a:xfrm>
            <a:off x="4023360" y="4160520"/>
            <a:ext cx="1143000" cy="320040"/>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Slides 13–16</a:t>
            </a:r>
            <a:endParaRPr lang="en-US" sz="800" dirty="0"/>
          </a:p>
        </p:txBody>
      </p:sp>
      <p:sp>
        <p:nvSpPr>
          <p:cNvPr id="40" name="Shape 38"/>
          <p:cNvSpPr/>
          <p:nvPr/>
        </p:nvSpPr>
        <p:spPr>
          <a:xfrm>
            <a:off x="5532120" y="868680"/>
            <a:ext cx="1600200" cy="3794760"/>
          </a:xfrm>
          <a:prstGeom prst="roundRect">
            <a:avLst>
              <a:gd name="adj" fmla="val 3429"/>
            </a:avLst>
          </a:prstGeom>
          <a:solidFill>
            <a:srgbClr val="FFFFFF"/>
          </a:solidFill>
          <a:ln w="9525">
            <a:solidFill>
              <a:srgbClr val="E2E8F0"/>
            </a:solidFill>
            <a:prstDash val="solid"/>
          </a:ln>
        </p:spPr>
      </p:sp>
      <p:sp>
        <p:nvSpPr>
          <p:cNvPr id="41" name="Shape 39"/>
          <p:cNvSpPr/>
          <p:nvPr/>
        </p:nvSpPr>
        <p:spPr>
          <a:xfrm>
            <a:off x="6080760" y="987552"/>
            <a:ext cx="457200" cy="457200"/>
          </a:xfrm>
          <a:prstGeom prst="ellipse">
            <a:avLst/>
          </a:prstGeom>
          <a:solidFill>
            <a:srgbClr val="10B981"/>
          </a:solidFill>
          <a:ln w="12700">
            <a:solidFill>
              <a:srgbClr val="10B981"/>
            </a:solidFill>
            <a:prstDash val="solid"/>
          </a:ln>
        </p:spPr>
      </p:sp>
      <p:sp>
        <p:nvSpPr>
          <p:cNvPr id="42" name="Text 40"/>
          <p:cNvSpPr/>
          <p:nvPr/>
        </p:nvSpPr>
        <p:spPr>
          <a:xfrm>
            <a:off x="6080760" y="987552"/>
            <a:ext cx="45720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04</a:t>
            </a:r>
            <a:endParaRPr lang="en-US" sz="1400" dirty="0"/>
          </a:p>
        </p:txBody>
      </p:sp>
      <p:sp>
        <p:nvSpPr>
          <p:cNvPr id="43" name="Text 41"/>
          <p:cNvSpPr/>
          <p:nvPr/>
        </p:nvSpPr>
        <p:spPr>
          <a:xfrm>
            <a:off x="5623560" y="1554480"/>
            <a:ext cx="1417320" cy="256032"/>
          </a:xfrm>
          <a:prstGeom prst="rect">
            <a:avLst/>
          </a:prstGeom>
          <a:noFill/>
          <a:ln/>
        </p:spPr>
        <p:txBody>
          <a:bodyPr wrap="square" rtlCol="0" anchor="ctr"/>
          <a:lstStyle/>
          <a:p>
            <a:pPr marL="0" indent="0" algn="ctr">
              <a:buNone/>
            </a:pPr>
            <a:r>
              <a:rPr lang="en-US" sz="900" b="1" dirty="0">
                <a:solidFill>
                  <a:srgbClr val="0B1D35"/>
                </a:solidFill>
                <a:latin typeface="Arial" pitchFamily="34" charset="0"/>
                <a:ea typeface="Arial" pitchFamily="34" charset="-122"/>
                <a:cs typeface="Arial" pitchFamily="34" charset="-120"/>
              </a:rPr>
              <a:t>ANALYTICS &amp; BI</a:t>
            </a:r>
            <a:endParaRPr lang="en-US" sz="900" dirty="0"/>
          </a:p>
        </p:txBody>
      </p:sp>
      <p:sp>
        <p:nvSpPr>
          <p:cNvPr id="44" name="Shape 42"/>
          <p:cNvSpPr/>
          <p:nvPr/>
        </p:nvSpPr>
        <p:spPr>
          <a:xfrm>
            <a:off x="5806440" y="1874520"/>
            <a:ext cx="1051560" cy="18288"/>
          </a:xfrm>
          <a:prstGeom prst="rect">
            <a:avLst/>
          </a:prstGeom>
          <a:solidFill>
            <a:srgbClr val="10B981"/>
          </a:solidFill>
          <a:ln w="12700">
            <a:solidFill>
              <a:srgbClr val="10B981"/>
            </a:solidFill>
            <a:prstDash val="solid"/>
          </a:ln>
        </p:spPr>
      </p:sp>
      <p:sp>
        <p:nvSpPr>
          <p:cNvPr id="45" name="Text 43"/>
          <p:cNvSpPr/>
          <p:nvPr/>
        </p:nvSpPr>
        <p:spPr>
          <a:xfrm>
            <a:off x="5641848" y="20116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Excel Formula Engine</a:t>
            </a:r>
            <a:endParaRPr lang="en-US" sz="850" dirty="0"/>
          </a:p>
        </p:txBody>
      </p:sp>
      <p:sp>
        <p:nvSpPr>
          <p:cNvPr id="46" name="Text 44"/>
          <p:cNvSpPr/>
          <p:nvPr/>
        </p:nvSpPr>
        <p:spPr>
          <a:xfrm>
            <a:off x="5641848" y="24688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Excel Dashboard</a:t>
            </a:r>
            <a:endParaRPr lang="en-US" sz="850" dirty="0"/>
          </a:p>
        </p:txBody>
      </p:sp>
      <p:sp>
        <p:nvSpPr>
          <p:cNvPr id="47" name="Text 45"/>
          <p:cNvSpPr/>
          <p:nvPr/>
        </p:nvSpPr>
        <p:spPr>
          <a:xfrm>
            <a:off x="5641848" y="29260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Power BI Architecture</a:t>
            </a:r>
            <a:endParaRPr lang="en-US" sz="850" dirty="0"/>
          </a:p>
        </p:txBody>
      </p:sp>
      <p:sp>
        <p:nvSpPr>
          <p:cNvPr id="48" name="Text 46"/>
          <p:cNvSpPr/>
          <p:nvPr/>
        </p:nvSpPr>
        <p:spPr>
          <a:xfrm>
            <a:off x="5641848" y="33832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Power BI Dashboard Gallery</a:t>
            </a:r>
            <a:endParaRPr lang="en-US" sz="850" dirty="0"/>
          </a:p>
        </p:txBody>
      </p:sp>
      <p:sp>
        <p:nvSpPr>
          <p:cNvPr id="49" name="Shape 47"/>
          <p:cNvSpPr/>
          <p:nvPr/>
        </p:nvSpPr>
        <p:spPr>
          <a:xfrm>
            <a:off x="5760720" y="4160520"/>
            <a:ext cx="1143000" cy="320040"/>
          </a:xfrm>
          <a:prstGeom prst="roundRect">
            <a:avLst>
              <a:gd name="adj" fmla="val 11429"/>
            </a:avLst>
          </a:prstGeom>
          <a:solidFill>
            <a:srgbClr val="10B981"/>
          </a:solidFill>
          <a:ln w="12700">
            <a:solidFill>
              <a:srgbClr val="10B981"/>
            </a:solidFill>
            <a:prstDash val="solid"/>
          </a:ln>
        </p:spPr>
      </p:sp>
      <p:sp>
        <p:nvSpPr>
          <p:cNvPr id="50" name="Text 48"/>
          <p:cNvSpPr/>
          <p:nvPr/>
        </p:nvSpPr>
        <p:spPr>
          <a:xfrm>
            <a:off x="5760720" y="4160520"/>
            <a:ext cx="1143000" cy="320040"/>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Slides 17–24</a:t>
            </a:r>
            <a:endParaRPr lang="en-US" sz="800" dirty="0"/>
          </a:p>
        </p:txBody>
      </p:sp>
      <p:sp>
        <p:nvSpPr>
          <p:cNvPr id="51" name="Shape 49"/>
          <p:cNvSpPr/>
          <p:nvPr/>
        </p:nvSpPr>
        <p:spPr>
          <a:xfrm>
            <a:off x="7269480" y="868680"/>
            <a:ext cx="1600200" cy="3794760"/>
          </a:xfrm>
          <a:prstGeom prst="roundRect">
            <a:avLst>
              <a:gd name="adj" fmla="val 3429"/>
            </a:avLst>
          </a:prstGeom>
          <a:solidFill>
            <a:srgbClr val="FFFFFF"/>
          </a:solidFill>
          <a:ln w="9525">
            <a:solidFill>
              <a:srgbClr val="E2E8F0"/>
            </a:solidFill>
            <a:prstDash val="solid"/>
          </a:ln>
        </p:spPr>
      </p:sp>
      <p:sp>
        <p:nvSpPr>
          <p:cNvPr id="52" name="Shape 50"/>
          <p:cNvSpPr/>
          <p:nvPr/>
        </p:nvSpPr>
        <p:spPr>
          <a:xfrm>
            <a:off x="7818120" y="987552"/>
            <a:ext cx="457200" cy="457200"/>
          </a:xfrm>
          <a:prstGeom prst="ellipse">
            <a:avLst/>
          </a:prstGeom>
          <a:solidFill>
            <a:srgbClr val="F59E0B"/>
          </a:solidFill>
          <a:ln w="12700">
            <a:solidFill>
              <a:srgbClr val="F59E0B"/>
            </a:solidFill>
            <a:prstDash val="solid"/>
          </a:ln>
        </p:spPr>
      </p:sp>
      <p:sp>
        <p:nvSpPr>
          <p:cNvPr id="53" name="Text 51"/>
          <p:cNvSpPr/>
          <p:nvPr/>
        </p:nvSpPr>
        <p:spPr>
          <a:xfrm>
            <a:off x="7818120" y="987552"/>
            <a:ext cx="45720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05</a:t>
            </a:r>
            <a:endParaRPr lang="en-US" sz="1400" dirty="0"/>
          </a:p>
        </p:txBody>
      </p:sp>
      <p:sp>
        <p:nvSpPr>
          <p:cNvPr id="54" name="Text 52"/>
          <p:cNvSpPr/>
          <p:nvPr/>
        </p:nvSpPr>
        <p:spPr>
          <a:xfrm>
            <a:off x="7360920" y="1554480"/>
            <a:ext cx="1417320" cy="256032"/>
          </a:xfrm>
          <a:prstGeom prst="rect">
            <a:avLst/>
          </a:prstGeom>
          <a:noFill/>
          <a:ln/>
        </p:spPr>
        <p:txBody>
          <a:bodyPr wrap="square" rtlCol="0" anchor="ctr"/>
          <a:lstStyle/>
          <a:p>
            <a:pPr marL="0" indent="0" algn="ctr">
              <a:buNone/>
            </a:pPr>
            <a:r>
              <a:rPr lang="en-US" sz="900" b="1" dirty="0">
                <a:solidFill>
                  <a:srgbClr val="0B1D35"/>
                </a:solidFill>
                <a:latin typeface="Arial" pitchFamily="34" charset="0"/>
                <a:ea typeface="Arial" pitchFamily="34" charset="-122"/>
                <a:cs typeface="Arial" pitchFamily="34" charset="-120"/>
              </a:rPr>
              <a:t>AI AUTOMATION</a:t>
            </a:r>
            <a:endParaRPr lang="en-US" sz="900" dirty="0"/>
          </a:p>
        </p:txBody>
      </p:sp>
      <p:sp>
        <p:nvSpPr>
          <p:cNvPr id="55" name="Shape 53"/>
          <p:cNvSpPr/>
          <p:nvPr/>
        </p:nvSpPr>
        <p:spPr>
          <a:xfrm>
            <a:off x="7543800" y="1874520"/>
            <a:ext cx="1051560" cy="18288"/>
          </a:xfrm>
          <a:prstGeom prst="rect">
            <a:avLst/>
          </a:prstGeom>
          <a:solidFill>
            <a:srgbClr val="F59E0B"/>
          </a:solidFill>
          <a:ln w="12700">
            <a:solidFill>
              <a:srgbClr val="F59E0B"/>
            </a:solidFill>
            <a:prstDash val="solid"/>
          </a:ln>
        </p:spPr>
      </p:sp>
      <p:sp>
        <p:nvSpPr>
          <p:cNvPr id="56" name="Text 54"/>
          <p:cNvSpPr/>
          <p:nvPr/>
        </p:nvSpPr>
        <p:spPr>
          <a:xfrm>
            <a:off x="7379208" y="20116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n8n Pipeline System</a:t>
            </a:r>
            <a:endParaRPr lang="en-US" sz="850" dirty="0"/>
          </a:p>
        </p:txBody>
      </p:sp>
      <p:sp>
        <p:nvSpPr>
          <p:cNvPr id="57" name="Text 55"/>
          <p:cNvSpPr/>
          <p:nvPr/>
        </p:nvSpPr>
        <p:spPr>
          <a:xfrm>
            <a:off x="7379208" y="24688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AI Shipment Reasoner</a:t>
            </a:r>
            <a:endParaRPr lang="en-US" sz="850" dirty="0"/>
          </a:p>
        </p:txBody>
      </p:sp>
      <p:sp>
        <p:nvSpPr>
          <p:cNvPr id="58" name="Text 56"/>
          <p:cNvSpPr/>
          <p:nvPr/>
        </p:nvSpPr>
        <p:spPr>
          <a:xfrm>
            <a:off x="7379208" y="29260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Recommendations</a:t>
            </a:r>
            <a:endParaRPr lang="en-US" sz="850" dirty="0"/>
          </a:p>
        </p:txBody>
      </p:sp>
      <p:sp>
        <p:nvSpPr>
          <p:cNvPr id="59" name="Text 57"/>
          <p:cNvSpPr/>
          <p:nvPr/>
        </p:nvSpPr>
        <p:spPr>
          <a:xfrm>
            <a:off x="7379208" y="3383280"/>
            <a:ext cx="1371600" cy="384048"/>
          </a:xfrm>
          <a:prstGeom prst="rect">
            <a:avLst/>
          </a:prstGeom>
          <a:noFill/>
          <a:ln/>
        </p:spPr>
        <p:txBody>
          <a:bodyPr wrap="square" rtlCol="0" anchor="t"/>
          <a:lstStyle/>
          <a:p>
            <a:pPr marL="0" indent="0">
              <a:buNone/>
            </a:pPr>
            <a:r>
              <a:rPr lang="en-US" sz="850" dirty="0">
                <a:solidFill>
                  <a:srgbClr val="2D3748"/>
                </a:solidFill>
                <a:latin typeface="Arial" pitchFamily="34" charset="0"/>
                <a:ea typeface="Arial" pitchFamily="34" charset="-122"/>
                <a:cs typeface="Arial" pitchFamily="34" charset="-120"/>
              </a:rPr>
              <a:t>▸ Roadmap &amp; Risks</a:t>
            </a:r>
            <a:endParaRPr lang="en-US" sz="850" dirty="0"/>
          </a:p>
        </p:txBody>
      </p:sp>
      <p:sp>
        <p:nvSpPr>
          <p:cNvPr id="60" name="Shape 58"/>
          <p:cNvSpPr/>
          <p:nvPr/>
        </p:nvSpPr>
        <p:spPr>
          <a:xfrm>
            <a:off x="7498080" y="4160520"/>
            <a:ext cx="1143000" cy="320040"/>
          </a:xfrm>
          <a:prstGeom prst="roundRect">
            <a:avLst>
              <a:gd name="adj" fmla="val 11429"/>
            </a:avLst>
          </a:prstGeom>
          <a:solidFill>
            <a:srgbClr val="F59E0B"/>
          </a:solidFill>
          <a:ln w="12700">
            <a:solidFill>
              <a:srgbClr val="F59E0B"/>
            </a:solidFill>
            <a:prstDash val="solid"/>
          </a:ln>
        </p:spPr>
      </p:sp>
      <p:sp>
        <p:nvSpPr>
          <p:cNvPr id="61" name="Text 59"/>
          <p:cNvSpPr/>
          <p:nvPr/>
        </p:nvSpPr>
        <p:spPr>
          <a:xfrm>
            <a:off x="7498080" y="4160520"/>
            <a:ext cx="1143000" cy="320040"/>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Slides 25–30</a:t>
            </a:r>
            <a:endParaRPr lang="en-US" sz="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Tata Motors: Business Context &amp; Scale</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COMPANY PROFILE</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3</a:t>
            </a:r>
            <a:endParaRPr lang="en-US" sz="700" dirty="0"/>
          </a:p>
        </p:txBody>
      </p:sp>
      <p:sp>
        <p:nvSpPr>
          <p:cNvPr id="8" name="Shape 6"/>
          <p:cNvSpPr/>
          <p:nvPr/>
        </p:nvSpPr>
        <p:spPr>
          <a:xfrm>
            <a:off x="365760" y="868680"/>
            <a:ext cx="1965960" cy="1874520"/>
          </a:xfrm>
          <a:prstGeom prst="roundRect">
            <a:avLst>
              <a:gd name="adj" fmla="val 2927"/>
            </a:avLst>
          </a:prstGeom>
          <a:solidFill>
            <a:srgbClr val="FFFFFF"/>
          </a:solidFill>
          <a:ln w="9525">
            <a:solidFill>
              <a:srgbClr val="E2E8F0"/>
            </a:solidFill>
            <a:prstDash val="solid"/>
          </a:ln>
        </p:spPr>
      </p:sp>
      <p:sp>
        <p:nvSpPr>
          <p:cNvPr id="9" name="Shape 7"/>
          <p:cNvSpPr/>
          <p:nvPr/>
        </p:nvSpPr>
        <p:spPr>
          <a:xfrm>
            <a:off x="457200" y="941832"/>
            <a:ext cx="1783080" cy="36576"/>
          </a:xfrm>
          <a:prstGeom prst="rect">
            <a:avLst/>
          </a:prstGeom>
          <a:solidFill>
            <a:srgbClr val="0B1D35"/>
          </a:solidFill>
          <a:ln w="12700">
            <a:solidFill>
              <a:srgbClr val="0B1D35"/>
            </a:solidFill>
            <a:prstDash val="solid"/>
          </a:ln>
        </p:spPr>
      </p:sp>
      <p:sp>
        <p:nvSpPr>
          <p:cNvPr id="10" name="Text 8"/>
          <p:cNvSpPr/>
          <p:nvPr/>
        </p:nvSpPr>
        <p:spPr>
          <a:xfrm>
            <a:off x="475488" y="1051560"/>
            <a:ext cx="1746504" cy="320040"/>
          </a:xfrm>
          <a:prstGeom prst="rect">
            <a:avLst/>
          </a:prstGeom>
          <a:noFill/>
          <a:ln/>
        </p:spPr>
        <p:txBody>
          <a:bodyPr wrap="square" rtlCol="0" anchor="ctr"/>
          <a:lstStyle/>
          <a:p>
            <a:pPr marL="0" indent="0">
              <a:buNone/>
            </a:pPr>
            <a:r>
              <a:rPr lang="en-US" sz="2200" b="1" dirty="0">
                <a:solidFill>
                  <a:srgbClr val="0B1D35"/>
                </a:solidFill>
                <a:latin typeface="Arial" pitchFamily="34" charset="0"/>
                <a:ea typeface="Arial" pitchFamily="34" charset="-122"/>
                <a:cs typeface="Arial" pitchFamily="34" charset="-120"/>
              </a:rPr>
              <a:t>$42B+</a:t>
            </a:r>
            <a:endParaRPr lang="en-US" sz="2200" dirty="0"/>
          </a:p>
        </p:txBody>
      </p:sp>
      <p:sp>
        <p:nvSpPr>
          <p:cNvPr id="11" name="Text 9"/>
          <p:cNvSpPr/>
          <p:nvPr/>
        </p:nvSpPr>
        <p:spPr>
          <a:xfrm>
            <a:off x="475488" y="1371600"/>
            <a:ext cx="1746504" cy="182880"/>
          </a:xfrm>
          <a:prstGeom prst="rect">
            <a:avLst/>
          </a:prstGeom>
          <a:noFill/>
          <a:ln/>
        </p:spPr>
        <p:txBody>
          <a:bodyPr wrap="square" rtlCol="0" anchor="ctr"/>
          <a:lstStyle/>
          <a:p>
            <a:pPr marL="0" indent="0">
              <a:buNone/>
            </a:pPr>
            <a:r>
              <a:rPr lang="en-US" sz="900" b="1" dirty="0">
                <a:solidFill>
                  <a:srgbClr val="0B1D35"/>
                </a:solidFill>
                <a:latin typeface="Arial" pitchFamily="34" charset="0"/>
                <a:ea typeface="Arial" pitchFamily="34" charset="-122"/>
                <a:cs typeface="Arial" pitchFamily="34" charset="-120"/>
              </a:rPr>
              <a:t>Annual Revenue</a:t>
            </a:r>
            <a:endParaRPr lang="en-US" sz="900" dirty="0"/>
          </a:p>
        </p:txBody>
      </p:sp>
      <p:sp>
        <p:nvSpPr>
          <p:cNvPr id="12" name="Text 10"/>
          <p:cNvSpPr/>
          <p:nvPr/>
        </p:nvSpPr>
        <p:spPr>
          <a:xfrm>
            <a:off x="475488" y="1581912"/>
            <a:ext cx="1746504" cy="1005840"/>
          </a:xfrm>
          <a:prstGeom prst="rect">
            <a:avLst/>
          </a:prstGeom>
          <a:noFill/>
          <a:ln/>
        </p:spPr>
        <p:txBody>
          <a:bodyPr wrap="square" rtlCol="0" anchor="ctr"/>
          <a:lstStyle/>
          <a:p>
            <a:pPr marL="0" indent="0">
              <a:lnSpc>
                <a:spcPts val="1000"/>
              </a:lnSpc>
              <a:buNone/>
            </a:pPr>
            <a:r>
              <a:rPr lang="en-US" sz="800" dirty="0">
                <a:solidFill>
                  <a:srgbClr val="2D3748"/>
                </a:solidFill>
                <a:latin typeface="Arial" pitchFamily="34" charset="0"/>
                <a:ea typeface="Arial" pitchFamily="34" charset="-122"/>
                <a:cs typeface="Arial" pitchFamily="34" charset="-120"/>
              </a:rPr>
              <a:t>Global automotive revenues spanning passenger, commercial, and Jaguar Land Rover luxury brands.</a:t>
            </a:r>
            <a:endParaRPr lang="en-US" sz="800" dirty="0"/>
          </a:p>
        </p:txBody>
      </p:sp>
      <p:sp>
        <p:nvSpPr>
          <p:cNvPr id="13" name="Shape 11"/>
          <p:cNvSpPr/>
          <p:nvPr/>
        </p:nvSpPr>
        <p:spPr>
          <a:xfrm>
            <a:off x="2468880" y="868680"/>
            <a:ext cx="1965960" cy="1874520"/>
          </a:xfrm>
          <a:prstGeom prst="roundRect">
            <a:avLst>
              <a:gd name="adj" fmla="val 2927"/>
            </a:avLst>
          </a:prstGeom>
          <a:solidFill>
            <a:srgbClr val="FFFFFF"/>
          </a:solidFill>
          <a:ln w="9525">
            <a:solidFill>
              <a:srgbClr val="E2E8F0"/>
            </a:solidFill>
            <a:prstDash val="solid"/>
          </a:ln>
        </p:spPr>
      </p:sp>
      <p:sp>
        <p:nvSpPr>
          <p:cNvPr id="14" name="Shape 12"/>
          <p:cNvSpPr/>
          <p:nvPr/>
        </p:nvSpPr>
        <p:spPr>
          <a:xfrm>
            <a:off x="2560320" y="941832"/>
            <a:ext cx="1783080" cy="36576"/>
          </a:xfrm>
          <a:prstGeom prst="rect">
            <a:avLst/>
          </a:prstGeom>
          <a:solidFill>
            <a:srgbClr val="F58220"/>
          </a:solidFill>
          <a:ln w="12700">
            <a:solidFill>
              <a:srgbClr val="F58220"/>
            </a:solidFill>
            <a:prstDash val="solid"/>
          </a:ln>
        </p:spPr>
      </p:sp>
      <p:sp>
        <p:nvSpPr>
          <p:cNvPr id="15" name="Text 13"/>
          <p:cNvSpPr/>
          <p:nvPr/>
        </p:nvSpPr>
        <p:spPr>
          <a:xfrm>
            <a:off x="2578608" y="1051560"/>
            <a:ext cx="1883664" cy="320040"/>
          </a:xfrm>
          <a:prstGeom prst="rect">
            <a:avLst/>
          </a:prstGeom>
          <a:noFill/>
          <a:ln/>
        </p:spPr>
        <p:txBody>
          <a:bodyPr wrap="square" rtlCol="0" anchor="ctr"/>
          <a:lstStyle/>
          <a:p>
            <a:pPr marL="0" indent="0">
              <a:buNone/>
            </a:pPr>
            <a:r>
              <a:rPr lang="en-US" b="1" dirty="0">
                <a:solidFill>
                  <a:srgbClr val="F58220"/>
                </a:solidFill>
                <a:latin typeface="Arial" pitchFamily="34" charset="0"/>
                <a:ea typeface="Arial" pitchFamily="34" charset="-122"/>
                <a:cs typeface="Arial" pitchFamily="34" charset="-120"/>
              </a:rPr>
              <a:t>Pune &amp; Sanand</a:t>
            </a:r>
            <a:endParaRPr lang="en-US" dirty="0"/>
          </a:p>
        </p:txBody>
      </p:sp>
      <p:sp>
        <p:nvSpPr>
          <p:cNvPr id="16" name="Text 14"/>
          <p:cNvSpPr/>
          <p:nvPr/>
        </p:nvSpPr>
        <p:spPr>
          <a:xfrm>
            <a:off x="2578608" y="1371600"/>
            <a:ext cx="1746504" cy="182880"/>
          </a:xfrm>
          <a:prstGeom prst="rect">
            <a:avLst/>
          </a:prstGeom>
          <a:noFill/>
          <a:ln/>
        </p:spPr>
        <p:txBody>
          <a:bodyPr wrap="square" rtlCol="0" anchor="ctr"/>
          <a:lstStyle/>
          <a:p>
            <a:pPr marL="0" indent="0">
              <a:buNone/>
            </a:pPr>
            <a:r>
              <a:rPr lang="en-US" sz="900" b="1" dirty="0">
                <a:solidFill>
                  <a:srgbClr val="0B1D35"/>
                </a:solidFill>
                <a:latin typeface="Arial" pitchFamily="34" charset="0"/>
                <a:ea typeface="Arial" pitchFamily="34" charset="-122"/>
                <a:cs typeface="Arial" pitchFamily="34" charset="-120"/>
              </a:rPr>
              <a:t>Manufacturing Hubs</a:t>
            </a:r>
            <a:endParaRPr lang="en-US" sz="900" dirty="0"/>
          </a:p>
        </p:txBody>
      </p:sp>
      <p:sp>
        <p:nvSpPr>
          <p:cNvPr id="17" name="Text 15"/>
          <p:cNvSpPr/>
          <p:nvPr/>
        </p:nvSpPr>
        <p:spPr>
          <a:xfrm>
            <a:off x="2578608" y="1581912"/>
            <a:ext cx="1746504" cy="1005840"/>
          </a:xfrm>
          <a:prstGeom prst="rect">
            <a:avLst/>
          </a:prstGeom>
          <a:noFill/>
          <a:ln/>
        </p:spPr>
        <p:txBody>
          <a:bodyPr wrap="square" rtlCol="0" anchor="ctr"/>
          <a:lstStyle/>
          <a:p>
            <a:pPr marL="0" indent="0">
              <a:lnSpc>
                <a:spcPts val="1000"/>
              </a:lnSpc>
              <a:buNone/>
            </a:pPr>
            <a:r>
              <a:rPr lang="en-US" sz="800" dirty="0">
                <a:solidFill>
                  <a:srgbClr val="2D3748"/>
                </a:solidFill>
                <a:latin typeface="Arial" pitchFamily="34" charset="0"/>
                <a:ea typeface="Arial" pitchFamily="34" charset="-122"/>
                <a:cs typeface="Arial" pitchFamily="34" charset="-120"/>
              </a:rPr>
              <a:t>Core production sites with high-precision robotic welding cells and sensor-mapped assembly lines.</a:t>
            </a:r>
            <a:endParaRPr lang="en-US" sz="800" dirty="0"/>
          </a:p>
        </p:txBody>
      </p:sp>
      <p:sp>
        <p:nvSpPr>
          <p:cNvPr id="18" name="Shape 16"/>
          <p:cNvSpPr/>
          <p:nvPr/>
        </p:nvSpPr>
        <p:spPr>
          <a:xfrm>
            <a:off x="4572000" y="868680"/>
            <a:ext cx="1965960" cy="1874520"/>
          </a:xfrm>
          <a:prstGeom prst="roundRect">
            <a:avLst>
              <a:gd name="adj" fmla="val 2927"/>
            </a:avLst>
          </a:prstGeom>
          <a:solidFill>
            <a:srgbClr val="FFFFFF"/>
          </a:solidFill>
          <a:ln w="9525">
            <a:solidFill>
              <a:srgbClr val="E2E8F0"/>
            </a:solidFill>
            <a:prstDash val="solid"/>
          </a:ln>
        </p:spPr>
      </p:sp>
      <p:sp>
        <p:nvSpPr>
          <p:cNvPr id="19" name="Shape 17"/>
          <p:cNvSpPr/>
          <p:nvPr/>
        </p:nvSpPr>
        <p:spPr>
          <a:xfrm>
            <a:off x="4663440" y="941832"/>
            <a:ext cx="1783080" cy="36576"/>
          </a:xfrm>
          <a:prstGeom prst="rect">
            <a:avLst/>
          </a:prstGeom>
          <a:solidFill>
            <a:srgbClr val="3EA6FF"/>
          </a:solidFill>
          <a:ln w="12700">
            <a:solidFill>
              <a:srgbClr val="3EA6FF"/>
            </a:solidFill>
            <a:prstDash val="solid"/>
          </a:ln>
        </p:spPr>
      </p:sp>
      <p:sp>
        <p:nvSpPr>
          <p:cNvPr id="20" name="Text 18"/>
          <p:cNvSpPr/>
          <p:nvPr/>
        </p:nvSpPr>
        <p:spPr>
          <a:xfrm>
            <a:off x="4681728" y="1051560"/>
            <a:ext cx="1856232" cy="320040"/>
          </a:xfrm>
          <a:prstGeom prst="rect">
            <a:avLst/>
          </a:prstGeom>
          <a:noFill/>
          <a:ln/>
        </p:spPr>
        <p:txBody>
          <a:bodyPr wrap="square" rtlCol="0" anchor="ctr"/>
          <a:lstStyle/>
          <a:p>
            <a:pPr marL="0" indent="0">
              <a:buNone/>
            </a:pPr>
            <a:r>
              <a:rPr lang="en-US" b="1" dirty="0">
                <a:solidFill>
                  <a:srgbClr val="3EA6FF"/>
                </a:solidFill>
                <a:latin typeface="Arial" pitchFamily="34" charset="0"/>
                <a:ea typeface="Arial" pitchFamily="34" charset="-122"/>
                <a:cs typeface="Arial" pitchFamily="34" charset="-120"/>
              </a:rPr>
              <a:t>70%+ EV Share</a:t>
            </a:r>
            <a:endParaRPr lang="en-US" dirty="0"/>
          </a:p>
        </p:txBody>
      </p:sp>
      <p:sp>
        <p:nvSpPr>
          <p:cNvPr id="21" name="Text 19"/>
          <p:cNvSpPr/>
          <p:nvPr/>
        </p:nvSpPr>
        <p:spPr>
          <a:xfrm>
            <a:off x="4681728" y="1371600"/>
            <a:ext cx="1746504" cy="182880"/>
          </a:xfrm>
          <a:prstGeom prst="rect">
            <a:avLst/>
          </a:prstGeom>
          <a:noFill/>
          <a:ln/>
        </p:spPr>
        <p:txBody>
          <a:bodyPr wrap="square" rtlCol="0" anchor="ctr"/>
          <a:lstStyle/>
          <a:p>
            <a:pPr marL="0" indent="0">
              <a:buNone/>
            </a:pPr>
            <a:r>
              <a:rPr lang="en-US" sz="900" b="1" dirty="0">
                <a:solidFill>
                  <a:srgbClr val="0B1D35"/>
                </a:solidFill>
                <a:latin typeface="Arial" pitchFamily="34" charset="0"/>
                <a:ea typeface="Arial" pitchFamily="34" charset="-122"/>
                <a:cs typeface="Arial" pitchFamily="34" charset="-120"/>
              </a:rPr>
              <a:t>India EV Leader</a:t>
            </a:r>
            <a:endParaRPr lang="en-US" sz="900" dirty="0"/>
          </a:p>
        </p:txBody>
      </p:sp>
      <p:sp>
        <p:nvSpPr>
          <p:cNvPr id="22" name="Text 20"/>
          <p:cNvSpPr/>
          <p:nvPr/>
        </p:nvSpPr>
        <p:spPr>
          <a:xfrm>
            <a:off x="4681728" y="1581912"/>
            <a:ext cx="1746504" cy="1005840"/>
          </a:xfrm>
          <a:prstGeom prst="rect">
            <a:avLst/>
          </a:prstGeom>
          <a:noFill/>
          <a:ln/>
        </p:spPr>
        <p:txBody>
          <a:bodyPr wrap="square" rtlCol="0" anchor="ctr"/>
          <a:lstStyle/>
          <a:p>
            <a:pPr marL="0" indent="0">
              <a:lnSpc>
                <a:spcPts val="1000"/>
              </a:lnSpc>
              <a:buNone/>
            </a:pPr>
            <a:r>
              <a:rPr lang="en-US" sz="800" dirty="0">
                <a:solidFill>
                  <a:srgbClr val="2D3748"/>
                </a:solidFill>
                <a:latin typeface="Arial" pitchFamily="34" charset="0"/>
                <a:ea typeface="Arial" pitchFamily="34" charset="-122"/>
                <a:cs typeface="Arial" pitchFamily="34" charset="-120"/>
              </a:rPr>
              <a:t>Nexon EV, Tiago EV, Punch EV powering India's electric vehicle transition at scale.</a:t>
            </a:r>
            <a:endParaRPr lang="en-US" sz="800" dirty="0"/>
          </a:p>
        </p:txBody>
      </p:sp>
      <p:sp>
        <p:nvSpPr>
          <p:cNvPr id="23" name="Shape 21"/>
          <p:cNvSpPr/>
          <p:nvPr/>
        </p:nvSpPr>
        <p:spPr>
          <a:xfrm>
            <a:off x="6675120" y="868680"/>
            <a:ext cx="1965960" cy="1874520"/>
          </a:xfrm>
          <a:prstGeom prst="roundRect">
            <a:avLst>
              <a:gd name="adj" fmla="val 2927"/>
            </a:avLst>
          </a:prstGeom>
          <a:solidFill>
            <a:srgbClr val="FFFFFF"/>
          </a:solidFill>
          <a:ln w="9525">
            <a:solidFill>
              <a:srgbClr val="E2E8F0"/>
            </a:solidFill>
            <a:prstDash val="solid"/>
          </a:ln>
        </p:spPr>
      </p:sp>
      <p:sp>
        <p:nvSpPr>
          <p:cNvPr id="24" name="Shape 22"/>
          <p:cNvSpPr/>
          <p:nvPr/>
        </p:nvSpPr>
        <p:spPr>
          <a:xfrm>
            <a:off x="6766560" y="941832"/>
            <a:ext cx="1783080" cy="36576"/>
          </a:xfrm>
          <a:prstGeom prst="rect">
            <a:avLst/>
          </a:prstGeom>
          <a:solidFill>
            <a:srgbClr val="10B981"/>
          </a:solidFill>
          <a:ln w="12700">
            <a:solidFill>
              <a:srgbClr val="10B981"/>
            </a:solidFill>
            <a:prstDash val="solid"/>
          </a:ln>
        </p:spPr>
      </p:sp>
      <p:sp>
        <p:nvSpPr>
          <p:cNvPr id="25" name="Text 23"/>
          <p:cNvSpPr/>
          <p:nvPr/>
        </p:nvSpPr>
        <p:spPr>
          <a:xfrm>
            <a:off x="6784848" y="1051560"/>
            <a:ext cx="1746504" cy="320040"/>
          </a:xfrm>
          <a:prstGeom prst="rect">
            <a:avLst/>
          </a:prstGeom>
          <a:noFill/>
          <a:ln/>
        </p:spPr>
        <p:txBody>
          <a:bodyPr wrap="square" rtlCol="0" anchor="ctr"/>
          <a:lstStyle/>
          <a:p>
            <a:pPr marL="0" indent="0">
              <a:buNone/>
            </a:pPr>
            <a:r>
              <a:rPr lang="en-US" sz="2200" b="1" dirty="0">
                <a:solidFill>
                  <a:srgbClr val="10B981"/>
                </a:solidFill>
                <a:latin typeface="Arial" pitchFamily="34" charset="0"/>
                <a:ea typeface="Arial" pitchFamily="34" charset="-122"/>
                <a:cs typeface="Arial" pitchFamily="34" charset="-120"/>
              </a:rPr>
              <a:t>100K+ Staff</a:t>
            </a:r>
            <a:endParaRPr lang="en-US" sz="2200" dirty="0"/>
          </a:p>
        </p:txBody>
      </p:sp>
      <p:sp>
        <p:nvSpPr>
          <p:cNvPr id="26" name="Text 24"/>
          <p:cNvSpPr/>
          <p:nvPr/>
        </p:nvSpPr>
        <p:spPr>
          <a:xfrm>
            <a:off x="6784848" y="1371600"/>
            <a:ext cx="1746504" cy="182880"/>
          </a:xfrm>
          <a:prstGeom prst="rect">
            <a:avLst/>
          </a:prstGeom>
          <a:noFill/>
          <a:ln/>
        </p:spPr>
        <p:txBody>
          <a:bodyPr wrap="square" rtlCol="0" anchor="ctr"/>
          <a:lstStyle/>
          <a:p>
            <a:pPr marL="0" indent="0">
              <a:buNone/>
            </a:pPr>
            <a:r>
              <a:rPr lang="en-US" sz="900" b="1" dirty="0">
                <a:solidFill>
                  <a:srgbClr val="0B1D35"/>
                </a:solidFill>
                <a:latin typeface="Arial" pitchFamily="34" charset="0"/>
                <a:ea typeface="Arial" pitchFamily="34" charset="-122"/>
                <a:cs typeface="Arial" pitchFamily="34" charset="-120"/>
              </a:rPr>
              <a:t>Global Workforce</a:t>
            </a:r>
            <a:endParaRPr lang="en-US" sz="900" dirty="0"/>
          </a:p>
        </p:txBody>
      </p:sp>
      <p:sp>
        <p:nvSpPr>
          <p:cNvPr id="27" name="Text 25"/>
          <p:cNvSpPr/>
          <p:nvPr/>
        </p:nvSpPr>
        <p:spPr>
          <a:xfrm>
            <a:off x="6784848" y="1581912"/>
            <a:ext cx="1746504" cy="1005840"/>
          </a:xfrm>
          <a:prstGeom prst="rect">
            <a:avLst/>
          </a:prstGeom>
          <a:noFill/>
          <a:ln/>
        </p:spPr>
        <p:txBody>
          <a:bodyPr wrap="square" rtlCol="0" anchor="ctr"/>
          <a:lstStyle/>
          <a:p>
            <a:pPr marL="0" indent="0">
              <a:lnSpc>
                <a:spcPts val="1000"/>
              </a:lnSpc>
              <a:buNone/>
            </a:pPr>
            <a:r>
              <a:rPr lang="en-US" sz="800" dirty="0">
                <a:solidFill>
                  <a:srgbClr val="2D3748"/>
                </a:solidFill>
                <a:latin typeface="Arial" pitchFamily="34" charset="0"/>
                <a:ea typeface="Arial" pitchFamily="34" charset="-122"/>
                <a:cs typeface="Arial" pitchFamily="34" charset="-120"/>
              </a:rPr>
              <a:t>Engineers, factory operators, and dealer support teams connected via integrated CRM pipelines.</a:t>
            </a:r>
            <a:endParaRPr lang="en-US" sz="800" dirty="0"/>
          </a:p>
        </p:txBody>
      </p:sp>
      <p:sp>
        <p:nvSpPr>
          <p:cNvPr id="28" name="Shape 26"/>
          <p:cNvSpPr/>
          <p:nvPr/>
        </p:nvSpPr>
        <p:spPr>
          <a:xfrm>
            <a:off x="365760" y="2926080"/>
            <a:ext cx="8321040" cy="1737360"/>
          </a:xfrm>
          <a:prstGeom prst="roundRect">
            <a:avLst>
              <a:gd name="adj" fmla="val 3158"/>
            </a:avLst>
          </a:prstGeom>
          <a:solidFill>
            <a:srgbClr val="FFFFFF"/>
          </a:solidFill>
          <a:ln w="9525">
            <a:solidFill>
              <a:srgbClr val="E2E8F0"/>
            </a:solidFill>
            <a:prstDash val="solid"/>
          </a:ln>
        </p:spPr>
      </p:sp>
      <p:sp>
        <p:nvSpPr>
          <p:cNvPr id="29" name="Text 27"/>
          <p:cNvSpPr/>
          <p:nvPr/>
        </p:nvSpPr>
        <p:spPr>
          <a:xfrm>
            <a:off x="502920" y="3017520"/>
            <a:ext cx="3657600" cy="22860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Manufacturing Industry Context</a:t>
            </a:r>
            <a:endParaRPr lang="en-US" sz="1200" dirty="0"/>
          </a:p>
        </p:txBody>
      </p:sp>
      <p:sp>
        <p:nvSpPr>
          <p:cNvPr id="30" name="Text 28"/>
          <p:cNvSpPr/>
          <p:nvPr/>
        </p:nvSpPr>
        <p:spPr>
          <a:xfrm>
            <a:off x="502920" y="3291840"/>
            <a:ext cx="8046720" cy="1234440"/>
          </a:xfrm>
          <a:prstGeom prst="rect">
            <a:avLst/>
          </a:prstGeom>
          <a:noFill/>
          <a:ln/>
        </p:spPr>
        <p:txBody>
          <a:bodyPr wrap="square" rtlCol="0" anchor="ctr"/>
          <a:lstStyle/>
          <a:p>
            <a:pPr marL="0" indent="0">
              <a:lnSpc>
                <a:spcPts val="1200"/>
              </a:lnSpc>
              <a:buNone/>
            </a:pPr>
            <a:r>
              <a:rPr lang="en-US" sz="950" b="1" dirty="0">
                <a:solidFill>
                  <a:srgbClr val="F58220"/>
                </a:solidFill>
                <a:latin typeface="Arial" pitchFamily="34" charset="0"/>
                <a:ea typeface="Arial" pitchFamily="34" charset="-122"/>
                <a:cs typeface="Arial" pitchFamily="34" charset="-120"/>
              </a:rPr>
              <a:t>• Industry 4.0 Transformation: </a:t>
            </a:r>
            <a:r>
              <a:rPr lang="en-US" sz="950" dirty="0">
                <a:solidFill>
                  <a:srgbClr val="2D3748"/>
                </a:solidFill>
                <a:latin typeface="Arial" pitchFamily="34" charset="0"/>
                <a:ea typeface="Arial" pitchFamily="34" charset="-122"/>
                <a:cs typeface="Arial" pitchFamily="34" charset="-120"/>
              </a:rPr>
              <a:t>IoT-connected machinery, robotic cells, and cloud-native datastores replacing legacy assembly lines.
</a:t>
            </a:r>
            <a:r>
              <a:rPr lang="en-US" sz="950" b="1" dirty="0">
                <a:solidFill>
                  <a:srgbClr val="2D3748"/>
                </a:solidFill>
                <a:latin typeface="Arial" pitchFamily="34" charset="0"/>
                <a:ea typeface="Arial" pitchFamily="34" charset="-122"/>
                <a:cs typeface="Arial" pitchFamily="34" charset="-120"/>
              </a:rPr>
              <a:t>• Predictive Operations: </a:t>
            </a:r>
            <a:r>
              <a:rPr lang="en-US" sz="950" dirty="0">
                <a:solidFill>
                  <a:srgbClr val="2D3748"/>
                </a:solidFill>
                <a:latin typeface="Arial" pitchFamily="34" charset="0"/>
                <a:ea typeface="Arial" pitchFamily="34" charset="-122"/>
                <a:cs typeface="Arial" pitchFamily="34" charset="-120"/>
              </a:rPr>
              <a:t>Machine vibration telemetry and AI vision systems detecting defects before they escape the line.
</a:t>
            </a:r>
            <a:r>
              <a:rPr lang="en-US" sz="950" b="1" dirty="0">
                <a:solidFill>
                  <a:srgbClr val="2D3748"/>
                </a:solidFill>
                <a:latin typeface="Arial" pitchFamily="34" charset="0"/>
                <a:ea typeface="Arial" pitchFamily="34" charset="-122"/>
                <a:cs typeface="Arial" pitchFamily="34" charset="-120"/>
              </a:rPr>
              <a:t>• Data-Driven Supply Chains: </a:t>
            </a:r>
            <a:r>
              <a:rPr lang="en-US" sz="950" dirty="0">
                <a:solidFill>
                  <a:srgbClr val="2D3748"/>
                </a:solidFill>
                <a:latin typeface="Arial" pitchFamily="34" charset="0"/>
                <a:ea typeface="Arial" pitchFamily="34" charset="-122"/>
                <a:cs typeface="Arial" pitchFamily="34" charset="-120"/>
              </a:rPr>
              <a:t>Real-time database tracking across global sourcing networks to identify supplier delays instantly.</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300" fill="hold"/>
                                        <p:tgtEl>
                                          <p:spTgt spid="10"/>
                                        </p:tgtEl>
                                        <p:attrNameLst>
                                          <p:attrName>ppt_w</p:attrName>
                                        </p:attrNameLst>
                                      </p:cBhvr>
                                      <p:tavLst>
                                        <p:tav tm="0">
                                          <p:val>
                                            <p:fltVal val="0"/>
                                          </p:val>
                                        </p:tav>
                                        <p:tav tm="100000">
                                          <p:val>
                                            <p:strVal val="#ppt_w"/>
                                          </p:val>
                                        </p:tav>
                                      </p:tavLst>
                                    </p:anim>
                                    <p:anim calcmode="lin" valueType="num">
                                      <p:cBhvr>
                                        <p:cTn id="8" dur="300" fill="hold"/>
                                        <p:tgtEl>
                                          <p:spTgt spid="10"/>
                                        </p:tgtEl>
                                        <p:attrNameLst>
                                          <p:attrName>ppt_h</p:attrName>
                                        </p:attrNameLst>
                                      </p:cBhvr>
                                      <p:tavLst>
                                        <p:tav tm="0">
                                          <p:val>
                                            <p:fltVal val="0"/>
                                          </p:val>
                                        </p:tav>
                                        <p:tav tm="100000">
                                          <p:val>
                                            <p:strVal val="#ppt_h"/>
                                          </p:val>
                                        </p:tav>
                                      </p:tavLst>
                                    </p:anim>
                                    <p:animEffect transition="in" filter="fade">
                                      <p:cBhvr>
                                        <p:cTn id="9" dur="300"/>
                                        <p:tgtEl>
                                          <p:spTgt spid="1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p:cTn id="12" dur="300" fill="hold"/>
                                        <p:tgtEl>
                                          <p:spTgt spid="15"/>
                                        </p:tgtEl>
                                        <p:attrNameLst>
                                          <p:attrName>ppt_w</p:attrName>
                                        </p:attrNameLst>
                                      </p:cBhvr>
                                      <p:tavLst>
                                        <p:tav tm="0">
                                          <p:val>
                                            <p:fltVal val="0"/>
                                          </p:val>
                                        </p:tav>
                                        <p:tav tm="100000">
                                          <p:val>
                                            <p:strVal val="#ppt_w"/>
                                          </p:val>
                                        </p:tav>
                                      </p:tavLst>
                                    </p:anim>
                                    <p:anim calcmode="lin" valueType="num">
                                      <p:cBhvr>
                                        <p:cTn id="13" dur="300" fill="hold"/>
                                        <p:tgtEl>
                                          <p:spTgt spid="15"/>
                                        </p:tgtEl>
                                        <p:attrNameLst>
                                          <p:attrName>ppt_h</p:attrName>
                                        </p:attrNameLst>
                                      </p:cBhvr>
                                      <p:tavLst>
                                        <p:tav tm="0">
                                          <p:val>
                                            <p:fltVal val="0"/>
                                          </p:val>
                                        </p:tav>
                                        <p:tav tm="100000">
                                          <p:val>
                                            <p:strVal val="#ppt_h"/>
                                          </p:val>
                                        </p:tav>
                                      </p:tavLst>
                                    </p:anim>
                                    <p:animEffect transition="in" filter="fade">
                                      <p:cBhvr>
                                        <p:cTn id="14" dur="300"/>
                                        <p:tgtEl>
                                          <p:spTgt spid="1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300" fill="hold"/>
                                        <p:tgtEl>
                                          <p:spTgt spid="20"/>
                                        </p:tgtEl>
                                        <p:attrNameLst>
                                          <p:attrName>ppt_w</p:attrName>
                                        </p:attrNameLst>
                                      </p:cBhvr>
                                      <p:tavLst>
                                        <p:tav tm="0">
                                          <p:val>
                                            <p:fltVal val="0"/>
                                          </p:val>
                                        </p:tav>
                                        <p:tav tm="100000">
                                          <p:val>
                                            <p:strVal val="#ppt_w"/>
                                          </p:val>
                                        </p:tav>
                                      </p:tavLst>
                                    </p:anim>
                                    <p:anim calcmode="lin" valueType="num">
                                      <p:cBhvr>
                                        <p:cTn id="18" dur="300" fill="hold"/>
                                        <p:tgtEl>
                                          <p:spTgt spid="20"/>
                                        </p:tgtEl>
                                        <p:attrNameLst>
                                          <p:attrName>ppt_h</p:attrName>
                                        </p:attrNameLst>
                                      </p:cBhvr>
                                      <p:tavLst>
                                        <p:tav tm="0">
                                          <p:val>
                                            <p:fltVal val="0"/>
                                          </p:val>
                                        </p:tav>
                                        <p:tav tm="100000">
                                          <p:val>
                                            <p:strVal val="#ppt_h"/>
                                          </p:val>
                                        </p:tav>
                                      </p:tavLst>
                                    </p:anim>
                                    <p:animEffect transition="in" filter="fade">
                                      <p:cBhvr>
                                        <p:cTn id="19" dur="300"/>
                                        <p:tgtEl>
                                          <p:spTgt spid="20"/>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300" fill="hold"/>
                                        <p:tgtEl>
                                          <p:spTgt spid="25"/>
                                        </p:tgtEl>
                                        <p:attrNameLst>
                                          <p:attrName>ppt_w</p:attrName>
                                        </p:attrNameLst>
                                      </p:cBhvr>
                                      <p:tavLst>
                                        <p:tav tm="0">
                                          <p:val>
                                            <p:fltVal val="0"/>
                                          </p:val>
                                        </p:tav>
                                        <p:tav tm="100000">
                                          <p:val>
                                            <p:strVal val="#ppt_w"/>
                                          </p:val>
                                        </p:tav>
                                      </p:tavLst>
                                    </p:anim>
                                    <p:anim calcmode="lin" valueType="num">
                                      <p:cBhvr>
                                        <p:cTn id="23" dur="300" fill="hold"/>
                                        <p:tgtEl>
                                          <p:spTgt spid="25"/>
                                        </p:tgtEl>
                                        <p:attrNameLst>
                                          <p:attrName>ppt_h</p:attrName>
                                        </p:attrNameLst>
                                      </p:cBhvr>
                                      <p:tavLst>
                                        <p:tav tm="0">
                                          <p:val>
                                            <p:fltVal val="0"/>
                                          </p:val>
                                        </p:tav>
                                        <p:tav tm="100000">
                                          <p:val>
                                            <p:strVal val="#ppt_h"/>
                                          </p:val>
                                        </p:tav>
                                      </p:tavLst>
                                    </p:anim>
                                    <p:animEffect transition="in" filter="fade">
                                      <p:cBhvr>
                                        <p:cTn id="24" dur="3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Product Dissection: Tata Motors Operations</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DEEP DIVE</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4</a:t>
            </a:r>
            <a:endParaRPr lang="en-US" sz="700" dirty="0"/>
          </a:p>
        </p:txBody>
      </p:sp>
      <p:sp>
        <p:nvSpPr>
          <p:cNvPr id="8" name="Shape 6"/>
          <p:cNvSpPr/>
          <p:nvPr/>
        </p:nvSpPr>
        <p:spPr>
          <a:xfrm>
            <a:off x="365760" y="868680"/>
            <a:ext cx="3931920" cy="3794760"/>
          </a:xfrm>
          <a:prstGeom prst="roundRect">
            <a:avLst>
              <a:gd name="adj" fmla="val 1446"/>
            </a:avLst>
          </a:prstGeom>
          <a:solidFill>
            <a:srgbClr val="FFFFFF"/>
          </a:solidFill>
          <a:ln w="9525">
            <a:solidFill>
              <a:srgbClr val="E2E8F0"/>
            </a:solidFill>
            <a:prstDash val="solid"/>
          </a:ln>
        </p:spPr>
      </p:sp>
      <p:sp>
        <p:nvSpPr>
          <p:cNvPr id="9" name="Text 7"/>
          <p:cNvSpPr/>
          <p:nvPr/>
        </p:nvSpPr>
        <p:spPr>
          <a:xfrm>
            <a:off x="502920" y="960120"/>
            <a:ext cx="3657600" cy="256032"/>
          </a:xfrm>
          <a:prstGeom prst="rect">
            <a:avLst/>
          </a:prstGeom>
          <a:noFill/>
          <a:ln/>
        </p:spPr>
        <p:txBody>
          <a:bodyPr wrap="square" rtlCol="0" anchor="ctr"/>
          <a:lstStyle/>
          <a:p>
            <a:pPr marL="0" indent="0">
              <a:buNone/>
            </a:pPr>
            <a:r>
              <a:rPr lang="en-US" sz="1300" b="1" dirty="0">
                <a:solidFill>
                  <a:srgbClr val="0B1D35"/>
                </a:solidFill>
                <a:latin typeface="Arial" pitchFamily="34" charset="0"/>
                <a:ea typeface="Arial" pitchFamily="34" charset="-122"/>
                <a:cs typeface="Arial" pitchFamily="34" charset="-120"/>
              </a:rPr>
              <a:t>Core Manufacturing Layers</a:t>
            </a:r>
            <a:endParaRPr lang="en-US" sz="1300" dirty="0"/>
          </a:p>
        </p:txBody>
      </p:sp>
      <p:sp>
        <p:nvSpPr>
          <p:cNvPr id="10" name="Shape 8"/>
          <p:cNvSpPr/>
          <p:nvPr/>
        </p:nvSpPr>
        <p:spPr>
          <a:xfrm>
            <a:off x="502920" y="1325880"/>
            <a:ext cx="54864" cy="640080"/>
          </a:xfrm>
          <a:prstGeom prst="rect">
            <a:avLst/>
          </a:prstGeom>
          <a:solidFill>
            <a:srgbClr val="0B1D35"/>
          </a:solidFill>
          <a:ln w="12700">
            <a:solidFill>
              <a:srgbClr val="0B1D35"/>
            </a:solidFill>
            <a:prstDash val="solid"/>
          </a:ln>
        </p:spPr>
      </p:sp>
      <p:sp>
        <p:nvSpPr>
          <p:cNvPr id="11" name="Text 9"/>
          <p:cNvSpPr/>
          <p:nvPr/>
        </p:nvSpPr>
        <p:spPr>
          <a:xfrm>
            <a:off x="658368" y="1325880"/>
            <a:ext cx="3474720" cy="201168"/>
          </a:xfrm>
          <a:prstGeom prst="rect">
            <a:avLst/>
          </a:prstGeom>
          <a:noFill/>
          <a:ln/>
        </p:spPr>
        <p:txBody>
          <a:bodyPr wrap="square" rtlCol="0" anchor="ctr"/>
          <a:lstStyle/>
          <a:p>
            <a:pPr marL="0" indent="0">
              <a:buNone/>
            </a:pPr>
            <a:r>
              <a:rPr lang="en-US" sz="1000" b="1" dirty="0">
                <a:solidFill>
                  <a:srgbClr val="0B1D35"/>
                </a:solidFill>
                <a:latin typeface="Arial" pitchFamily="34" charset="0"/>
                <a:ea typeface="Arial" pitchFamily="34" charset="-122"/>
                <a:cs typeface="Arial" pitchFamily="34" charset="-120"/>
              </a:rPr>
              <a:t>Advanced Assembly</a:t>
            </a:r>
            <a:endParaRPr lang="en-US" sz="1000" dirty="0"/>
          </a:p>
        </p:txBody>
      </p:sp>
      <p:sp>
        <p:nvSpPr>
          <p:cNvPr id="12" name="Text 10"/>
          <p:cNvSpPr/>
          <p:nvPr/>
        </p:nvSpPr>
        <p:spPr>
          <a:xfrm>
            <a:off x="658368" y="1527048"/>
            <a:ext cx="3474720" cy="438912"/>
          </a:xfrm>
          <a:prstGeom prst="rect">
            <a:avLst/>
          </a:prstGeom>
          <a:noFill/>
          <a:ln/>
        </p:spPr>
        <p:txBody>
          <a:bodyPr wrap="square" rtlCol="0" anchor="ctr"/>
          <a:lstStyle/>
          <a:p>
            <a:pPr marL="0" indent="0">
              <a:lnSpc>
                <a:spcPts val="1000"/>
              </a:lnSpc>
              <a:buNone/>
            </a:pPr>
            <a:r>
              <a:rPr lang="en-US" sz="850" dirty="0">
                <a:solidFill>
                  <a:srgbClr val="2D3748"/>
                </a:solidFill>
                <a:latin typeface="Arial" pitchFamily="34" charset="0"/>
                <a:ea typeface="Arial" pitchFamily="34" charset="-122"/>
                <a:cs typeface="Arial" pitchFamily="34" charset="-120"/>
              </a:rPr>
              <a:t>Robotic logistics loaders transferring components across production bays with real-time RFID tracking.</a:t>
            </a:r>
            <a:endParaRPr lang="en-US" sz="850" dirty="0"/>
          </a:p>
        </p:txBody>
      </p:sp>
      <p:sp>
        <p:nvSpPr>
          <p:cNvPr id="13" name="Shape 11"/>
          <p:cNvSpPr/>
          <p:nvPr/>
        </p:nvSpPr>
        <p:spPr>
          <a:xfrm>
            <a:off x="502920" y="2130552"/>
            <a:ext cx="54864" cy="640080"/>
          </a:xfrm>
          <a:prstGeom prst="rect">
            <a:avLst/>
          </a:prstGeom>
          <a:solidFill>
            <a:srgbClr val="3EA6FF"/>
          </a:solidFill>
          <a:ln w="12700">
            <a:solidFill>
              <a:srgbClr val="3EA6FF"/>
            </a:solidFill>
            <a:prstDash val="solid"/>
          </a:ln>
        </p:spPr>
      </p:sp>
      <p:sp>
        <p:nvSpPr>
          <p:cNvPr id="14" name="Text 12"/>
          <p:cNvSpPr/>
          <p:nvPr/>
        </p:nvSpPr>
        <p:spPr>
          <a:xfrm>
            <a:off x="658368" y="2130552"/>
            <a:ext cx="3474720" cy="201168"/>
          </a:xfrm>
          <a:prstGeom prst="rect">
            <a:avLst/>
          </a:prstGeom>
          <a:noFill/>
          <a:ln/>
        </p:spPr>
        <p:txBody>
          <a:bodyPr wrap="square" rtlCol="0" anchor="ctr"/>
          <a:lstStyle/>
          <a:p>
            <a:pPr marL="0" indent="0">
              <a:buNone/>
            </a:pPr>
            <a:r>
              <a:rPr lang="en-US" sz="1000" b="1" dirty="0">
                <a:solidFill>
                  <a:srgbClr val="3EA6FF"/>
                </a:solidFill>
                <a:latin typeface="Arial" pitchFamily="34" charset="0"/>
                <a:ea typeface="Arial" pitchFamily="34" charset="-122"/>
                <a:cs typeface="Arial" pitchFamily="34" charset="-120"/>
              </a:rPr>
              <a:t>EV Production Blocks</a:t>
            </a:r>
            <a:endParaRPr lang="en-US" sz="1000" dirty="0"/>
          </a:p>
        </p:txBody>
      </p:sp>
      <p:sp>
        <p:nvSpPr>
          <p:cNvPr id="15" name="Text 13"/>
          <p:cNvSpPr/>
          <p:nvPr/>
        </p:nvSpPr>
        <p:spPr>
          <a:xfrm>
            <a:off x="658368" y="2331720"/>
            <a:ext cx="3474720" cy="438912"/>
          </a:xfrm>
          <a:prstGeom prst="rect">
            <a:avLst/>
          </a:prstGeom>
          <a:noFill/>
          <a:ln/>
        </p:spPr>
        <p:txBody>
          <a:bodyPr wrap="square" rtlCol="0" anchor="ctr"/>
          <a:lstStyle/>
          <a:p>
            <a:pPr marL="0" indent="0">
              <a:lnSpc>
                <a:spcPts val="1000"/>
              </a:lnSpc>
              <a:buNone/>
            </a:pPr>
            <a:r>
              <a:rPr lang="en-US" sz="850" dirty="0">
                <a:solidFill>
                  <a:srgbClr val="2D3748"/>
                </a:solidFill>
                <a:latin typeface="Arial" pitchFamily="34" charset="0"/>
                <a:ea typeface="Arial" pitchFamily="34" charset="-122"/>
                <a:cs typeface="Arial" pitchFamily="34" charset="-120"/>
              </a:rPr>
              <a:t>Specialized environments for battery packs, wiring looms, and electric drive unit assembly.</a:t>
            </a:r>
            <a:endParaRPr lang="en-US" sz="850" dirty="0"/>
          </a:p>
        </p:txBody>
      </p:sp>
      <p:sp>
        <p:nvSpPr>
          <p:cNvPr id="16" name="Shape 14"/>
          <p:cNvSpPr/>
          <p:nvPr/>
        </p:nvSpPr>
        <p:spPr>
          <a:xfrm>
            <a:off x="502920" y="2935224"/>
            <a:ext cx="54864" cy="640080"/>
          </a:xfrm>
          <a:prstGeom prst="rect">
            <a:avLst/>
          </a:prstGeom>
          <a:solidFill>
            <a:srgbClr val="F58220"/>
          </a:solidFill>
          <a:ln w="12700">
            <a:solidFill>
              <a:srgbClr val="F58220"/>
            </a:solidFill>
            <a:prstDash val="solid"/>
          </a:ln>
        </p:spPr>
      </p:sp>
      <p:sp>
        <p:nvSpPr>
          <p:cNvPr id="17" name="Text 15"/>
          <p:cNvSpPr/>
          <p:nvPr/>
        </p:nvSpPr>
        <p:spPr>
          <a:xfrm>
            <a:off x="658368" y="2935224"/>
            <a:ext cx="3474720" cy="201168"/>
          </a:xfrm>
          <a:prstGeom prst="rect">
            <a:avLst/>
          </a:prstGeom>
          <a:noFill/>
          <a:ln/>
        </p:spPr>
        <p:txBody>
          <a:bodyPr wrap="square" rtlCol="0" anchor="ctr"/>
          <a:lstStyle/>
          <a:p>
            <a:pPr marL="0" indent="0">
              <a:buNone/>
            </a:pPr>
            <a:r>
              <a:rPr lang="en-US" sz="1000" b="1" dirty="0">
                <a:solidFill>
                  <a:srgbClr val="F58220"/>
                </a:solidFill>
                <a:latin typeface="Arial" pitchFamily="34" charset="0"/>
                <a:ea typeface="Arial" pitchFamily="34" charset="-122"/>
                <a:cs typeface="Arial" pitchFamily="34" charset="-120"/>
              </a:rPr>
              <a:t>Precision R&amp;D</a:t>
            </a:r>
            <a:endParaRPr lang="en-US" sz="1000" dirty="0"/>
          </a:p>
        </p:txBody>
      </p:sp>
      <p:sp>
        <p:nvSpPr>
          <p:cNvPr id="18" name="Text 16"/>
          <p:cNvSpPr/>
          <p:nvPr/>
        </p:nvSpPr>
        <p:spPr>
          <a:xfrm>
            <a:off x="658368" y="3136392"/>
            <a:ext cx="3474720" cy="438912"/>
          </a:xfrm>
          <a:prstGeom prst="rect">
            <a:avLst/>
          </a:prstGeom>
          <a:noFill/>
          <a:ln/>
        </p:spPr>
        <p:txBody>
          <a:bodyPr wrap="square" rtlCol="0" anchor="ctr"/>
          <a:lstStyle/>
          <a:p>
            <a:pPr marL="0" indent="0">
              <a:lnSpc>
                <a:spcPts val="1000"/>
              </a:lnSpc>
              <a:buNone/>
            </a:pPr>
            <a:r>
              <a:rPr lang="en-US" sz="850" dirty="0">
                <a:solidFill>
                  <a:srgbClr val="2D3748"/>
                </a:solidFill>
                <a:latin typeface="Arial" pitchFamily="34" charset="0"/>
                <a:ea typeface="Arial" pitchFamily="34" charset="-122"/>
                <a:cs typeface="Arial" pitchFamily="34" charset="-120"/>
              </a:rPr>
              <a:t>Continuous prototyping and crash testing arrays optimizing durability and component lifetimes.</a:t>
            </a:r>
            <a:endParaRPr lang="en-US" sz="850" dirty="0"/>
          </a:p>
        </p:txBody>
      </p:sp>
      <p:sp>
        <p:nvSpPr>
          <p:cNvPr id="19" name="Shape 17"/>
          <p:cNvSpPr/>
          <p:nvPr/>
        </p:nvSpPr>
        <p:spPr>
          <a:xfrm>
            <a:off x="502920" y="3739896"/>
            <a:ext cx="54864" cy="640080"/>
          </a:xfrm>
          <a:prstGeom prst="rect">
            <a:avLst/>
          </a:prstGeom>
          <a:solidFill>
            <a:srgbClr val="10B981"/>
          </a:solidFill>
          <a:ln w="12700">
            <a:solidFill>
              <a:srgbClr val="10B981"/>
            </a:solidFill>
            <a:prstDash val="solid"/>
          </a:ln>
        </p:spPr>
      </p:sp>
      <p:sp>
        <p:nvSpPr>
          <p:cNvPr id="20" name="Text 18"/>
          <p:cNvSpPr/>
          <p:nvPr/>
        </p:nvSpPr>
        <p:spPr>
          <a:xfrm>
            <a:off x="658368" y="3739896"/>
            <a:ext cx="3474720" cy="201168"/>
          </a:xfrm>
          <a:prstGeom prst="rect">
            <a:avLst/>
          </a:prstGeom>
          <a:noFill/>
          <a:ln/>
        </p:spPr>
        <p:txBody>
          <a:bodyPr wrap="square" rtlCol="0" anchor="ctr"/>
          <a:lstStyle/>
          <a:p>
            <a:pPr marL="0" indent="0">
              <a:buNone/>
            </a:pPr>
            <a:r>
              <a:rPr lang="en-US" sz="1000" b="1" dirty="0">
                <a:solidFill>
                  <a:srgbClr val="10B981"/>
                </a:solidFill>
                <a:latin typeface="Arial" pitchFamily="34" charset="0"/>
                <a:ea typeface="Arial" pitchFamily="34" charset="-122"/>
                <a:cs typeface="Arial" pitchFamily="34" charset="-120"/>
              </a:rPr>
              <a:t>Smart Quality Control</a:t>
            </a:r>
            <a:endParaRPr lang="en-US" sz="1000" dirty="0"/>
          </a:p>
        </p:txBody>
      </p:sp>
      <p:sp>
        <p:nvSpPr>
          <p:cNvPr id="21" name="Text 19"/>
          <p:cNvSpPr/>
          <p:nvPr/>
        </p:nvSpPr>
        <p:spPr>
          <a:xfrm>
            <a:off x="658368" y="3941064"/>
            <a:ext cx="3474720" cy="438912"/>
          </a:xfrm>
          <a:prstGeom prst="rect">
            <a:avLst/>
          </a:prstGeom>
          <a:noFill/>
          <a:ln/>
        </p:spPr>
        <p:txBody>
          <a:bodyPr wrap="square" rtlCol="0" anchor="ctr"/>
          <a:lstStyle/>
          <a:p>
            <a:pPr marL="0" indent="0">
              <a:lnSpc>
                <a:spcPts val="1000"/>
              </a:lnSpc>
              <a:buNone/>
            </a:pPr>
            <a:r>
              <a:rPr lang="en-US" sz="850" dirty="0">
                <a:solidFill>
                  <a:srgbClr val="2D3748"/>
                </a:solidFill>
                <a:latin typeface="Arial" pitchFamily="34" charset="0"/>
                <a:ea typeface="Arial" pitchFamily="34" charset="-122"/>
                <a:cs typeface="Arial" pitchFamily="34" charset="-120"/>
              </a:rPr>
              <a:t>AI computer vision scanning castings on assembly feeds, cutting human oversight errors by 12%.</a:t>
            </a:r>
            <a:endParaRPr lang="en-US" sz="850" dirty="0"/>
          </a:p>
        </p:txBody>
      </p:sp>
      <p:sp>
        <p:nvSpPr>
          <p:cNvPr id="22" name="Shape 20"/>
          <p:cNvSpPr/>
          <p:nvPr/>
        </p:nvSpPr>
        <p:spPr>
          <a:xfrm>
            <a:off x="4434840" y="868680"/>
            <a:ext cx="4297680" cy="3794760"/>
          </a:xfrm>
          <a:prstGeom prst="roundRect">
            <a:avLst>
              <a:gd name="adj" fmla="val 1446"/>
            </a:avLst>
          </a:prstGeom>
          <a:solidFill>
            <a:srgbClr val="FFFFFF"/>
          </a:solidFill>
          <a:ln w="9525">
            <a:solidFill>
              <a:srgbClr val="E2E8F0"/>
            </a:solidFill>
            <a:prstDash val="solid"/>
          </a:ln>
        </p:spPr>
      </p:sp>
      <p:sp>
        <p:nvSpPr>
          <p:cNvPr id="23" name="Text 21"/>
          <p:cNvSpPr/>
          <p:nvPr/>
        </p:nvSpPr>
        <p:spPr>
          <a:xfrm>
            <a:off x="4572000" y="960120"/>
            <a:ext cx="4023360" cy="256032"/>
          </a:xfrm>
          <a:prstGeom prst="rect">
            <a:avLst/>
          </a:prstGeom>
          <a:noFill/>
          <a:ln/>
        </p:spPr>
        <p:txBody>
          <a:bodyPr wrap="square" rtlCol="0" anchor="ctr"/>
          <a:lstStyle/>
          <a:p>
            <a:pPr marL="0" indent="0">
              <a:buNone/>
            </a:pPr>
            <a:r>
              <a:rPr lang="en-US" sz="1300" b="1" dirty="0">
                <a:solidFill>
                  <a:srgbClr val="0B1D35"/>
                </a:solidFill>
                <a:latin typeface="Arial" pitchFamily="34" charset="0"/>
                <a:ea typeface="Arial" pitchFamily="34" charset="-122"/>
                <a:cs typeface="Arial" pitchFamily="34" charset="-120"/>
              </a:rPr>
              <a:t>Manufacturing Workflow</a:t>
            </a:r>
            <a:endParaRPr lang="en-US" sz="1300" dirty="0"/>
          </a:p>
        </p:txBody>
      </p:sp>
      <p:pic>
        <p:nvPicPr>
          <p:cNvPr id="24" name="Image 0"/>
          <p:cNvPicPr>
            <a:picLocks noChangeAspect="1"/>
          </p:cNvPicPr>
          <p:nvPr/>
        </p:nvPicPr>
        <p:blipFill>
          <a:blip r:embed="rId3"/>
          <a:srcRect/>
          <a:stretch/>
        </p:blipFill>
        <p:spPr>
          <a:xfrm>
            <a:off x="4530362" y="1261382"/>
            <a:ext cx="4114800" cy="329690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Real-World Manufacturing Challenges</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PROBLEM STATEMENTS</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5</a:t>
            </a:r>
            <a:endParaRPr lang="en-US" sz="700" dirty="0"/>
          </a:p>
        </p:txBody>
      </p:sp>
      <p:sp>
        <p:nvSpPr>
          <p:cNvPr id="8" name="Shape 6"/>
          <p:cNvSpPr/>
          <p:nvPr/>
        </p:nvSpPr>
        <p:spPr>
          <a:xfrm>
            <a:off x="365760" y="868680"/>
            <a:ext cx="4114800" cy="1828800"/>
          </a:xfrm>
          <a:prstGeom prst="roundRect">
            <a:avLst>
              <a:gd name="adj" fmla="val 3000"/>
            </a:avLst>
          </a:prstGeom>
          <a:solidFill>
            <a:srgbClr val="FFFFFF"/>
          </a:solidFill>
          <a:ln w="9525">
            <a:solidFill>
              <a:srgbClr val="E2E8F0"/>
            </a:solidFill>
            <a:prstDash val="solid"/>
          </a:ln>
        </p:spPr>
      </p:sp>
      <p:sp>
        <p:nvSpPr>
          <p:cNvPr id="9" name="Shape 7"/>
          <p:cNvSpPr/>
          <p:nvPr/>
        </p:nvSpPr>
        <p:spPr>
          <a:xfrm>
            <a:off x="475488" y="960120"/>
            <a:ext cx="3895344" cy="36576"/>
          </a:xfrm>
          <a:prstGeom prst="rect">
            <a:avLst/>
          </a:prstGeom>
          <a:solidFill>
            <a:srgbClr val="EF4444"/>
          </a:solidFill>
          <a:ln w="12700">
            <a:solidFill>
              <a:srgbClr val="EF4444"/>
            </a:solidFill>
            <a:prstDash val="solid"/>
          </a:ln>
        </p:spPr>
      </p:sp>
      <p:sp>
        <p:nvSpPr>
          <p:cNvPr id="10" name="Text 8"/>
          <p:cNvSpPr/>
          <p:nvPr/>
        </p:nvSpPr>
        <p:spPr>
          <a:xfrm>
            <a:off x="502920" y="1069848"/>
            <a:ext cx="3840480" cy="274320"/>
          </a:xfrm>
          <a:prstGeom prst="rect">
            <a:avLst/>
          </a:prstGeom>
          <a:noFill/>
          <a:ln/>
        </p:spPr>
        <p:txBody>
          <a:bodyPr wrap="square" rtlCol="0" anchor="ctr"/>
          <a:lstStyle/>
          <a:p>
            <a:pPr marL="0" indent="0">
              <a:buNone/>
            </a:pPr>
            <a:r>
              <a:rPr lang="en-US" sz="1400" b="1" dirty="0">
                <a:solidFill>
                  <a:srgbClr val="0B1D35"/>
                </a:solidFill>
                <a:latin typeface="Arial" pitchFamily="34" charset="0"/>
                <a:ea typeface="Arial" pitchFamily="34" charset="-122"/>
                <a:cs typeface="Arial" pitchFamily="34" charset="-120"/>
              </a:rPr>
              <a:t>Unplanned Downtime</a:t>
            </a:r>
            <a:endParaRPr lang="en-US" sz="1400" dirty="0"/>
          </a:p>
        </p:txBody>
      </p:sp>
      <p:sp>
        <p:nvSpPr>
          <p:cNvPr id="11" name="Text 9"/>
          <p:cNvSpPr/>
          <p:nvPr/>
        </p:nvSpPr>
        <p:spPr>
          <a:xfrm>
            <a:off x="502920" y="1344168"/>
            <a:ext cx="3840480" cy="164592"/>
          </a:xfrm>
          <a:prstGeom prst="rect">
            <a:avLst/>
          </a:prstGeom>
          <a:noFill/>
          <a:ln/>
        </p:spPr>
        <p:txBody>
          <a:bodyPr wrap="square" rtlCol="0" anchor="ctr"/>
          <a:lstStyle/>
          <a:p>
            <a:pPr marL="0" indent="0">
              <a:buNone/>
            </a:pPr>
            <a:r>
              <a:rPr lang="en-US" sz="750" b="1" dirty="0">
                <a:solidFill>
                  <a:srgbClr val="EF4444"/>
                </a:solidFill>
                <a:latin typeface="Arial" pitchFamily="34" charset="0"/>
                <a:ea typeface="Arial" pitchFamily="34" charset="-122"/>
                <a:cs typeface="Arial" pitchFamily="34" charset="-120"/>
              </a:rPr>
              <a:t>ASSEMBLY LINE</a:t>
            </a:r>
            <a:endParaRPr lang="en-US" sz="750" dirty="0"/>
          </a:p>
        </p:txBody>
      </p:sp>
      <p:sp>
        <p:nvSpPr>
          <p:cNvPr id="12" name="Text 10"/>
          <p:cNvSpPr/>
          <p:nvPr/>
        </p:nvSpPr>
        <p:spPr>
          <a:xfrm>
            <a:off x="502920" y="1581912"/>
            <a:ext cx="3840480" cy="960120"/>
          </a:xfrm>
          <a:prstGeom prst="rect">
            <a:avLst/>
          </a:prstGeom>
          <a:noFill/>
          <a:ln/>
        </p:spPr>
        <p:txBody>
          <a:bodyPr wrap="square" rtlCol="0" anchor="ctr"/>
          <a:lstStyle/>
          <a:p>
            <a:pPr marL="0" indent="0">
              <a:lnSpc>
                <a:spcPts val="1200"/>
              </a:lnSpc>
              <a:buNone/>
            </a:pPr>
            <a:r>
              <a:rPr lang="en-US" sz="950" dirty="0">
                <a:solidFill>
                  <a:srgbClr val="2D3748"/>
                </a:solidFill>
                <a:latin typeface="Arial" pitchFamily="34" charset="0"/>
                <a:ea typeface="Arial" pitchFamily="34" charset="-122"/>
                <a:cs typeface="Arial" pitchFamily="34" charset="-120"/>
              </a:rPr>
              <a:t>Motor breakdowns halt entire production lines, reducing daily output volumes and increasing maintenance costs.</a:t>
            </a:r>
            <a:endParaRPr lang="en-US" sz="950" dirty="0"/>
          </a:p>
        </p:txBody>
      </p:sp>
      <p:sp>
        <p:nvSpPr>
          <p:cNvPr id="13" name="Shape 11"/>
          <p:cNvSpPr/>
          <p:nvPr/>
        </p:nvSpPr>
        <p:spPr>
          <a:xfrm>
            <a:off x="4572000" y="868680"/>
            <a:ext cx="4114800" cy="1828800"/>
          </a:xfrm>
          <a:prstGeom prst="roundRect">
            <a:avLst>
              <a:gd name="adj" fmla="val 3000"/>
            </a:avLst>
          </a:prstGeom>
          <a:solidFill>
            <a:srgbClr val="FFFFFF"/>
          </a:solidFill>
          <a:ln w="9525">
            <a:solidFill>
              <a:srgbClr val="E2E8F0"/>
            </a:solidFill>
            <a:prstDash val="solid"/>
          </a:ln>
        </p:spPr>
      </p:sp>
      <p:sp>
        <p:nvSpPr>
          <p:cNvPr id="14" name="Shape 12"/>
          <p:cNvSpPr/>
          <p:nvPr/>
        </p:nvSpPr>
        <p:spPr>
          <a:xfrm>
            <a:off x="4681728" y="960120"/>
            <a:ext cx="3895344" cy="36576"/>
          </a:xfrm>
          <a:prstGeom prst="rect">
            <a:avLst/>
          </a:prstGeom>
          <a:solidFill>
            <a:srgbClr val="F58220"/>
          </a:solidFill>
          <a:ln w="12700">
            <a:solidFill>
              <a:srgbClr val="F58220"/>
            </a:solidFill>
            <a:prstDash val="solid"/>
          </a:ln>
        </p:spPr>
      </p:sp>
      <p:sp>
        <p:nvSpPr>
          <p:cNvPr id="15" name="Text 13"/>
          <p:cNvSpPr/>
          <p:nvPr/>
        </p:nvSpPr>
        <p:spPr>
          <a:xfrm>
            <a:off x="4709160" y="1069848"/>
            <a:ext cx="3840480" cy="274320"/>
          </a:xfrm>
          <a:prstGeom prst="rect">
            <a:avLst/>
          </a:prstGeom>
          <a:noFill/>
          <a:ln/>
        </p:spPr>
        <p:txBody>
          <a:bodyPr wrap="square" rtlCol="0" anchor="ctr"/>
          <a:lstStyle/>
          <a:p>
            <a:pPr marL="0" indent="0">
              <a:buNone/>
            </a:pPr>
            <a:r>
              <a:rPr lang="en-US" sz="1400" b="1" dirty="0">
                <a:solidFill>
                  <a:srgbClr val="0B1D35"/>
                </a:solidFill>
                <a:latin typeface="Arial" pitchFamily="34" charset="0"/>
                <a:ea typeface="Arial" pitchFamily="34" charset="-122"/>
                <a:cs typeface="Arial" pitchFamily="34" charset="-120"/>
              </a:rPr>
              <a:t>Logistics Delays</a:t>
            </a:r>
            <a:endParaRPr lang="en-US" sz="1400" dirty="0"/>
          </a:p>
        </p:txBody>
      </p:sp>
      <p:sp>
        <p:nvSpPr>
          <p:cNvPr id="16" name="Text 14"/>
          <p:cNvSpPr/>
          <p:nvPr/>
        </p:nvSpPr>
        <p:spPr>
          <a:xfrm>
            <a:off x="4709160" y="1344168"/>
            <a:ext cx="3840480" cy="164592"/>
          </a:xfrm>
          <a:prstGeom prst="rect">
            <a:avLst/>
          </a:prstGeom>
          <a:noFill/>
          <a:ln/>
        </p:spPr>
        <p:txBody>
          <a:bodyPr wrap="square" rtlCol="0" anchor="ctr"/>
          <a:lstStyle/>
          <a:p>
            <a:pPr marL="0" indent="0">
              <a:buNone/>
            </a:pPr>
            <a:r>
              <a:rPr lang="en-US" sz="750" b="1" dirty="0">
                <a:solidFill>
                  <a:srgbClr val="F58220"/>
                </a:solidFill>
                <a:latin typeface="Arial" pitchFamily="34" charset="0"/>
                <a:ea typeface="Arial" pitchFamily="34" charset="-122"/>
                <a:cs typeface="Arial" pitchFamily="34" charset="-120"/>
              </a:rPr>
              <a:t>EXTERNAL LOGISTICS</a:t>
            </a:r>
            <a:endParaRPr lang="en-US" sz="750" dirty="0"/>
          </a:p>
        </p:txBody>
      </p:sp>
      <p:sp>
        <p:nvSpPr>
          <p:cNvPr id="17" name="Text 15"/>
          <p:cNvSpPr/>
          <p:nvPr/>
        </p:nvSpPr>
        <p:spPr>
          <a:xfrm>
            <a:off x="4709160" y="1581912"/>
            <a:ext cx="3840480" cy="960120"/>
          </a:xfrm>
          <a:prstGeom prst="rect">
            <a:avLst/>
          </a:prstGeom>
          <a:noFill/>
          <a:ln/>
        </p:spPr>
        <p:txBody>
          <a:bodyPr wrap="square" rtlCol="0" anchor="ctr"/>
          <a:lstStyle/>
          <a:p>
            <a:pPr marL="0" indent="0">
              <a:lnSpc>
                <a:spcPts val="1200"/>
              </a:lnSpc>
              <a:buNone/>
            </a:pPr>
            <a:r>
              <a:rPr lang="en-US" sz="950" dirty="0">
                <a:solidFill>
                  <a:srgbClr val="2D3748"/>
                </a:solidFill>
                <a:latin typeface="Arial" pitchFamily="34" charset="0"/>
                <a:ea typeface="Arial" pitchFamily="34" charset="-122"/>
                <a:cs typeface="Arial" pitchFamily="34" charset="-120"/>
              </a:rPr>
              <a:t>Domestic shipments average 118 days transit — longer than international routes — impacting dealer satisfaction.</a:t>
            </a:r>
            <a:endParaRPr lang="en-US" sz="950" dirty="0"/>
          </a:p>
        </p:txBody>
      </p:sp>
      <p:sp>
        <p:nvSpPr>
          <p:cNvPr id="18" name="Shape 16"/>
          <p:cNvSpPr/>
          <p:nvPr/>
        </p:nvSpPr>
        <p:spPr>
          <a:xfrm>
            <a:off x="365760" y="2880360"/>
            <a:ext cx="4114800" cy="1828800"/>
          </a:xfrm>
          <a:prstGeom prst="roundRect">
            <a:avLst>
              <a:gd name="adj" fmla="val 3000"/>
            </a:avLst>
          </a:prstGeom>
          <a:solidFill>
            <a:srgbClr val="FFFFFF"/>
          </a:solidFill>
          <a:ln w="9525">
            <a:solidFill>
              <a:srgbClr val="E2E8F0"/>
            </a:solidFill>
            <a:prstDash val="solid"/>
          </a:ln>
        </p:spPr>
      </p:sp>
      <p:sp>
        <p:nvSpPr>
          <p:cNvPr id="19" name="Shape 17"/>
          <p:cNvSpPr/>
          <p:nvPr/>
        </p:nvSpPr>
        <p:spPr>
          <a:xfrm>
            <a:off x="475488" y="2971800"/>
            <a:ext cx="3895344" cy="36576"/>
          </a:xfrm>
          <a:prstGeom prst="rect">
            <a:avLst/>
          </a:prstGeom>
          <a:solidFill>
            <a:srgbClr val="2D3748"/>
          </a:solidFill>
          <a:ln w="12700">
            <a:solidFill>
              <a:srgbClr val="2D3748"/>
            </a:solidFill>
            <a:prstDash val="solid"/>
          </a:ln>
        </p:spPr>
      </p:sp>
      <p:sp>
        <p:nvSpPr>
          <p:cNvPr id="20" name="Text 18"/>
          <p:cNvSpPr/>
          <p:nvPr/>
        </p:nvSpPr>
        <p:spPr>
          <a:xfrm>
            <a:off x="502920" y="3081528"/>
            <a:ext cx="3840480" cy="274320"/>
          </a:xfrm>
          <a:prstGeom prst="rect">
            <a:avLst/>
          </a:prstGeom>
          <a:noFill/>
          <a:ln/>
        </p:spPr>
        <p:txBody>
          <a:bodyPr wrap="square" rtlCol="0" anchor="ctr"/>
          <a:lstStyle/>
          <a:p>
            <a:pPr marL="0" indent="0">
              <a:buNone/>
            </a:pPr>
            <a:r>
              <a:rPr lang="en-US" sz="1400" b="1" dirty="0">
                <a:solidFill>
                  <a:srgbClr val="0B1D35"/>
                </a:solidFill>
                <a:latin typeface="Arial" pitchFamily="34" charset="0"/>
                <a:ea typeface="Arial" pitchFamily="34" charset="-122"/>
                <a:cs typeface="Arial" pitchFamily="34" charset="-120"/>
              </a:rPr>
              <a:t>Inventory Holding Costs</a:t>
            </a:r>
            <a:endParaRPr lang="en-US" sz="1400" dirty="0"/>
          </a:p>
        </p:txBody>
      </p:sp>
      <p:sp>
        <p:nvSpPr>
          <p:cNvPr id="21" name="Text 19"/>
          <p:cNvSpPr/>
          <p:nvPr/>
        </p:nvSpPr>
        <p:spPr>
          <a:xfrm>
            <a:off x="502920" y="3355848"/>
            <a:ext cx="3840480" cy="164592"/>
          </a:xfrm>
          <a:prstGeom prst="rect">
            <a:avLst/>
          </a:prstGeom>
          <a:noFill/>
          <a:ln/>
        </p:spPr>
        <p:txBody>
          <a:bodyPr wrap="square" rtlCol="0" anchor="ctr"/>
          <a:lstStyle/>
          <a:p>
            <a:pPr marL="0" indent="0">
              <a:buNone/>
            </a:pPr>
            <a:r>
              <a:rPr lang="en-US" sz="750" b="1" dirty="0">
                <a:solidFill>
                  <a:srgbClr val="2D3748"/>
                </a:solidFill>
                <a:latin typeface="Arial" pitchFamily="34" charset="0"/>
                <a:ea typeface="Arial" pitchFamily="34" charset="-122"/>
                <a:cs typeface="Arial" pitchFamily="34" charset="-120"/>
              </a:rPr>
              <a:t>WAREHOUSE OPS</a:t>
            </a:r>
            <a:endParaRPr lang="en-US" sz="750" dirty="0"/>
          </a:p>
        </p:txBody>
      </p:sp>
      <p:sp>
        <p:nvSpPr>
          <p:cNvPr id="22" name="Text 20"/>
          <p:cNvSpPr/>
          <p:nvPr/>
        </p:nvSpPr>
        <p:spPr>
          <a:xfrm>
            <a:off x="502920" y="3593592"/>
            <a:ext cx="3840480" cy="960120"/>
          </a:xfrm>
          <a:prstGeom prst="rect">
            <a:avLst/>
          </a:prstGeom>
          <a:noFill/>
          <a:ln/>
        </p:spPr>
        <p:txBody>
          <a:bodyPr wrap="square" rtlCol="0" anchor="ctr"/>
          <a:lstStyle/>
          <a:p>
            <a:pPr marL="0" indent="0">
              <a:lnSpc>
                <a:spcPts val="1200"/>
              </a:lnSpc>
              <a:buNone/>
            </a:pPr>
            <a:r>
              <a:rPr lang="en-US" sz="950" dirty="0">
                <a:solidFill>
                  <a:srgbClr val="2D3748"/>
                </a:solidFill>
                <a:latin typeface="Arial" pitchFamily="34" charset="0"/>
                <a:ea typeface="Arial" pitchFamily="34" charset="-122"/>
                <a:cs typeface="Arial" pitchFamily="34" charset="-120"/>
              </a:rPr>
              <a:t>Over-stocking ties up working capital while under-stocking causes idle shifts and production stoppages.</a:t>
            </a:r>
            <a:endParaRPr lang="en-US" sz="950" dirty="0"/>
          </a:p>
        </p:txBody>
      </p:sp>
      <p:sp>
        <p:nvSpPr>
          <p:cNvPr id="23" name="Shape 21"/>
          <p:cNvSpPr/>
          <p:nvPr/>
        </p:nvSpPr>
        <p:spPr>
          <a:xfrm>
            <a:off x="4572000" y="2880360"/>
            <a:ext cx="4114800" cy="1828800"/>
          </a:xfrm>
          <a:prstGeom prst="roundRect">
            <a:avLst>
              <a:gd name="adj" fmla="val 3000"/>
            </a:avLst>
          </a:prstGeom>
          <a:solidFill>
            <a:srgbClr val="FFFFFF"/>
          </a:solidFill>
          <a:ln w="9525">
            <a:solidFill>
              <a:srgbClr val="E2E8F0"/>
            </a:solidFill>
            <a:prstDash val="solid"/>
          </a:ln>
        </p:spPr>
      </p:sp>
      <p:sp>
        <p:nvSpPr>
          <p:cNvPr id="24" name="Shape 22"/>
          <p:cNvSpPr/>
          <p:nvPr/>
        </p:nvSpPr>
        <p:spPr>
          <a:xfrm>
            <a:off x="4681728" y="2971800"/>
            <a:ext cx="3895344" cy="36576"/>
          </a:xfrm>
          <a:prstGeom prst="rect">
            <a:avLst/>
          </a:prstGeom>
          <a:solidFill>
            <a:srgbClr val="EF4444"/>
          </a:solidFill>
          <a:ln w="12700">
            <a:solidFill>
              <a:srgbClr val="EF4444"/>
            </a:solidFill>
            <a:prstDash val="solid"/>
          </a:ln>
        </p:spPr>
      </p:sp>
      <p:sp>
        <p:nvSpPr>
          <p:cNvPr id="25" name="Text 23"/>
          <p:cNvSpPr/>
          <p:nvPr/>
        </p:nvSpPr>
        <p:spPr>
          <a:xfrm>
            <a:off x="4709160" y="3081528"/>
            <a:ext cx="3840480" cy="274320"/>
          </a:xfrm>
          <a:prstGeom prst="rect">
            <a:avLst/>
          </a:prstGeom>
          <a:noFill/>
          <a:ln/>
        </p:spPr>
        <p:txBody>
          <a:bodyPr wrap="square" rtlCol="0" anchor="ctr"/>
          <a:lstStyle/>
          <a:p>
            <a:pPr marL="0" indent="0">
              <a:buNone/>
            </a:pPr>
            <a:r>
              <a:rPr lang="en-US" sz="1400" b="1" dirty="0">
                <a:solidFill>
                  <a:srgbClr val="0B1D35"/>
                </a:solidFill>
                <a:latin typeface="Arial" pitchFamily="34" charset="0"/>
                <a:ea typeface="Arial" pitchFamily="34" charset="-122"/>
                <a:cs typeface="Arial" pitchFamily="34" charset="-120"/>
              </a:rPr>
              <a:t>Quality Escape Defects</a:t>
            </a:r>
            <a:endParaRPr lang="en-US" sz="1400" dirty="0"/>
          </a:p>
        </p:txBody>
      </p:sp>
      <p:sp>
        <p:nvSpPr>
          <p:cNvPr id="26" name="Text 24"/>
          <p:cNvSpPr/>
          <p:nvPr/>
        </p:nvSpPr>
        <p:spPr>
          <a:xfrm>
            <a:off x="4709160" y="3355848"/>
            <a:ext cx="3840480" cy="164592"/>
          </a:xfrm>
          <a:prstGeom prst="rect">
            <a:avLst/>
          </a:prstGeom>
          <a:noFill/>
          <a:ln/>
        </p:spPr>
        <p:txBody>
          <a:bodyPr wrap="square" rtlCol="0" anchor="ctr"/>
          <a:lstStyle/>
          <a:p>
            <a:pPr marL="0" indent="0">
              <a:buNone/>
            </a:pPr>
            <a:r>
              <a:rPr lang="en-US" sz="750" b="1" dirty="0">
                <a:solidFill>
                  <a:srgbClr val="EF4444"/>
                </a:solidFill>
                <a:latin typeface="Arial" pitchFamily="34" charset="0"/>
                <a:ea typeface="Arial" pitchFamily="34" charset="-122"/>
                <a:cs typeface="Arial" pitchFamily="34" charset="-120"/>
              </a:rPr>
              <a:t>QUALITY ASSURANCE</a:t>
            </a:r>
            <a:endParaRPr lang="en-US" sz="750" dirty="0"/>
          </a:p>
        </p:txBody>
      </p:sp>
      <p:sp>
        <p:nvSpPr>
          <p:cNvPr id="27" name="Text 25"/>
          <p:cNvSpPr/>
          <p:nvPr/>
        </p:nvSpPr>
        <p:spPr>
          <a:xfrm>
            <a:off x="4709160" y="3593592"/>
            <a:ext cx="3840480" cy="960120"/>
          </a:xfrm>
          <a:prstGeom prst="rect">
            <a:avLst/>
          </a:prstGeom>
          <a:noFill/>
          <a:ln/>
        </p:spPr>
        <p:txBody>
          <a:bodyPr wrap="square" rtlCol="0" anchor="ctr"/>
          <a:lstStyle/>
          <a:p>
            <a:pPr marL="0" indent="0">
              <a:lnSpc>
                <a:spcPts val="1200"/>
              </a:lnSpc>
              <a:buNone/>
            </a:pPr>
            <a:r>
              <a:rPr lang="en-US" sz="950" dirty="0">
                <a:solidFill>
                  <a:srgbClr val="2D3748"/>
                </a:solidFill>
                <a:latin typeface="Arial" pitchFamily="34" charset="0"/>
                <a:ea typeface="Arial" pitchFamily="34" charset="-122"/>
                <a:cs typeface="Arial" pitchFamily="34" charset="-120"/>
              </a:rPr>
              <a:t>Human visual inspectors miss micro-defects in cast components, leading to warranty returns and field rework.</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300"/>
                                        <p:tgtEl>
                                          <p:spTgt spid="8"/>
                                        </p:tgtEl>
                                      </p:cBhvr>
                                    </p:animEffect>
                                  </p:childTnLst>
                                </p:cTn>
                              </p:par>
                              <p:par>
                                <p:cTn id="8" presetID="22" presetClass="entr" presetSubtype="8"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300"/>
                                        <p:tgtEl>
                                          <p:spTgt spid="13"/>
                                        </p:tgtEl>
                                      </p:cBhvr>
                                    </p:animEffect>
                                  </p:childTnLst>
                                </p:cTn>
                              </p:par>
                              <p:par>
                                <p:cTn id="11" presetID="22" presetClass="entr" presetSubtype="8"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left)">
                                      <p:cBhvr>
                                        <p:cTn id="13" dur="300"/>
                                        <p:tgtEl>
                                          <p:spTgt spid="18"/>
                                        </p:tgtEl>
                                      </p:cBhvr>
                                    </p:animEffect>
                                  </p:childTnLst>
                                </p:cTn>
                              </p:par>
                              <p:par>
                                <p:cTn id="14" presetID="22" presetClass="entr" presetSubtype="8"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3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Strategic Remediation System</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SOLUTIONS ARCHITECTURE</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6</a:t>
            </a:r>
            <a:endParaRPr lang="en-US" sz="700" dirty="0"/>
          </a:p>
        </p:txBody>
      </p:sp>
      <p:sp>
        <p:nvSpPr>
          <p:cNvPr id="8" name="Shape 6"/>
          <p:cNvSpPr/>
          <p:nvPr/>
        </p:nvSpPr>
        <p:spPr>
          <a:xfrm>
            <a:off x="365760" y="868680"/>
            <a:ext cx="2697480" cy="1828800"/>
          </a:xfrm>
          <a:prstGeom prst="roundRect">
            <a:avLst>
              <a:gd name="adj" fmla="val 3000"/>
            </a:avLst>
          </a:prstGeom>
          <a:solidFill>
            <a:srgbClr val="FFFFFF"/>
          </a:solidFill>
          <a:ln w="9525">
            <a:solidFill>
              <a:srgbClr val="E2E8F0"/>
            </a:solidFill>
            <a:prstDash val="solid"/>
          </a:ln>
        </p:spPr>
      </p:sp>
      <p:sp>
        <p:nvSpPr>
          <p:cNvPr id="9" name="Shape 7"/>
          <p:cNvSpPr/>
          <p:nvPr/>
        </p:nvSpPr>
        <p:spPr>
          <a:xfrm>
            <a:off x="457200" y="941832"/>
            <a:ext cx="2514600" cy="36576"/>
          </a:xfrm>
          <a:prstGeom prst="rect">
            <a:avLst/>
          </a:prstGeom>
          <a:solidFill>
            <a:srgbClr val="10B981"/>
          </a:solidFill>
          <a:ln w="12700">
            <a:solidFill>
              <a:srgbClr val="10B981"/>
            </a:solidFill>
            <a:prstDash val="solid"/>
          </a:ln>
        </p:spPr>
      </p:sp>
      <p:sp>
        <p:nvSpPr>
          <p:cNvPr id="10" name="Text 8"/>
          <p:cNvSpPr/>
          <p:nvPr/>
        </p:nvSpPr>
        <p:spPr>
          <a:xfrm>
            <a:off x="475488" y="1033272"/>
            <a:ext cx="2468880" cy="164592"/>
          </a:xfrm>
          <a:prstGeom prst="rect">
            <a:avLst/>
          </a:prstGeom>
          <a:noFill/>
          <a:ln/>
        </p:spPr>
        <p:txBody>
          <a:bodyPr wrap="square" rtlCol="0" anchor="ctr"/>
          <a:lstStyle/>
          <a:p>
            <a:pPr marL="0" indent="0">
              <a:buNone/>
            </a:pPr>
            <a:r>
              <a:rPr lang="en-US" sz="700" b="1" dirty="0">
                <a:solidFill>
                  <a:srgbClr val="10B981"/>
                </a:solidFill>
                <a:latin typeface="Arial" pitchFamily="34" charset="0"/>
                <a:ea typeface="Arial" pitchFamily="34" charset="-122"/>
                <a:cs typeface="Arial" pitchFamily="34" charset="-120"/>
              </a:rPr>
              <a:t>INTERNAL</a:t>
            </a:r>
            <a:endParaRPr lang="en-US" sz="700" dirty="0"/>
          </a:p>
        </p:txBody>
      </p:sp>
      <p:sp>
        <p:nvSpPr>
          <p:cNvPr id="11" name="Text 9"/>
          <p:cNvSpPr/>
          <p:nvPr/>
        </p:nvSpPr>
        <p:spPr>
          <a:xfrm>
            <a:off x="475488" y="1234440"/>
            <a:ext cx="2468880" cy="27432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Predictive Maintenance</a:t>
            </a:r>
            <a:endParaRPr lang="en-US" sz="1200" dirty="0"/>
          </a:p>
        </p:txBody>
      </p:sp>
      <p:sp>
        <p:nvSpPr>
          <p:cNvPr id="12" name="Text 10"/>
          <p:cNvSpPr/>
          <p:nvPr/>
        </p:nvSpPr>
        <p:spPr>
          <a:xfrm>
            <a:off x="475488" y="1554480"/>
            <a:ext cx="2468880" cy="1005840"/>
          </a:xfrm>
          <a:prstGeom prst="rect">
            <a:avLst/>
          </a:prstGeom>
          <a:noFill/>
          <a:ln/>
        </p:spPr>
        <p:txBody>
          <a:bodyPr wrap="square" rtlCol="0" anchor="ctr"/>
          <a:lstStyle/>
          <a:p>
            <a:pPr marL="0" indent="0">
              <a:lnSpc>
                <a:spcPts val="1100"/>
              </a:lnSpc>
              <a:buNone/>
            </a:pPr>
            <a:r>
              <a:rPr lang="en-US" sz="900" dirty="0">
                <a:solidFill>
                  <a:srgbClr val="2D3748"/>
                </a:solidFill>
                <a:latin typeface="Arial" pitchFamily="34" charset="0"/>
                <a:ea typeface="Arial" pitchFamily="34" charset="-122"/>
                <a:cs typeface="Arial" pitchFamily="34" charset="-120"/>
              </a:rPr>
              <a:t>Vibration sensors on robot arms detect wear patterns, preventing breakdowns before they occur.</a:t>
            </a:r>
            <a:endParaRPr lang="en-US" sz="900" dirty="0"/>
          </a:p>
        </p:txBody>
      </p:sp>
      <p:sp>
        <p:nvSpPr>
          <p:cNvPr id="13" name="Shape 11"/>
          <p:cNvSpPr/>
          <p:nvPr/>
        </p:nvSpPr>
        <p:spPr>
          <a:xfrm>
            <a:off x="3246120" y="868680"/>
            <a:ext cx="2697480" cy="1828800"/>
          </a:xfrm>
          <a:prstGeom prst="roundRect">
            <a:avLst>
              <a:gd name="adj" fmla="val 3000"/>
            </a:avLst>
          </a:prstGeom>
          <a:solidFill>
            <a:srgbClr val="FFFFFF"/>
          </a:solidFill>
          <a:ln w="9525">
            <a:solidFill>
              <a:srgbClr val="E2E8F0"/>
            </a:solidFill>
            <a:prstDash val="solid"/>
          </a:ln>
        </p:spPr>
      </p:sp>
      <p:sp>
        <p:nvSpPr>
          <p:cNvPr id="14" name="Shape 12"/>
          <p:cNvSpPr/>
          <p:nvPr/>
        </p:nvSpPr>
        <p:spPr>
          <a:xfrm>
            <a:off x="3337560" y="941832"/>
            <a:ext cx="2514600" cy="36576"/>
          </a:xfrm>
          <a:prstGeom prst="rect">
            <a:avLst/>
          </a:prstGeom>
          <a:solidFill>
            <a:srgbClr val="0B1D35"/>
          </a:solidFill>
          <a:ln w="12700">
            <a:solidFill>
              <a:srgbClr val="0B1D35"/>
            </a:solidFill>
            <a:prstDash val="solid"/>
          </a:ln>
        </p:spPr>
      </p:sp>
      <p:sp>
        <p:nvSpPr>
          <p:cNvPr id="15" name="Text 13"/>
          <p:cNvSpPr/>
          <p:nvPr/>
        </p:nvSpPr>
        <p:spPr>
          <a:xfrm>
            <a:off x="3355848" y="1033272"/>
            <a:ext cx="2468880" cy="164592"/>
          </a:xfrm>
          <a:prstGeom prst="rect">
            <a:avLst/>
          </a:prstGeom>
          <a:noFill/>
          <a:ln/>
        </p:spPr>
        <p:txBody>
          <a:bodyPr wrap="square" rtlCol="0" anchor="ctr"/>
          <a:lstStyle/>
          <a:p>
            <a:pPr marL="0" indent="0">
              <a:buNone/>
            </a:pPr>
            <a:r>
              <a:rPr lang="en-US" sz="700" b="1" dirty="0">
                <a:solidFill>
                  <a:srgbClr val="0B1D35"/>
                </a:solidFill>
                <a:latin typeface="Arial" pitchFamily="34" charset="0"/>
                <a:ea typeface="Arial" pitchFamily="34" charset="-122"/>
                <a:cs typeface="Arial" pitchFamily="34" charset="-120"/>
              </a:rPr>
              <a:t>INTERNAL</a:t>
            </a:r>
            <a:endParaRPr lang="en-US" sz="700" dirty="0"/>
          </a:p>
        </p:txBody>
      </p:sp>
      <p:sp>
        <p:nvSpPr>
          <p:cNvPr id="16" name="Text 14"/>
          <p:cNvSpPr/>
          <p:nvPr/>
        </p:nvSpPr>
        <p:spPr>
          <a:xfrm>
            <a:off x="3355848" y="1234440"/>
            <a:ext cx="2468880" cy="27432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SAP IBP Integration</a:t>
            </a:r>
            <a:endParaRPr lang="en-US" sz="1200" dirty="0"/>
          </a:p>
        </p:txBody>
      </p:sp>
      <p:sp>
        <p:nvSpPr>
          <p:cNvPr id="17" name="Text 15"/>
          <p:cNvSpPr/>
          <p:nvPr/>
        </p:nvSpPr>
        <p:spPr>
          <a:xfrm>
            <a:off x="3355848" y="1554480"/>
            <a:ext cx="2468880" cy="1005840"/>
          </a:xfrm>
          <a:prstGeom prst="rect">
            <a:avLst/>
          </a:prstGeom>
          <a:noFill/>
          <a:ln/>
        </p:spPr>
        <p:txBody>
          <a:bodyPr wrap="square" rtlCol="0" anchor="ctr"/>
          <a:lstStyle/>
          <a:p>
            <a:pPr marL="0" indent="0">
              <a:lnSpc>
                <a:spcPts val="1100"/>
              </a:lnSpc>
              <a:buNone/>
            </a:pPr>
            <a:r>
              <a:rPr lang="en-US" sz="900" dirty="0">
                <a:solidFill>
                  <a:srgbClr val="2D3748"/>
                </a:solidFill>
                <a:latin typeface="Arial" pitchFamily="34" charset="0"/>
                <a:ea typeface="Arial" pitchFamily="34" charset="-122"/>
                <a:cs typeface="Arial" pitchFamily="34" charset="-120"/>
              </a:rPr>
              <a:t>Dealer demand forecasts synced with supplier schedules for just-in-time logistics.</a:t>
            </a:r>
            <a:endParaRPr lang="en-US" sz="900" dirty="0"/>
          </a:p>
        </p:txBody>
      </p:sp>
      <p:sp>
        <p:nvSpPr>
          <p:cNvPr id="18" name="Shape 16"/>
          <p:cNvSpPr/>
          <p:nvPr/>
        </p:nvSpPr>
        <p:spPr>
          <a:xfrm>
            <a:off x="6126480" y="868680"/>
            <a:ext cx="2697480" cy="1828800"/>
          </a:xfrm>
          <a:prstGeom prst="roundRect">
            <a:avLst>
              <a:gd name="adj" fmla="val 3000"/>
            </a:avLst>
          </a:prstGeom>
          <a:solidFill>
            <a:srgbClr val="FFFFFF"/>
          </a:solidFill>
          <a:ln w="9525">
            <a:solidFill>
              <a:srgbClr val="E2E8F0"/>
            </a:solidFill>
            <a:prstDash val="solid"/>
          </a:ln>
        </p:spPr>
      </p:sp>
      <p:sp>
        <p:nvSpPr>
          <p:cNvPr id="19" name="Shape 17"/>
          <p:cNvSpPr/>
          <p:nvPr/>
        </p:nvSpPr>
        <p:spPr>
          <a:xfrm>
            <a:off x="6217920" y="941832"/>
            <a:ext cx="2514600" cy="36576"/>
          </a:xfrm>
          <a:prstGeom prst="rect">
            <a:avLst/>
          </a:prstGeom>
          <a:solidFill>
            <a:srgbClr val="3EA6FF"/>
          </a:solidFill>
          <a:ln w="12700">
            <a:solidFill>
              <a:srgbClr val="3EA6FF"/>
            </a:solidFill>
            <a:prstDash val="solid"/>
          </a:ln>
        </p:spPr>
      </p:sp>
      <p:sp>
        <p:nvSpPr>
          <p:cNvPr id="20" name="Text 18"/>
          <p:cNvSpPr/>
          <p:nvPr/>
        </p:nvSpPr>
        <p:spPr>
          <a:xfrm>
            <a:off x="6236208" y="1033272"/>
            <a:ext cx="2468880" cy="164592"/>
          </a:xfrm>
          <a:prstGeom prst="rect">
            <a:avLst/>
          </a:prstGeom>
          <a:noFill/>
          <a:ln/>
        </p:spPr>
        <p:txBody>
          <a:bodyPr wrap="square" rtlCol="0" anchor="ctr"/>
          <a:lstStyle/>
          <a:p>
            <a:pPr marL="0" indent="0">
              <a:buNone/>
            </a:pPr>
            <a:r>
              <a:rPr lang="en-US" sz="700" b="1" dirty="0">
                <a:solidFill>
                  <a:srgbClr val="3EA6FF"/>
                </a:solidFill>
                <a:latin typeface="Arial" pitchFamily="34" charset="0"/>
                <a:ea typeface="Arial" pitchFamily="34" charset="-122"/>
                <a:cs typeface="Arial" pitchFamily="34" charset="-120"/>
              </a:rPr>
              <a:t>INTERNAL</a:t>
            </a:r>
            <a:endParaRPr lang="en-US" sz="700" dirty="0"/>
          </a:p>
        </p:txBody>
      </p:sp>
      <p:sp>
        <p:nvSpPr>
          <p:cNvPr id="21" name="Text 19"/>
          <p:cNvSpPr/>
          <p:nvPr/>
        </p:nvSpPr>
        <p:spPr>
          <a:xfrm>
            <a:off x="6236208" y="1234440"/>
            <a:ext cx="2468880" cy="27432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AI Vision Quality</a:t>
            </a:r>
            <a:endParaRPr lang="en-US" sz="1200" dirty="0"/>
          </a:p>
        </p:txBody>
      </p:sp>
      <p:sp>
        <p:nvSpPr>
          <p:cNvPr id="22" name="Text 20"/>
          <p:cNvSpPr/>
          <p:nvPr/>
        </p:nvSpPr>
        <p:spPr>
          <a:xfrm>
            <a:off x="6236208" y="1554480"/>
            <a:ext cx="2468880" cy="1005840"/>
          </a:xfrm>
          <a:prstGeom prst="rect">
            <a:avLst/>
          </a:prstGeom>
          <a:noFill/>
          <a:ln/>
        </p:spPr>
        <p:txBody>
          <a:bodyPr wrap="square" rtlCol="0" anchor="ctr"/>
          <a:lstStyle/>
          <a:p>
            <a:pPr marL="0" indent="0">
              <a:lnSpc>
                <a:spcPts val="1100"/>
              </a:lnSpc>
              <a:buNone/>
            </a:pPr>
            <a:r>
              <a:rPr lang="en-US" sz="900" dirty="0">
                <a:solidFill>
                  <a:srgbClr val="2D3748"/>
                </a:solidFill>
                <a:latin typeface="Arial" pitchFamily="34" charset="0"/>
                <a:ea typeface="Arial" pitchFamily="34" charset="-122"/>
                <a:cs typeface="Arial" pitchFamily="34" charset="-120"/>
              </a:rPr>
              <a:t>Computer vision inspects castings at assembly speed, cutting human inspection errors.</a:t>
            </a:r>
            <a:endParaRPr lang="en-US" sz="900" dirty="0"/>
          </a:p>
        </p:txBody>
      </p:sp>
      <p:sp>
        <p:nvSpPr>
          <p:cNvPr id="23" name="Shape 21"/>
          <p:cNvSpPr/>
          <p:nvPr/>
        </p:nvSpPr>
        <p:spPr>
          <a:xfrm>
            <a:off x="365760" y="2880360"/>
            <a:ext cx="2697480" cy="1828800"/>
          </a:xfrm>
          <a:prstGeom prst="roundRect">
            <a:avLst>
              <a:gd name="adj" fmla="val 3000"/>
            </a:avLst>
          </a:prstGeom>
          <a:solidFill>
            <a:srgbClr val="FFFFFF"/>
          </a:solidFill>
          <a:ln w="9525">
            <a:solidFill>
              <a:srgbClr val="E2E8F0"/>
            </a:solidFill>
            <a:prstDash val="solid"/>
          </a:ln>
        </p:spPr>
      </p:sp>
      <p:sp>
        <p:nvSpPr>
          <p:cNvPr id="24" name="Shape 22"/>
          <p:cNvSpPr/>
          <p:nvPr/>
        </p:nvSpPr>
        <p:spPr>
          <a:xfrm>
            <a:off x="457200" y="2953512"/>
            <a:ext cx="2514600" cy="36576"/>
          </a:xfrm>
          <a:prstGeom prst="rect">
            <a:avLst/>
          </a:prstGeom>
          <a:solidFill>
            <a:srgbClr val="F58220"/>
          </a:solidFill>
          <a:ln w="12700">
            <a:solidFill>
              <a:srgbClr val="F58220"/>
            </a:solidFill>
            <a:prstDash val="solid"/>
          </a:ln>
        </p:spPr>
      </p:sp>
      <p:sp>
        <p:nvSpPr>
          <p:cNvPr id="25" name="Text 23"/>
          <p:cNvSpPr/>
          <p:nvPr/>
        </p:nvSpPr>
        <p:spPr>
          <a:xfrm>
            <a:off x="475488" y="3044952"/>
            <a:ext cx="2468880" cy="164592"/>
          </a:xfrm>
          <a:prstGeom prst="rect">
            <a:avLst/>
          </a:prstGeom>
          <a:noFill/>
          <a:ln/>
        </p:spPr>
        <p:txBody>
          <a:bodyPr wrap="square" rtlCol="0" anchor="ctr"/>
          <a:lstStyle/>
          <a:p>
            <a:pPr marL="0" indent="0">
              <a:buNone/>
            </a:pPr>
            <a:r>
              <a:rPr lang="en-US" sz="700" b="1" dirty="0">
                <a:solidFill>
                  <a:srgbClr val="F58220"/>
                </a:solidFill>
                <a:latin typeface="Arial" pitchFamily="34" charset="0"/>
                <a:ea typeface="Arial" pitchFamily="34" charset="-122"/>
                <a:cs typeface="Arial" pitchFamily="34" charset="-120"/>
              </a:rPr>
              <a:t>EXTERNAL</a:t>
            </a:r>
            <a:endParaRPr lang="en-US" sz="700" dirty="0"/>
          </a:p>
        </p:txBody>
      </p:sp>
      <p:sp>
        <p:nvSpPr>
          <p:cNvPr id="26" name="Text 24"/>
          <p:cNvSpPr/>
          <p:nvPr/>
        </p:nvSpPr>
        <p:spPr>
          <a:xfrm>
            <a:off x="475488" y="3246120"/>
            <a:ext cx="2468880" cy="27432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Battery Localization</a:t>
            </a:r>
            <a:endParaRPr lang="en-US" sz="1200" dirty="0"/>
          </a:p>
        </p:txBody>
      </p:sp>
      <p:sp>
        <p:nvSpPr>
          <p:cNvPr id="27" name="Text 25"/>
          <p:cNvSpPr/>
          <p:nvPr/>
        </p:nvSpPr>
        <p:spPr>
          <a:xfrm>
            <a:off x="475488" y="3566160"/>
            <a:ext cx="2468880" cy="1005840"/>
          </a:xfrm>
          <a:prstGeom prst="rect">
            <a:avLst/>
          </a:prstGeom>
          <a:noFill/>
          <a:ln/>
        </p:spPr>
        <p:txBody>
          <a:bodyPr wrap="square" rtlCol="0" anchor="ctr"/>
          <a:lstStyle/>
          <a:p>
            <a:pPr marL="0" indent="0">
              <a:lnSpc>
                <a:spcPts val="1100"/>
              </a:lnSpc>
              <a:buNone/>
            </a:pPr>
            <a:r>
              <a:rPr lang="en-US" sz="900" dirty="0">
                <a:solidFill>
                  <a:srgbClr val="2D3748"/>
                </a:solidFill>
                <a:latin typeface="Arial" pitchFamily="34" charset="0"/>
                <a:ea typeface="Arial" pitchFamily="34" charset="-122"/>
                <a:cs typeface="Arial" pitchFamily="34" charset="-120"/>
              </a:rPr>
              <a:t>Regional gigafactories securing battery supply and reducing unit costs by 20%.</a:t>
            </a:r>
            <a:endParaRPr lang="en-US" sz="900" dirty="0"/>
          </a:p>
        </p:txBody>
      </p:sp>
      <p:sp>
        <p:nvSpPr>
          <p:cNvPr id="28" name="Shape 26"/>
          <p:cNvSpPr/>
          <p:nvPr/>
        </p:nvSpPr>
        <p:spPr>
          <a:xfrm>
            <a:off x="3246120" y="2880360"/>
            <a:ext cx="2697480" cy="1828800"/>
          </a:xfrm>
          <a:prstGeom prst="roundRect">
            <a:avLst>
              <a:gd name="adj" fmla="val 3000"/>
            </a:avLst>
          </a:prstGeom>
          <a:solidFill>
            <a:srgbClr val="FFFFFF"/>
          </a:solidFill>
          <a:ln w="9525">
            <a:solidFill>
              <a:srgbClr val="E2E8F0"/>
            </a:solidFill>
            <a:prstDash val="solid"/>
          </a:ln>
        </p:spPr>
      </p:sp>
      <p:sp>
        <p:nvSpPr>
          <p:cNvPr id="29" name="Shape 27"/>
          <p:cNvSpPr/>
          <p:nvPr/>
        </p:nvSpPr>
        <p:spPr>
          <a:xfrm>
            <a:off x="3337560" y="2953512"/>
            <a:ext cx="2514600" cy="36576"/>
          </a:xfrm>
          <a:prstGeom prst="rect">
            <a:avLst/>
          </a:prstGeom>
          <a:solidFill>
            <a:srgbClr val="F59E0B"/>
          </a:solidFill>
          <a:ln w="12700">
            <a:solidFill>
              <a:srgbClr val="F59E0B"/>
            </a:solidFill>
            <a:prstDash val="solid"/>
          </a:ln>
        </p:spPr>
      </p:sp>
      <p:sp>
        <p:nvSpPr>
          <p:cNvPr id="30" name="Text 28"/>
          <p:cNvSpPr/>
          <p:nvPr/>
        </p:nvSpPr>
        <p:spPr>
          <a:xfrm>
            <a:off x="3355848" y="3044952"/>
            <a:ext cx="2468880" cy="164592"/>
          </a:xfrm>
          <a:prstGeom prst="rect">
            <a:avLst/>
          </a:prstGeom>
          <a:noFill/>
          <a:ln/>
        </p:spPr>
        <p:txBody>
          <a:bodyPr wrap="square" rtlCol="0" anchor="ctr"/>
          <a:lstStyle/>
          <a:p>
            <a:pPr marL="0" indent="0">
              <a:buNone/>
            </a:pPr>
            <a:r>
              <a:rPr lang="en-US" sz="700" b="1" dirty="0">
                <a:solidFill>
                  <a:srgbClr val="F59E0B"/>
                </a:solidFill>
                <a:latin typeface="Arial" pitchFamily="34" charset="0"/>
                <a:ea typeface="Arial" pitchFamily="34" charset="-122"/>
                <a:cs typeface="Arial" pitchFamily="34" charset="-120"/>
              </a:rPr>
              <a:t>EXTERNAL</a:t>
            </a:r>
            <a:endParaRPr lang="en-US" sz="700" dirty="0"/>
          </a:p>
        </p:txBody>
      </p:sp>
      <p:sp>
        <p:nvSpPr>
          <p:cNvPr id="31" name="Text 29"/>
          <p:cNvSpPr/>
          <p:nvPr/>
        </p:nvSpPr>
        <p:spPr>
          <a:xfrm>
            <a:off x="3355848" y="3246120"/>
            <a:ext cx="2468880" cy="27432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Charging Network</a:t>
            </a:r>
            <a:endParaRPr lang="en-US" sz="1200" dirty="0"/>
          </a:p>
        </p:txBody>
      </p:sp>
      <p:sp>
        <p:nvSpPr>
          <p:cNvPr id="32" name="Text 30"/>
          <p:cNvSpPr/>
          <p:nvPr/>
        </p:nvSpPr>
        <p:spPr>
          <a:xfrm>
            <a:off x="3355848" y="3566160"/>
            <a:ext cx="2468880" cy="1005840"/>
          </a:xfrm>
          <a:prstGeom prst="rect">
            <a:avLst/>
          </a:prstGeom>
          <a:noFill/>
          <a:ln/>
        </p:spPr>
        <p:txBody>
          <a:bodyPr wrap="square" rtlCol="0" anchor="ctr"/>
          <a:lstStyle/>
          <a:p>
            <a:pPr marL="0" indent="0">
              <a:lnSpc>
                <a:spcPts val="1100"/>
              </a:lnSpc>
              <a:buNone/>
            </a:pPr>
            <a:r>
              <a:rPr lang="en-US" sz="900" dirty="0">
                <a:solidFill>
                  <a:srgbClr val="2D3748"/>
                </a:solidFill>
                <a:latin typeface="Arial" pitchFamily="34" charset="0"/>
                <a:ea typeface="Arial" pitchFamily="34" charset="-122"/>
                <a:cs typeface="Arial" pitchFamily="34" charset="-120"/>
              </a:rPr>
              <a:t>Tata Power partnership building fast-charging hubs across national highway corridors.</a:t>
            </a:r>
            <a:endParaRPr lang="en-US" sz="900" dirty="0"/>
          </a:p>
        </p:txBody>
      </p:sp>
      <p:sp>
        <p:nvSpPr>
          <p:cNvPr id="33" name="Shape 31"/>
          <p:cNvSpPr/>
          <p:nvPr/>
        </p:nvSpPr>
        <p:spPr>
          <a:xfrm>
            <a:off x="6126480" y="2880360"/>
            <a:ext cx="2697480" cy="1828800"/>
          </a:xfrm>
          <a:prstGeom prst="roundRect">
            <a:avLst>
              <a:gd name="adj" fmla="val 3000"/>
            </a:avLst>
          </a:prstGeom>
          <a:solidFill>
            <a:srgbClr val="FFFFFF"/>
          </a:solidFill>
          <a:ln w="9525">
            <a:solidFill>
              <a:srgbClr val="E2E8F0"/>
            </a:solidFill>
            <a:prstDash val="solid"/>
          </a:ln>
        </p:spPr>
      </p:sp>
      <p:sp>
        <p:nvSpPr>
          <p:cNvPr id="34" name="Shape 32"/>
          <p:cNvSpPr/>
          <p:nvPr/>
        </p:nvSpPr>
        <p:spPr>
          <a:xfrm>
            <a:off x="6217920" y="2953512"/>
            <a:ext cx="2514600" cy="36576"/>
          </a:xfrm>
          <a:prstGeom prst="rect">
            <a:avLst/>
          </a:prstGeom>
          <a:solidFill>
            <a:srgbClr val="00B4D8"/>
          </a:solidFill>
          <a:ln w="12700">
            <a:solidFill>
              <a:srgbClr val="00B4D8"/>
            </a:solidFill>
            <a:prstDash val="solid"/>
          </a:ln>
        </p:spPr>
      </p:sp>
      <p:sp>
        <p:nvSpPr>
          <p:cNvPr id="35" name="Text 33"/>
          <p:cNvSpPr/>
          <p:nvPr/>
        </p:nvSpPr>
        <p:spPr>
          <a:xfrm>
            <a:off x="6236208" y="3044952"/>
            <a:ext cx="2468880" cy="164592"/>
          </a:xfrm>
          <a:prstGeom prst="rect">
            <a:avLst/>
          </a:prstGeom>
          <a:noFill/>
          <a:ln/>
        </p:spPr>
        <p:txBody>
          <a:bodyPr wrap="square" rtlCol="0" anchor="ctr"/>
          <a:lstStyle/>
          <a:p>
            <a:pPr marL="0" indent="0">
              <a:buNone/>
            </a:pPr>
            <a:r>
              <a:rPr lang="en-US" sz="700" b="1" dirty="0">
                <a:solidFill>
                  <a:srgbClr val="00B4D8"/>
                </a:solidFill>
                <a:latin typeface="Arial" pitchFamily="34" charset="0"/>
                <a:ea typeface="Arial" pitchFamily="34" charset="-122"/>
                <a:cs typeface="Arial" pitchFamily="34" charset="-120"/>
              </a:rPr>
              <a:t>EXTERNAL</a:t>
            </a:r>
            <a:endParaRPr lang="en-US" sz="700" dirty="0"/>
          </a:p>
        </p:txBody>
      </p:sp>
      <p:sp>
        <p:nvSpPr>
          <p:cNvPr id="36" name="Text 34"/>
          <p:cNvSpPr/>
          <p:nvPr/>
        </p:nvSpPr>
        <p:spPr>
          <a:xfrm>
            <a:off x="6236208" y="3246120"/>
            <a:ext cx="2468880" cy="27432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Modular EV Platforms</a:t>
            </a:r>
            <a:endParaRPr lang="en-US" sz="1200" dirty="0"/>
          </a:p>
        </p:txBody>
      </p:sp>
      <p:sp>
        <p:nvSpPr>
          <p:cNvPr id="37" name="Text 35"/>
          <p:cNvSpPr/>
          <p:nvPr/>
        </p:nvSpPr>
        <p:spPr>
          <a:xfrm>
            <a:off x="6236208" y="3566160"/>
            <a:ext cx="2468880" cy="1005840"/>
          </a:xfrm>
          <a:prstGeom prst="rect">
            <a:avLst/>
          </a:prstGeom>
          <a:noFill/>
          <a:ln/>
        </p:spPr>
        <p:txBody>
          <a:bodyPr wrap="square" rtlCol="0" anchor="ctr"/>
          <a:lstStyle/>
          <a:p>
            <a:pPr marL="0" indent="0">
              <a:lnSpc>
                <a:spcPts val="1100"/>
              </a:lnSpc>
              <a:buNone/>
            </a:pPr>
            <a:r>
              <a:rPr lang="en-US" sz="900" dirty="0">
                <a:solidFill>
                  <a:srgbClr val="2D3748"/>
                </a:solidFill>
                <a:latin typeface="Arial" pitchFamily="34" charset="0"/>
                <a:ea typeface="Arial" pitchFamily="34" charset="-122"/>
                <a:cs typeface="Arial" pitchFamily="34" charset="-120"/>
              </a:rPr>
              <a:t>Gen 2/3 flexible architecture supporting multiple body styles on shared production lines.</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Strategies for 25%+ Profit Growth</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FINANCIAL ROADMAP</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7</a:t>
            </a:r>
            <a:endParaRPr lang="en-US" sz="700" dirty="0"/>
          </a:p>
        </p:txBody>
      </p:sp>
      <p:sp>
        <p:nvSpPr>
          <p:cNvPr id="8" name="Shape 6"/>
          <p:cNvSpPr/>
          <p:nvPr/>
        </p:nvSpPr>
        <p:spPr>
          <a:xfrm>
            <a:off x="365760" y="868680"/>
            <a:ext cx="3931920" cy="3794760"/>
          </a:xfrm>
          <a:prstGeom prst="roundRect">
            <a:avLst>
              <a:gd name="adj" fmla="val 1446"/>
            </a:avLst>
          </a:prstGeom>
          <a:solidFill>
            <a:srgbClr val="FFFFFF"/>
          </a:solidFill>
          <a:ln w="9525">
            <a:solidFill>
              <a:srgbClr val="E2E8F0"/>
            </a:solidFill>
            <a:prstDash val="solid"/>
          </a:ln>
        </p:spPr>
      </p:sp>
      <p:sp>
        <p:nvSpPr>
          <p:cNvPr id="9" name="Text 7"/>
          <p:cNvSpPr/>
          <p:nvPr/>
        </p:nvSpPr>
        <p:spPr>
          <a:xfrm>
            <a:off x="502920" y="960120"/>
            <a:ext cx="3657600" cy="256032"/>
          </a:xfrm>
          <a:prstGeom prst="rect">
            <a:avLst/>
          </a:prstGeom>
          <a:noFill/>
          <a:ln/>
        </p:spPr>
        <p:txBody>
          <a:bodyPr wrap="square" rtlCol="0" anchor="ctr"/>
          <a:lstStyle/>
          <a:p>
            <a:pPr marL="0" indent="0">
              <a:buNone/>
            </a:pPr>
            <a:r>
              <a:rPr lang="en-US" sz="1300" b="1" dirty="0">
                <a:solidFill>
                  <a:srgbClr val="0B1D35"/>
                </a:solidFill>
                <a:latin typeface="Arial" pitchFamily="34" charset="0"/>
                <a:ea typeface="Arial" pitchFamily="34" charset="-122"/>
                <a:cs typeface="Arial" pitchFamily="34" charset="-120"/>
              </a:rPr>
              <a:t>Profit Contribution Breakdown</a:t>
            </a:r>
            <a:endParaRPr lang="en-US" sz="1300" dirty="0"/>
          </a:p>
        </p:txBody>
      </p:sp>
      <p:sp>
        <p:nvSpPr>
          <p:cNvPr id="10" name="Text 8"/>
          <p:cNvSpPr/>
          <p:nvPr/>
        </p:nvSpPr>
        <p:spPr>
          <a:xfrm>
            <a:off x="502920" y="1325880"/>
            <a:ext cx="640080" cy="201168"/>
          </a:xfrm>
          <a:prstGeom prst="rect">
            <a:avLst/>
          </a:prstGeom>
          <a:noFill/>
          <a:ln/>
        </p:spPr>
        <p:txBody>
          <a:bodyPr wrap="square" rtlCol="0" anchor="ctr"/>
          <a:lstStyle/>
          <a:p>
            <a:pPr marL="0" indent="0">
              <a:buNone/>
            </a:pPr>
            <a:r>
              <a:rPr lang="en-US" sz="1100" b="1" dirty="0">
                <a:solidFill>
                  <a:srgbClr val="F58220"/>
                </a:solidFill>
                <a:latin typeface="Arial" pitchFamily="34" charset="0"/>
                <a:ea typeface="Arial" pitchFamily="34" charset="-122"/>
                <a:cs typeface="Arial" pitchFamily="34" charset="-120"/>
              </a:rPr>
              <a:t>+8.0%</a:t>
            </a:r>
            <a:endParaRPr lang="en-US" sz="1100" dirty="0"/>
          </a:p>
        </p:txBody>
      </p:sp>
      <p:sp>
        <p:nvSpPr>
          <p:cNvPr id="11" name="Text 9"/>
          <p:cNvSpPr/>
          <p:nvPr/>
        </p:nvSpPr>
        <p:spPr>
          <a:xfrm>
            <a:off x="1188720" y="1325880"/>
            <a:ext cx="2926080" cy="201168"/>
          </a:xfrm>
          <a:prstGeom prst="rect">
            <a:avLst/>
          </a:prstGeom>
          <a:noFill/>
          <a:ln/>
        </p:spPr>
        <p:txBody>
          <a:bodyPr wrap="square" rtlCol="0" anchor="ctr"/>
          <a:lstStyle/>
          <a:p>
            <a:pPr marL="0" indent="0">
              <a:buNone/>
            </a:pPr>
            <a:r>
              <a:rPr lang="en-US" sz="950" b="1" dirty="0">
                <a:solidFill>
                  <a:srgbClr val="0B1D35"/>
                </a:solidFill>
                <a:latin typeface="Arial" pitchFamily="34" charset="0"/>
                <a:ea typeface="Arial" pitchFamily="34" charset="-122"/>
                <a:cs typeface="Arial" pitchFamily="34" charset="-120"/>
              </a:rPr>
              <a:t>Predictive Maintenance</a:t>
            </a:r>
            <a:endParaRPr lang="en-US" sz="950" dirty="0"/>
          </a:p>
        </p:txBody>
      </p:sp>
      <p:sp>
        <p:nvSpPr>
          <p:cNvPr id="12" name="Text 10"/>
          <p:cNvSpPr/>
          <p:nvPr/>
        </p:nvSpPr>
        <p:spPr>
          <a:xfrm>
            <a:off x="1188720" y="1527048"/>
            <a:ext cx="2926080" cy="32004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Reducing unplanned assembly downtime via IoT alerts</a:t>
            </a:r>
            <a:endParaRPr lang="en-US" sz="800" dirty="0"/>
          </a:p>
        </p:txBody>
      </p:sp>
      <p:sp>
        <p:nvSpPr>
          <p:cNvPr id="13" name="Text 11"/>
          <p:cNvSpPr/>
          <p:nvPr/>
        </p:nvSpPr>
        <p:spPr>
          <a:xfrm>
            <a:off x="502920" y="1920240"/>
            <a:ext cx="640080" cy="201168"/>
          </a:xfrm>
          <a:prstGeom prst="rect">
            <a:avLst/>
          </a:prstGeom>
          <a:noFill/>
          <a:ln/>
        </p:spPr>
        <p:txBody>
          <a:bodyPr wrap="square" rtlCol="0" anchor="ctr"/>
          <a:lstStyle/>
          <a:p>
            <a:pPr marL="0" indent="0">
              <a:buNone/>
            </a:pPr>
            <a:r>
              <a:rPr lang="en-US" sz="1100" b="1" dirty="0">
                <a:solidFill>
                  <a:srgbClr val="3EA6FF"/>
                </a:solidFill>
                <a:latin typeface="Arial" pitchFamily="34" charset="0"/>
                <a:ea typeface="Arial" pitchFamily="34" charset="-122"/>
                <a:cs typeface="Arial" pitchFamily="34" charset="-120"/>
              </a:rPr>
              <a:t>+6.0%</a:t>
            </a:r>
            <a:endParaRPr lang="en-US" sz="1100" dirty="0"/>
          </a:p>
        </p:txBody>
      </p:sp>
      <p:sp>
        <p:nvSpPr>
          <p:cNvPr id="14" name="Text 12"/>
          <p:cNvSpPr/>
          <p:nvPr/>
        </p:nvSpPr>
        <p:spPr>
          <a:xfrm>
            <a:off x="1188720" y="1920240"/>
            <a:ext cx="2926080" cy="201168"/>
          </a:xfrm>
          <a:prstGeom prst="rect">
            <a:avLst/>
          </a:prstGeom>
          <a:noFill/>
          <a:ln/>
        </p:spPr>
        <p:txBody>
          <a:bodyPr wrap="square" rtlCol="0" anchor="ctr"/>
          <a:lstStyle/>
          <a:p>
            <a:pPr marL="0" indent="0">
              <a:buNone/>
            </a:pPr>
            <a:r>
              <a:rPr lang="en-US" sz="950" b="1" dirty="0">
                <a:solidFill>
                  <a:srgbClr val="0B1D35"/>
                </a:solidFill>
                <a:latin typeface="Arial" pitchFamily="34" charset="0"/>
                <a:ea typeface="Arial" pitchFamily="34" charset="-122"/>
                <a:cs typeface="Arial" pitchFamily="34" charset="-120"/>
              </a:rPr>
              <a:t>EV Manufacturing Scale</a:t>
            </a:r>
            <a:endParaRPr lang="en-US" sz="950" dirty="0"/>
          </a:p>
        </p:txBody>
      </p:sp>
      <p:sp>
        <p:nvSpPr>
          <p:cNvPr id="15" name="Text 13"/>
          <p:cNvSpPr/>
          <p:nvPr/>
        </p:nvSpPr>
        <p:spPr>
          <a:xfrm>
            <a:off x="1188720" y="2121408"/>
            <a:ext cx="2926080" cy="32004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Expanding product lines with localized battery supply</a:t>
            </a:r>
            <a:endParaRPr lang="en-US" sz="800" dirty="0"/>
          </a:p>
        </p:txBody>
      </p:sp>
      <p:sp>
        <p:nvSpPr>
          <p:cNvPr id="16" name="Text 14"/>
          <p:cNvSpPr/>
          <p:nvPr/>
        </p:nvSpPr>
        <p:spPr>
          <a:xfrm>
            <a:off x="502920" y="2514600"/>
            <a:ext cx="640080" cy="201168"/>
          </a:xfrm>
          <a:prstGeom prst="rect">
            <a:avLst/>
          </a:prstGeom>
          <a:noFill/>
          <a:ln/>
        </p:spPr>
        <p:txBody>
          <a:bodyPr wrap="square" rtlCol="0" anchor="ctr"/>
          <a:lstStyle/>
          <a:p>
            <a:pPr marL="0" indent="0">
              <a:buNone/>
            </a:pPr>
            <a:r>
              <a:rPr lang="en-US" sz="1100" b="1" dirty="0">
                <a:solidFill>
                  <a:srgbClr val="10B981"/>
                </a:solidFill>
                <a:latin typeface="Arial" pitchFamily="34" charset="0"/>
                <a:ea typeface="Arial" pitchFamily="34" charset="-122"/>
                <a:cs typeface="Arial" pitchFamily="34" charset="-120"/>
              </a:rPr>
              <a:t>+5.0%</a:t>
            </a:r>
            <a:endParaRPr lang="en-US" sz="1100" dirty="0"/>
          </a:p>
        </p:txBody>
      </p:sp>
      <p:sp>
        <p:nvSpPr>
          <p:cNvPr id="17" name="Text 15"/>
          <p:cNvSpPr/>
          <p:nvPr/>
        </p:nvSpPr>
        <p:spPr>
          <a:xfrm>
            <a:off x="1188720" y="2514600"/>
            <a:ext cx="2926080" cy="201168"/>
          </a:xfrm>
          <a:prstGeom prst="rect">
            <a:avLst/>
          </a:prstGeom>
          <a:noFill/>
          <a:ln/>
        </p:spPr>
        <p:txBody>
          <a:bodyPr wrap="square" rtlCol="0" anchor="ctr"/>
          <a:lstStyle/>
          <a:p>
            <a:pPr marL="0" indent="0">
              <a:buNone/>
            </a:pPr>
            <a:r>
              <a:rPr lang="en-US" sz="950" b="1" dirty="0">
                <a:solidFill>
                  <a:srgbClr val="0B1D35"/>
                </a:solidFill>
                <a:latin typeface="Arial" pitchFamily="34" charset="0"/>
                <a:ea typeface="Arial" pitchFamily="34" charset="-122"/>
                <a:cs typeface="Arial" pitchFamily="34" charset="-120"/>
              </a:rPr>
              <a:t>Quality Defect Reduction</a:t>
            </a:r>
            <a:endParaRPr lang="en-US" sz="950" dirty="0"/>
          </a:p>
        </p:txBody>
      </p:sp>
      <p:sp>
        <p:nvSpPr>
          <p:cNvPr id="18" name="Text 16"/>
          <p:cNvSpPr/>
          <p:nvPr/>
        </p:nvSpPr>
        <p:spPr>
          <a:xfrm>
            <a:off x="1188720" y="2715768"/>
            <a:ext cx="2926080" cy="32004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Automating inspections with computer vision systems</a:t>
            </a:r>
            <a:endParaRPr lang="en-US" sz="800" dirty="0"/>
          </a:p>
        </p:txBody>
      </p:sp>
      <p:sp>
        <p:nvSpPr>
          <p:cNvPr id="19" name="Text 17"/>
          <p:cNvSpPr/>
          <p:nvPr/>
        </p:nvSpPr>
        <p:spPr>
          <a:xfrm>
            <a:off x="502920" y="3108960"/>
            <a:ext cx="640080" cy="201168"/>
          </a:xfrm>
          <a:prstGeom prst="rect">
            <a:avLst/>
          </a:prstGeom>
          <a:noFill/>
          <a:ln/>
        </p:spPr>
        <p:txBody>
          <a:bodyPr wrap="square" rtlCol="0" anchor="ctr"/>
          <a:lstStyle/>
          <a:p>
            <a:pPr marL="0" indent="0">
              <a:buNone/>
            </a:pPr>
            <a:r>
              <a:rPr lang="en-US" sz="1100" b="1" dirty="0">
                <a:solidFill>
                  <a:srgbClr val="0B1D35"/>
                </a:solidFill>
                <a:latin typeface="Arial" pitchFamily="34" charset="0"/>
                <a:ea typeface="Arial" pitchFamily="34" charset="-122"/>
                <a:cs typeface="Arial" pitchFamily="34" charset="-120"/>
              </a:rPr>
              <a:t>+4.0%</a:t>
            </a:r>
            <a:endParaRPr lang="en-US" sz="1100" dirty="0"/>
          </a:p>
        </p:txBody>
      </p:sp>
      <p:sp>
        <p:nvSpPr>
          <p:cNvPr id="20" name="Text 18"/>
          <p:cNvSpPr/>
          <p:nvPr/>
        </p:nvSpPr>
        <p:spPr>
          <a:xfrm>
            <a:off x="1188720" y="3108960"/>
            <a:ext cx="2926080" cy="201168"/>
          </a:xfrm>
          <a:prstGeom prst="rect">
            <a:avLst/>
          </a:prstGeom>
          <a:noFill/>
          <a:ln/>
        </p:spPr>
        <p:txBody>
          <a:bodyPr wrap="square" rtlCol="0" anchor="ctr"/>
          <a:lstStyle/>
          <a:p>
            <a:pPr marL="0" indent="0">
              <a:buNone/>
            </a:pPr>
            <a:r>
              <a:rPr lang="en-US" sz="950" b="1" dirty="0">
                <a:solidFill>
                  <a:srgbClr val="0B1D35"/>
                </a:solidFill>
                <a:latin typeface="Arial" pitchFamily="34" charset="0"/>
                <a:ea typeface="Arial" pitchFamily="34" charset="-122"/>
                <a:cs typeface="Arial" pitchFamily="34" charset="-120"/>
              </a:rPr>
              <a:t>Inventory Optimization</a:t>
            </a:r>
            <a:endParaRPr lang="en-US" sz="950" dirty="0"/>
          </a:p>
        </p:txBody>
      </p:sp>
      <p:sp>
        <p:nvSpPr>
          <p:cNvPr id="21" name="Text 19"/>
          <p:cNvSpPr/>
          <p:nvPr/>
        </p:nvSpPr>
        <p:spPr>
          <a:xfrm>
            <a:off x="1188720" y="3310128"/>
            <a:ext cx="2926080" cy="32004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Lowering component storage overhead costs</a:t>
            </a:r>
            <a:endParaRPr lang="en-US" sz="800" dirty="0"/>
          </a:p>
        </p:txBody>
      </p:sp>
      <p:sp>
        <p:nvSpPr>
          <p:cNvPr id="22" name="Text 20"/>
          <p:cNvSpPr/>
          <p:nvPr/>
        </p:nvSpPr>
        <p:spPr>
          <a:xfrm>
            <a:off x="502920" y="3703320"/>
            <a:ext cx="640080" cy="201168"/>
          </a:xfrm>
          <a:prstGeom prst="rect">
            <a:avLst/>
          </a:prstGeom>
          <a:noFill/>
          <a:ln/>
        </p:spPr>
        <p:txBody>
          <a:bodyPr wrap="square" rtlCol="0" anchor="ctr"/>
          <a:lstStyle/>
          <a:p>
            <a:pPr marL="0" indent="0">
              <a:buNone/>
            </a:pPr>
            <a:r>
              <a:rPr lang="en-US" sz="1100" b="1" dirty="0">
                <a:solidFill>
                  <a:srgbClr val="F59E0B"/>
                </a:solidFill>
                <a:latin typeface="Arial" pitchFamily="34" charset="0"/>
                <a:ea typeface="Arial" pitchFamily="34" charset="-122"/>
                <a:cs typeface="Arial" pitchFamily="34" charset="-120"/>
              </a:rPr>
              <a:t>+3.0%</a:t>
            </a:r>
            <a:endParaRPr lang="en-US" sz="1100" dirty="0"/>
          </a:p>
        </p:txBody>
      </p:sp>
      <p:sp>
        <p:nvSpPr>
          <p:cNvPr id="23" name="Text 21"/>
          <p:cNvSpPr/>
          <p:nvPr/>
        </p:nvSpPr>
        <p:spPr>
          <a:xfrm>
            <a:off x="1188720" y="3703320"/>
            <a:ext cx="2926080" cy="201168"/>
          </a:xfrm>
          <a:prstGeom prst="rect">
            <a:avLst/>
          </a:prstGeom>
          <a:noFill/>
          <a:ln/>
        </p:spPr>
        <p:txBody>
          <a:bodyPr wrap="square" rtlCol="0" anchor="ctr"/>
          <a:lstStyle/>
          <a:p>
            <a:pPr marL="0" indent="0">
              <a:buNone/>
            </a:pPr>
            <a:r>
              <a:rPr lang="en-US" sz="950" b="1" dirty="0">
                <a:solidFill>
                  <a:srgbClr val="0B1D35"/>
                </a:solidFill>
                <a:latin typeface="Arial" pitchFamily="34" charset="0"/>
                <a:ea typeface="Arial" pitchFamily="34" charset="-122"/>
                <a:cs typeface="Arial" pitchFamily="34" charset="-120"/>
              </a:rPr>
              <a:t>Supply Chain Efficiency</a:t>
            </a:r>
            <a:endParaRPr lang="en-US" sz="950" dirty="0"/>
          </a:p>
        </p:txBody>
      </p:sp>
      <p:sp>
        <p:nvSpPr>
          <p:cNvPr id="24" name="Text 22"/>
          <p:cNvSpPr/>
          <p:nvPr/>
        </p:nvSpPr>
        <p:spPr>
          <a:xfrm>
            <a:off x="1188720" y="3904488"/>
            <a:ext cx="2926080" cy="32004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Improving supplier lead times and route planning</a:t>
            </a:r>
            <a:endParaRPr lang="en-US" sz="800" dirty="0"/>
          </a:p>
        </p:txBody>
      </p:sp>
      <p:sp>
        <p:nvSpPr>
          <p:cNvPr id="25" name="Shape 23"/>
          <p:cNvSpPr/>
          <p:nvPr/>
        </p:nvSpPr>
        <p:spPr>
          <a:xfrm>
            <a:off x="4434840" y="868680"/>
            <a:ext cx="4297680" cy="3794760"/>
          </a:xfrm>
          <a:prstGeom prst="roundRect">
            <a:avLst>
              <a:gd name="adj" fmla="val 1446"/>
            </a:avLst>
          </a:prstGeom>
          <a:solidFill>
            <a:srgbClr val="FFFFFF"/>
          </a:solidFill>
          <a:ln w="9525">
            <a:solidFill>
              <a:srgbClr val="E2E8F0"/>
            </a:solidFill>
            <a:prstDash val="solid"/>
          </a:ln>
        </p:spPr>
      </p:sp>
      <p:graphicFrame>
        <p:nvGraphicFramePr>
          <p:cNvPr id="26" name="Chart 0"/>
          <p:cNvGraphicFramePr/>
          <p:nvPr/>
        </p:nvGraphicFramePr>
        <p:xfrm>
          <a:off x="4572000" y="1051560"/>
          <a:ext cx="4023360" cy="34747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250"/>
                                        <p:tgtEl>
                                          <p:spTgt spid="10"/>
                                        </p:tgtEl>
                                      </p:cBhvr>
                                    </p:animEffect>
                                  </p:childTnLst>
                                </p:cTn>
                              </p:par>
                            </p:childTnLst>
                          </p:cTn>
                        </p:par>
                        <p:par>
                          <p:cTn id="8" fill="hold">
                            <p:stCondLst>
                              <p:cond delay="25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250"/>
                                        <p:tgtEl>
                                          <p:spTgt spid="13"/>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250"/>
                                        <p:tgtEl>
                                          <p:spTgt spid="16"/>
                                        </p:tgtEl>
                                      </p:cBhvr>
                                    </p:animEffect>
                                  </p:childTnLst>
                                </p:cTn>
                              </p:par>
                            </p:childTnLst>
                          </p:cTn>
                        </p:par>
                        <p:par>
                          <p:cTn id="16" fill="hold">
                            <p:stCondLst>
                              <p:cond delay="750"/>
                            </p:stCondLst>
                            <p:childTnLst>
                              <p:par>
                                <p:cTn id="17" presetID="22" presetClass="entr" presetSubtype="8"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250"/>
                                        <p:tgtEl>
                                          <p:spTgt spid="19"/>
                                        </p:tgtEl>
                                      </p:cBhvr>
                                    </p:animEffect>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left)">
                                      <p:cBhvr>
                                        <p:cTn id="23"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6" grpId="0" animBg="1"/>
      <p:bldP spid="19" grpId="0" animBg="1"/>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DFE"/>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Relational Schema &amp; Entity-Relationship Model</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DBMS FOUNDATIONS</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8</a:t>
            </a:r>
            <a:endParaRPr lang="en-US" sz="700" dirty="0"/>
          </a:p>
        </p:txBody>
      </p:sp>
      <p:pic>
        <p:nvPicPr>
          <p:cNvPr id="43" name="Picture 42">
            <a:extLst>
              <a:ext uri="{FF2B5EF4-FFF2-40B4-BE49-F238E27FC236}">
                <a16:creationId xmlns:a16="http://schemas.microsoft.com/office/drawing/2014/main" id="{8E808AEC-A495-67BB-9685-FD0FC6BDEBE6}"/>
              </a:ext>
            </a:extLst>
          </p:cNvPr>
          <p:cNvPicPr>
            <a:picLocks noChangeAspect="1"/>
          </p:cNvPicPr>
          <p:nvPr/>
        </p:nvPicPr>
        <p:blipFill>
          <a:blip r:embed="rId3"/>
          <a:stretch>
            <a:fillRect/>
          </a:stretch>
        </p:blipFill>
        <p:spPr>
          <a:xfrm>
            <a:off x="200025" y="745236"/>
            <a:ext cx="8809264" cy="402793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randombar(horizontal)">
                                      <p:cBhvr>
                                        <p:cTn id="7" dur="3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Operational Projections &amp; Industry Forecasts</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GUESSTIMATES</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9</a:t>
            </a:r>
            <a:endParaRPr lang="en-US" sz="700" dirty="0"/>
          </a:p>
        </p:txBody>
      </p:sp>
      <p:sp>
        <p:nvSpPr>
          <p:cNvPr id="8" name="Shape 6"/>
          <p:cNvSpPr/>
          <p:nvPr/>
        </p:nvSpPr>
        <p:spPr>
          <a:xfrm>
            <a:off x="365760" y="841248"/>
            <a:ext cx="1828800" cy="640080"/>
          </a:xfrm>
          <a:prstGeom prst="roundRect">
            <a:avLst>
              <a:gd name="adj" fmla="val 8571"/>
            </a:avLst>
          </a:prstGeom>
          <a:solidFill>
            <a:srgbClr val="FFFFFF"/>
          </a:solidFill>
          <a:ln w="9525">
            <a:solidFill>
              <a:srgbClr val="E2E8F0"/>
            </a:solidFill>
            <a:prstDash val="solid"/>
          </a:ln>
        </p:spPr>
      </p:sp>
      <p:sp>
        <p:nvSpPr>
          <p:cNvPr id="9" name="Text 7"/>
          <p:cNvSpPr/>
          <p:nvPr/>
        </p:nvSpPr>
        <p:spPr>
          <a:xfrm>
            <a:off x="457200" y="859536"/>
            <a:ext cx="1645920" cy="292608"/>
          </a:xfrm>
          <a:prstGeom prst="rect">
            <a:avLst/>
          </a:prstGeom>
          <a:noFill/>
          <a:ln/>
        </p:spPr>
        <p:txBody>
          <a:bodyPr wrap="square" rtlCol="0" anchor="ctr"/>
          <a:lstStyle/>
          <a:p>
            <a:pPr marL="0" indent="0">
              <a:buNone/>
            </a:pPr>
            <a:r>
              <a:rPr lang="en-US" sz="1600" b="1" dirty="0">
                <a:solidFill>
                  <a:srgbClr val="0B1D35"/>
                </a:solidFill>
                <a:latin typeface="Arial" pitchFamily="34" charset="0"/>
                <a:ea typeface="Arial" pitchFamily="34" charset="-122"/>
                <a:cs typeface="Arial" pitchFamily="34" charset="-120"/>
              </a:rPr>
              <a:t>5</a:t>
            </a:r>
            <a:endParaRPr lang="en-US" sz="1600" dirty="0"/>
          </a:p>
        </p:txBody>
      </p:sp>
      <p:sp>
        <p:nvSpPr>
          <p:cNvPr id="10" name="Text 8"/>
          <p:cNvSpPr/>
          <p:nvPr/>
        </p:nvSpPr>
        <p:spPr>
          <a:xfrm>
            <a:off x="457200" y="1170432"/>
            <a:ext cx="1645920" cy="18288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Projections</a:t>
            </a:r>
            <a:endParaRPr lang="en-US" sz="800" dirty="0"/>
          </a:p>
        </p:txBody>
      </p:sp>
      <p:sp>
        <p:nvSpPr>
          <p:cNvPr id="11" name="Shape 9"/>
          <p:cNvSpPr/>
          <p:nvPr/>
        </p:nvSpPr>
        <p:spPr>
          <a:xfrm>
            <a:off x="2377440" y="841248"/>
            <a:ext cx="1828800" cy="640080"/>
          </a:xfrm>
          <a:prstGeom prst="roundRect">
            <a:avLst>
              <a:gd name="adj" fmla="val 8571"/>
            </a:avLst>
          </a:prstGeom>
          <a:solidFill>
            <a:srgbClr val="FFFFFF"/>
          </a:solidFill>
          <a:ln w="9525">
            <a:solidFill>
              <a:srgbClr val="E2E8F0"/>
            </a:solidFill>
            <a:prstDash val="solid"/>
          </a:ln>
        </p:spPr>
      </p:sp>
      <p:sp>
        <p:nvSpPr>
          <p:cNvPr id="12" name="Text 10"/>
          <p:cNvSpPr/>
          <p:nvPr/>
        </p:nvSpPr>
        <p:spPr>
          <a:xfrm>
            <a:off x="2468880" y="859536"/>
            <a:ext cx="1645920" cy="292608"/>
          </a:xfrm>
          <a:prstGeom prst="rect">
            <a:avLst/>
          </a:prstGeom>
          <a:noFill/>
          <a:ln/>
        </p:spPr>
        <p:txBody>
          <a:bodyPr wrap="square" rtlCol="0" anchor="ctr"/>
          <a:lstStyle/>
          <a:p>
            <a:pPr marL="0" indent="0">
              <a:buNone/>
            </a:pPr>
            <a:r>
              <a:rPr lang="en-US" sz="1600" b="1" dirty="0">
                <a:solidFill>
                  <a:srgbClr val="3EA6FF"/>
                </a:solidFill>
                <a:latin typeface="Arial" pitchFamily="34" charset="0"/>
                <a:ea typeface="Arial" pitchFamily="34" charset="-122"/>
                <a:cs typeface="Arial" pitchFamily="34" charset="-120"/>
              </a:rPr>
              <a:t>3–5Y</a:t>
            </a:r>
            <a:endParaRPr lang="en-US" sz="1600" dirty="0"/>
          </a:p>
        </p:txBody>
      </p:sp>
      <p:sp>
        <p:nvSpPr>
          <p:cNvPr id="13" name="Text 11"/>
          <p:cNvSpPr/>
          <p:nvPr/>
        </p:nvSpPr>
        <p:spPr>
          <a:xfrm>
            <a:off x="2468880" y="1170432"/>
            <a:ext cx="1645920" cy="18288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Forecast Horizon</a:t>
            </a:r>
            <a:endParaRPr lang="en-US" sz="800" dirty="0"/>
          </a:p>
        </p:txBody>
      </p:sp>
      <p:sp>
        <p:nvSpPr>
          <p:cNvPr id="14" name="Shape 12"/>
          <p:cNvSpPr/>
          <p:nvPr/>
        </p:nvSpPr>
        <p:spPr>
          <a:xfrm>
            <a:off x="4389120" y="841248"/>
            <a:ext cx="1828800" cy="640080"/>
          </a:xfrm>
          <a:prstGeom prst="roundRect">
            <a:avLst>
              <a:gd name="adj" fmla="val 8571"/>
            </a:avLst>
          </a:prstGeom>
          <a:solidFill>
            <a:srgbClr val="FFFFFF"/>
          </a:solidFill>
          <a:ln w="9525">
            <a:solidFill>
              <a:srgbClr val="E2E8F0"/>
            </a:solidFill>
            <a:prstDash val="solid"/>
          </a:ln>
        </p:spPr>
      </p:sp>
      <p:sp>
        <p:nvSpPr>
          <p:cNvPr id="15" name="Text 13"/>
          <p:cNvSpPr/>
          <p:nvPr/>
        </p:nvSpPr>
        <p:spPr>
          <a:xfrm>
            <a:off x="4480560" y="859536"/>
            <a:ext cx="1645920" cy="292608"/>
          </a:xfrm>
          <a:prstGeom prst="rect">
            <a:avLst/>
          </a:prstGeom>
          <a:noFill/>
          <a:ln/>
        </p:spPr>
        <p:txBody>
          <a:bodyPr wrap="square" rtlCol="0" anchor="ctr"/>
          <a:lstStyle/>
          <a:p>
            <a:pPr marL="0" indent="0">
              <a:buNone/>
            </a:pPr>
            <a:r>
              <a:rPr lang="en-US" sz="1600" b="1" dirty="0">
                <a:solidFill>
                  <a:srgbClr val="F58220"/>
                </a:solidFill>
                <a:latin typeface="Arial" pitchFamily="34" charset="0"/>
                <a:ea typeface="Arial" pitchFamily="34" charset="-122"/>
                <a:cs typeface="Arial" pitchFamily="34" charset="-120"/>
              </a:rPr>
              <a:t>71%</a:t>
            </a:r>
            <a:endParaRPr lang="en-US" sz="1600" dirty="0"/>
          </a:p>
        </p:txBody>
      </p:sp>
      <p:sp>
        <p:nvSpPr>
          <p:cNvPr id="16" name="Text 14"/>
          <p:cNvSpPr/>
          <p:nvPr/>
        </p:nvSpPr>
        <p:spPr>
          <a:xfrm>
            <a:off x="4480560" y="1170432"/>
            <a:ext cx="1645920" cy="18288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Automation Growth</a:t>
            </a:r>
            <a:endParaRPr lang="en-US" sz="800" dirty="0"/>
          </a:p>
        </p:txBody>
      </p:sp>
      <p:sp>
        <p:nvSpPr>
          <p:cNvPr id="17" name="Shape 15"/>
          <p:cNvSpPr/>
          <p:nvPr/>
        </p:nvSpPr>
        <p:spPr>
          <a:xfrm>
            <a:off x="6400800" y="841248"/>
            <a:ext cx="1828800" cy="640080"/>
          </a:xfrm>
          <a:prstGeom prst="roundRect">
            <a:avLst>
              <a:gd name="adj" fmla="val 8571"/>
            </a:avLst>
          </a:prstGeom>
          <a:solidFill>
            <a:srgbClr val="FFFFFF"/>
          </a:solidFill>
          <a:ln w="9525">
            <a:solidFill>
              <a:srgbClr val="E2E8F0"/>
            </a:solidFill>
            <a:prstDash val="solid"/>
          </a:ln>
        </p:spPr>
      </p:sp>
      <p:sp>
        <p:nvSpPr>
          <p:cNvPr id="18" name="Text 16"/>
          <p:cNvSpPr/>
          <p:nvPr/>
        </p:nvSpPr>
        <p:spPr>
          <a:xfrm>
            <a:off x="6492240" y="859536"/>
            <a:ext cx="1645920" cy="292608"/>
          </a:xfrm>
          <a:prstGeom prst="rect">
            <a:avLst/>
          </a:prstGeom>
          <a:noFill/>
          <a:ln/>
        </p:spPr>
        <p:txBody>
          <a:bodyPr wrap="square" rtlCol="0" anchor="ctr"/>
          <a:lstStyle/>
          <a:p>
            <a:pPr marL="0" indent="0">
              <a:buNone/>
            </a:pPr>
            <a:r>
              <a:rPr lang="en-US" sz="1600" b="1" dirty="0">
                <a:solidFill>
                  <a:srgbClr val="10B981"/>
                </a:solidFill>
                <a:latin typeface="Arial" pitchFamily="34" charset="0"/>
                <a:ea typeface="Arial" pitchFamily="34" charset="-122"/>
                <a:cs typeface="Arial" pitchFamily="34" charset="-120"/>
              </a:rPr>
              <a:t>40–45%</a:t>
            </a:r>
            <a:endParaRPr lang="en-US" sz="1600" dirty="0"/>
          </a:p>
        </p:txBody>
      </p:sp>
      <p:sp>
        <p:nvSpPr>
          <p:cNvPr id="19" name="Text 17"/>
          <p:cNvSpPr/>
          <p:nvPr/>
        </p:nvSpPr>
        <p:spPr>
          <a:xfrm>
            <a:off x="6492240" y="1170432"/>
            <a:ext cx="1645920" cy="18288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Downtime Cut</a:t>
            </a:r>
            <a:endParaRPr lang="en-US" sz="800" dirty="0"/>
          </a:p>
        </p:txBody>
      </p:sp>
      <p:sp>
        <p:nvSpPr>
          <p:cNvPr id="20" name="Shape 18"/>
          <p:cNvSpPr/>
          <p:nvPr/>
        </p:nvSpPr>
        <p:spPr>
          <a:xfrm>
            <a:off x="365760" y="1645920"/>
            <a:ext cx="8366760" cy="3017520"/>
          </a:xfrm>
          <a:prstGeom prst="roundRect">
            <a:avLst>
              <a:gd name="adj" fmla="val 1818"/>
            </a:avLst>
          </a:prstGeom>
          <a:solidFill>
            <a:srgbClr val="FFFFFF"/>
          </a:solidFill>
          <a:ln w="9525">
            <a:solidFill>
              <a:srgbClr val="E2E8F0"/>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092440" cy="2487168"/>
        </p:xfrm>
        <a:graphic>
          <a:graphicData uri="http://schemas.openxmlformats.org/drawingml/2006/table">
            <a:tbl>
              <a:tblPr/>
              <a:tblGrid>
                <a:gridCol w="27432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292608">
                <a:tc>
                  <a:txBody>
                    <a:bodyPr/>
                    <a:lstStyle/>
                    <a:p>
                      <a:pPr marL="0" indent="0">
                        <a:buNone/>
                      </a:pPr>
                      <a:r>
                        <a:rPr lang="en-US" sz="900" b="1" dirty="0">
                          <a:solidFill>
                            <a:srgbClr val="FFFFFF"/>
                          </a:solidFill>
                          <a:latin typeface="Arial" pitchFamily="34" charset="0"/>
                          <a:ea typeface="Arial" pitchFamily="34" charset="-122"/>
                          <a:cs typeface="Arial" pitchFamily="34" charset="-120"/>
                        </a:rPr>
                        <a:t>Industry Guesstimate</a:t>
                      </a:r>
                      <a:endParaRPr lang="en-US" sz="9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D35"/>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Estimation Logic</a:t>
                      </a:r>
                      <a:endParaRPr lang="en-US" sz="9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D35"/>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Projected Outcome</a:t>
                      </a:r>
                      <a:endParaRPr lang="en-US" sz="9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D35"/>
                    </a:solidFill>
                  </a:tcPr>
                </a:tc>
                <a:extLst>
                  <a:ext uri="{0D108BD9-81ED-4DB2-BD59-A6C34878D82A}">
                    <a16:rowId xmlns:a16="http://schemas.microsoft.com/office/drawing/2014/main" val="10000"/>
                  </a:ext>
                </a:extLst>
              </a:tr>
              <a:tr h="438912">
                <a:tc>
                  <a:txBody>
                    <a:bodyPr/>
                    <a:lstStyle/>
                    <a:p>
                      <a:pPr marL="0" indent="0">
                        <a:buNone/>
                      </a:pPr>
                      <a:r>
                        <a:rPr lang="en-US" sz="850" dirty="0">
                          <a:solidFill>
                            <a:srgbClr val="000000"/>
                          </a:solidFill>
                          <a:latin typeface="Arial" pitchFamily="34" charset="0"/>
                          <a:ea typeface="Arial" pitchFamily="34" charset="-122"/>
                          <a:cs typeface="Arial" pitchFamily="34" charset="-120"/>
                        </a:rPr>
                        <a:t>Global Manufacturing Automation (5Y)</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850" dirty="0">
                          <a:solidFill>
                            <a:srgbClr val="000000"/>
                          </a:solidFill>
                          <a:latin typeface="Arial" pitchFamily="34" charset="0"/>
                          <a:ea typeface="Arial" pitchFamily="34" charset="-122"/>
                          <a:cs typeface="Arial" pitchFamily="34" charset="-120"/>
                        </a:rPr>
                        <a:t>Industry 4.0 expansion, robotic cost reduction, smart factory conversions</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850" b="1" dirty="0">
                          <a:solidFill>
                            <a:srgbClr val="F58220"/>
                          </a:solidFill>
                          <a:latin typeface="Arial" pitchFamily="34" charset="0"/>
                          <a:ea typeface="Arial" pitchFamily="34" charset="-122"/>
                          <a:cs typeface="Arial" pitchFamily="34" charset="-120"/>
                        </a:rPr>
                        <a:t>71% increase in automated units</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1"/>
                  </a:ext>
                </a:extLst>
              </a:tr>
              <a:tr h="438912">
                <a:tc>
                  <a:txBody>
                    <a:bodyPr/>
                    <a:lstStyle/>
                    <a:p>
                      <a:pPr marL="0" indent="0">
                        <a:buNone/>
                      </a:pPr>
                      <a:r>
                        <a:rPr lang="en-US" sz="850" dirty="0">
                          <a:solidFill>
                            <a:srgbClr val="000000"/>
                          </a:solidFill>
                          <a:latin typeface="Arial" pitchFamily="34" charset="0"/>
                          <a:ea typeface="Arial" pitchFamily="34" charset="-122"/>
                          <a:cs typeface="Arial" pitchFamily="34" charset="-120"/>
                        </a:rPr>
                        <a:t>Digital Monitoring in Developing Regions</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Arial" pitchFamily="34" charset="0"/>
                          <a:ea typeface="Arial" pitchFamily="34" charset="-122"/>
                          <a:cs typeface="Arial" pitchFamily="34" charset="-120"/>
                        </a:rPr>
                        <a:t>Lower IoT sensor costs, government modernization subsidies</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Arial" pitchFamily="34" charset="0"/>
                          <a:ea typeface="Arial" pitchFamily="34" charset="-122"/>
                          <a:cs typeface="Arial" pitchFamily="34" charset="-120"/>
                        </a:rPr>
                        <a:t>1.5–1.6M plants adopting digital</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850" dirty="0">
                          <a:solidFill>
                            <a:srgbClr val="000000"/>
                          </a:solidFill>
                          <a:latin typeface="Arial" pitchFamily="34" charset="0"/>
                          <a:ea typeface="Arial" pitchFamily="34" charset="-122"/>
                          <a:cs typeface="Arial" pitchFamily="34" charset="-120"/>
                        </a:rPr>
                        <a:t>AI Demand Forecasting Adoption (2026)</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850" dirty="0">
                          <a:solidFill>
                            <a:srgbClr val="000000"/>
                          </a:solidFill>
                          <a:latin typeface="Arial" pitchFamily="34" charset="0"/>
                          <a:ea typeface="Arial" pitchFamily="34" charset="-122"/>
                          <a:cs typeface="Arial" pitchFamily="34" charset="-120"/>
                        </a:rPr>
                        <a:t>AI analytics integration with enterprise ERP systems</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850" b="1" dirty="0">
                          <a:solidFill>
                            <a:srgbClr val="3EA6FF"/>
                          </a:solidFill>
                          <a:latin typeface="Arial" pitchFamily="34" charset="0"/>
                          <a:ea typeface="Arial" pitchFamily="34" charset="-122"/>
                          <a:cs typeface="Arial" pitchFamily="34" charset="-120"/>
                        </a:rPr>
                        <a:t>20% of mid-sized firms adopting</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3"/>
                  </a:ext>
                </a:extLst>
              </a:tr>
              <a:tr h="438912">
                <a:tc>
                  <a:txBody>
                    <a:bodyPr/>
                    <a:lstStyle/>
                    <a:p>
                      <a:pPr marL="0" indent="0">
                        <a:buNone/>
                      </a:pPr>
                      <a:r>
                        <a:rPr lang="en-US" sz="850" dirty="0">
                          <a:solidFill>
                            <a:srgbClr val="000000"/>
                          </a:solidFill>
                          <a:latin typeface="Arial" pitchFamily="34" charset="0"/>
                          <a:ea typeface="Arial" pitchFamily="34" charset="-122"/>
                          <a:cs typeface="Arial" pitchFamily="34" charset="-120"/>
                        </a:rPr>
                        <a:t>Downtime Reduction via Predictive Maint. (3Y)</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Arial" pitchFamily="34" charset="0"/>
                          <a:ea typeface="Arial" pitchFamily="34" charset="-122"/>
                          <a:cs typeface="Arial" pitchFamily="34" charset="-120"/>
                        </a:rPr>
                        <a:t>Vibration telemetry for proactive component replacement</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50" dirty="0">
                          <a:solidFill>
                            <a:srgbClr val="000000"/>
                          </a:solidFill>
                          <a:latin typeface="Arial" pitchFamily="34" charset="0"/>
                          <a:ea typeface="Arial" pitchFamily="34" charset="-122"/>
                          <a:cs typeface="Arial" pitchFamily="34" charset="-120"/>
                        </a:rPr>
                        <a:t>40–45% decrease in halts</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buNone/>
                      </a:pPr>
                      <a:r>
                        <a:rPr lang="en-US" sz="850" dirty="0">
                          <a:solidFill>
                            <a:srgbClr val="000000"/>
                          </a:solidFill>
                          <a:latin typeface="Arial" pitchFamily="34" charset="0"/>
                          <a:ea typeface="Arial" pitchFamily="34" charset="-122"/>
                          <a:cs typeface="Arial" pitchFamily="34" charset="-120"/>
                        </a:rPr>
                        <a:t>Supply Chain Inventory Savings (5Y)</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850" dirty="0">
                          <a:solidFill>
                            <a:srgbClr val="000000"/>
                          </a:solidFill>
                          <a:latin typeface="Arial" pitchFamily="34" charset="0"/>
                          <a:ea typeface="Arial" pitchFamily="34" charset="-122"/>
                          <a:cs typeface="Arial" pitchFamily="34" charset="-120"/>
                        </a:rPr>
                        <a:t>JIT deliveries, demand analytics, shipping log digitization</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850" b="1" dirty="0">
                          <a:solidFill>
                            <a:srgbClr val="10B981"/>
                          </a:solidFill>
                          <a:latin typeface="Arial" pitchFamily="34" charset="0"/>
                          <a:ea typeface="Arial" pitchFamily="34" charset="-122"/>
                          <a:cs typeface="Arial" pitchFamily="34" charset="-120"/>
                        </a:rPr>
                        <a:t>30–35% reduction in overheads</a:t>
                      </a:r>
                      <a:endParaRPr lang="en-US" sz="8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250"/>
                                        <p:tgtEl>
                                          <p:spTgt spid="11"/>
                                        </p:tgtEl>
                                      </p:cBhvr>
                                    </p:animEffect>
                                    <p:anim calcmode="lin" valueType="num">
                                      <p:cBhvr>
                                        <p:cTn id="13" dur="250" fill="hold"/>
                                        <p:tgtEl>
                                          <p:spTgt spid="11"/>
                                        </p:tgtEl>
                                        <p:attrNameLst>
                                          <p:attrName>ppt_x</p:attrName>
                                        </p:attrNameLst>
                                      </p:cBhvr>
                                      <p:tavLst>
                                        <p:tav tm="0">
                                          <p:val>
                                            <p:strVal val="#ppt_x"/>
                                          </p:val>
                                        </p:tav>
                                        <p:tav tm="100000">
                                          <p:val>
                                            <p:strVal val="#ppt_x"/>
                                          </p:val>
                                        </p:tav>
                                      </p:tavLst>
                                    </p:anim>
                                    <p:anim calcmode="lin" valueType="num">
                                      <p:cBhvr>
                                        <p:cTn id="14" dur="25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250"/>
                                        <p:tgtEl>
                                          <p:spTgt spid="14"/>
                                        </p:tgtEl>
                                      </p:cBhvr>
                                    </p:animEffect>
                                    <p:anim calcmode="lin" valueType="num">
                                      <p:cBhvr>
                                        <p:cTn id="18" dur="250" fill="hold"/>
                                        <p:tgtEl>
                                          <p:spTgt spid="14"/>
                                        </p:tgtEl>
                                        <p:attrNameLst>
                                          <p:attrName>ppt_x</p:attrName>
                                        </p:attrNameLst>
                                      </p:cBhvr>
                                      <p:tavLst>
                                        <p:tav tm="0">
                                          <p:val>
                                            <p:strVal val="#ppt_x"/>
                                          </p:val>
                                        </p:tav>
                                        <p:tav tm="100000">
                                          <p:val>
                                            <p:strVal val="#ppt_x"/>
                                          </p:val>
                                        </p:tav>
                                      </p:tavLst>
                                    </p:anim>
                                    <p:anim calcmode="lin" valueType="num">
                                      <p:cBhvr>
                                        <p:cTn id="19" dur="25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250"/>
                                        <p:tgtEl>
                                          <p:spTgt spid="17"/>
                                        </p:tgtEl>
                                      </p:cBhvr>
                                    </p:animEffect>
                                    <p:anim calcmode="lin" valueType="num">
                                      <p:cBhvr>
                                        <p:cTn id="23" dur="250" fill="hold"/>
                                        <p:tgtEl>
                                          <p:spTgt spid="17"/>
                                        </p:tgtEl>
                                        <p:attrNameLst>
                                          <p:attrName>ppt_x</p:attrName>
                                        </p:attrNameLst>
                                      </p:cBhvr>
                                      <p:tavLst>
                                        <p:tav tm="0">
                                          <p:val>
                                            <p:strVal val="#ppt_x"/>
                                          </p:val>
                                        </p:tav>
                                        <p:tav tm="100000">
                                          <p:val>
                                            <p:strVal val="#ppt_x"/>
                                          </p:val>
                                        </p:tav>
                                      </p:tavLst>
                                    </p:anim>
                                    <p:anim calcmode="lin" valueType="num">
                                      <p:cBhvr>
                                        <p:cTn id="24" dur="25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Cohort Analysis &amp; A/B Testing Outcomes</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STATISTICAL VALIDATION</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10</a:t>
            </a:r>
            <a:endParaRPr lang="en-US" sz="700" dirty="0"/>
          </a:p>
        </p:txBody>
      </p:sp>
      <p:sp>
        <p:nvSpPr>
          <p:cNvPr id="8" name="Shape 6"/>
          <p:cNvSpPr/>
          <p:nvPr/>
        </p:nvSpPr>
        <p:spPr>
          <a:xfrm>
            <a:off x="365760" y="868680"/>
            <a:ext cx="3931920" cy="3794760"/>
          </a:xfrm>
          <a:prstGeom prst="roundRect">
            <a:avLst>
              <a:gd name="adj" fmla="val 1446"/>
            </a:avLst>
          </a:prstGeom>
          <a:solidFill>
            <a:srgbClr val="FFFFFF"/>
          </a:solidFill>
          <a:ln w="9525">
            <a:solidFill>
              <a:srgbClr val="E2E8F0"/>
            </a:solidFill>
            <a:prstDash val="solid"/>
          </a:ln>
        </p:spPr>
      </p:sp>
      <p:sp>
        <p:nvSpPr>
          <p:cNvPr id="9" name="Text 7"/>
          <p:cNvSpPr/>
          <p:nvPr/>
        </p:nvSpPr>
        <p:spPr>
          <a:xfrm>
            <a:off x="502920" y="960120"/>
            <a:ext cx="3657600" cy="22860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Machine Uptime Retention</a:t>
            </a:r>
            <a:endParaRPr lang="en-US" sz="1200" dirty="0"/>
          </a:p>
        </p:txBody>
      </p:sp>
      <p:graphicFrame>
        <p:nvGraphicFramePr>
          <p:cNvPr id="10" name="Chart 0"/>
          <p:cNvGraphicFramePr/>
          <p:nvPr/>
        </p:nvGraphicFramePr>
        <p:xfrm>
          <a:off x="457200" y="1234440"/>
          <a:ext cx="374904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p:nvPr/>
        </p:nvSpPr>
        <p:spPr>
          <a:xfrm>
            <a:off x="502920" y="3154680"/>
            <a:ext cx="3657600" cy="1371600"/>
          </a:xfrm>
          <a:prstGeom prst="rect">
            <a:avLst/>
          </a:prstGeom>
          <a:noFill/>
          <a:ln/>
        </p:spPr>
        <p:txBody>
          <a:bodyPr wrap="square" rtlCol="0" anchor="ctr"/>
          <a:lstStyle/>
          <a:p>
            <a:pPr marL="0" indent="0">
              <a:lnSpc>
                <a:spcPts val="1100"/>
              </a:lnSpc>
              <a:buNone/>
            </a:pPr>
            <a:r>
              <a:rPr lang="en-US" sz="850" b="1" dirty="0">
                <a:solidFill>
                  <a:srgbClr val="EF4444"/>
                </a:solidFill>
                <a:latin typeface="Arial" pitchFamily="34" charset="0"/>
                <a:ea typeface="Arial" pitchFamily="34" charset="-122"/>
                <a:cs typeface="Arial" pitchFamily="34" charset="-120"/>
              </a:rPr>
              <a:t>• Unremediated machines drop to 72% uptime
</a:t>
            </a:r>
            <a:r>
              <a:rPr lang="en-US" sz="850" b="1" dirty="0">
                <a:solidFill>
                  <a:srgbClr val="10B981"/>
                </a:solidFill>
                <a:latin typeface="Arial" pitchFamily="34" charset="0"/>
                <a:ea typeface="Arial" pitchFamily="34" charset="-122"/>
                <a:cs typeface="Arial" pitchFamily="34" charset="-120"/>
              </a:rPr>
              <a:t>• After training + calibration → 98% retention
</a:t>
            </a:r>
            <a:r>
              <a:rPr lang="en-US" sz="850" dirty="0">
                <a:solidFill>
                  <a:srgbClr val="2D3748"/>
                </a:solidFill>
                <a:latin typeface="Arial" pitchFamily="34" charset="0"/>
                <a:ea typeface="Arial" pitchFamily="34" charset="-122"/>
                <a:cs typeface="Arial" pitchFamily="34" charset="-120"/>
              </a:rPr>
              <a:t>• Action: Mandatory weekly calibration + operator training</a:t>
            </a:r>
            <a:endParaRPr lang="en-US" sz="850" dirty="0"/>
          </a:p>
        </p:txBody>
      </p:sp>
      <p:sp>
        <p:nvSpPr>
          <p:cNvPr id="12" name="Shape 9"/>
          <p:cNvSpPr/>
          <p:nvPr/>
        </p:nvSpPr>
        <p:spPr>
          <a:xfrm>
            <a:off x="4434840" y="868680"/>
            <a:ext cx="4297680" cy="3794760"/>
          </a:xfrm>
          <a:prstGeom prst="roundRect">
            <a:avLst>
              <a:gd name="adj" fmla="val 1446"/>
            </a:avLst>
          </a:prstGeom>
          <a:solidFill>
            <a:srgbClr val="FFFFFF"/>
          </a:solidFill>
          <a:ln w="9525">
            <a:solidFill>
              <a:srgbClr val="E2E8F0"/>
            </a:solidFill>
            <a:prstDash val="solid"/>
          </a:ln>
        </p:spPr>
      </p:sp>
      <p:sp>
        <p:nvSpPr>
          <p:cNvPr id="13" name="Text 10"/>
          <p:cNvSpPr/>
          <p:nvPr/>
        </p:nvSpPr>
        <p:spPr>
          <a:xfrm>
            <a:off x="4572000" y="960120"/>
            <a:ext cx="4023360" cy="22860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Quality Inspection A/B Test</a:t>
            </a:r>
            <a:endParaRPr lang="en-US" sz="1200" dirty="0"/>
          </a:p>
        </p:txBody>
      </p:sp>
      <p:graphicFrame>
        <p:nvGraphicFramePr>
          <p:cNvPr id="14" name="Chart 1"/>
          <p:cNvGraphicFramePr/>
          <p:nvPr/>
        </p:nvGraphicFramePr>
        <p:xfrm>
          <a:off x="4526280" y="1234440"/>
          <a:ext cx="4114800" cy="1828800"/>
        </p:xfrm>
        <a:graphic>
          <a:graphicData uri="http://schemas.openxmlformats.org/drawingml/2006/chart">
            <c:chart xmlns:c="http://schemas.openxmlformats.org/drawingml/2006/chart" xmlns:r="http://schemas.openxmlformats.org/officeDocument/2006/relationships" r:id="rId4"/>
          </a:graphicData>
        </a:graphic>
      </p:graphicFrame>
      <p:sp>
        <p:nvSpPr>
          <p:cNvPr id="15" name="Text 11"/>
          <p:cNvSpPr/>
          <p:nvPr/>
        </p:nvSpPr>
        <p:spPr>
          <a:xfrm>
            <a:off x="4572000" y="3154680"/>
            <a:ext cx="4023360" cy="1371600"/>
          </a:xfrm>
          <a:prstGeom prst="rect">
            <a:avLst/>
          </a:prstGeom>
          <a:noFill/>
          <a:ln/>
        </p:spPr>
        <p:txBody>
          <a:bodyPr wrap="square" rtlCol="0" anchor="ctr"/>
          <a:lstStyle/>
          <a:p>
            <a:pPr marL="0" indent="0">
              <a:lnSpc>
                <a:spcPts val="1100"/>
              </a:lnSpc>
              <a:buNone/>
            </a:pPr>
            <a:r>
              <a:rPr lang="en-US" sz="850" b="1" dirty="0">
                <a:solidFill>
                  <a:srgbClr val="10B981"/>
                </a:solidFill>
                <a:latin typeface="Arial" pitchFamily="34" charset="0"/>
                <a:ea typeface="Arial" pitchFamily="34" charset="-122"/>
                <a:cs typeface="Arial" pitchFamily="34" charset="-120"/>
              </a:rPr>
              <a:t>• Method B: 12% defect reduction, 8x faster
</a:t>
            </a:r>
            <a:r>
              <a:rPr lang="en-US" sz="850" b="1" dirty="0">
                <a:solidFill>
                  <a:srgbClr val="2D3748"/>
                </a:solidFill>
                <a:latin typeface="Arial" pitchFamily="34" charset="0"/>
                <a:ea typeface="Arial" pitchFamily="34" charset="-122"/>
                <a:cs typeface="Arial" pitchFamily="34" charset="-120"/>
              </a:rPr>
              <a:t>• NPV: $2.8M over 3 years (vs $500K CAPEX)
</a:t>
            </a:r>
            <a:r>
              <a:rPr lang="en-US" sz="850" dirty="0">
                <a:solidFill>
                  <a:srgbClr val="2D3748"/>
                </a:solidFill>
                <a:latin typeface="Arial" pitchFamily="34" charset="0"/>
                <a:ea typeface="Arial" pitchFamily="34" charset="-122"/>
                <a:cs typeface="Arial" pitchFamily="34" charset="-120"/>
              </a:rPr>
              <a:t>• Verdict: Scale automated inspection across plants</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DBMS Concepts: ACID · Indexing · Partitioning · Sharding</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DATA ARCHITECTURE</a:t>
            </a:r>
            <a:endParaRPr lang="en-US" sz="800" dirty="0"/>
          </a:p>
        </p:txBody>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11</a:t>
            </a:r>
            <a:endParaRPr lang="en-US" sz="700" dirty="0"/>
          </a:p>
        </p:txBody>
      </p:sp>
      <p:sp>
        <p:nvSpPr>
          <p:cNvPr id="8" name="Shape 6"/>
          <p:cNvSpPr/>
          <p:nvPr/>
        </p:nvSpPr>
        <p:spPr>
          <a:xfrm>
            <a:off x="365760" y="868680"/>
            <a:ext cx="3931920" cy="1828800"/>
          </a:xfrm>
          <a:prstGeom prst="roundRect">
            <a:avLst>
              <a:gd name="adj" fmla="val 3000"/>
            </a:avLst>
          </a:prstGeom>
          <a:solidFill>
            <a:srgbClr val="FFFFFF"/>
          </a:solidFill>
          <a:ln w="9525">
            <a:solidFill>
              <a:srgbClr val="E2E8F0"/>
            </a:solidFill>
            <a:prstDash val="solid"/>
          </a:ln>
        </p:spPr>
      </p:sp>
      <p:sp>
        <p:nvSpPr>
          <p:cNvPr id="9" name="Text 7"/>
          <p:cNvSpPr/>
          <p:nvPr/>
        </p:nvSpPr>
        <p:spPr>
          <a:xfrm>
            <a:off x="457200" y="914400"/>
            <a:ext cx="2286000" cy="201168"/>
          </a:xfrm>
          <a:prstGeom prst="rect">
            <a:avLst/>
          </a:prstGeom>
          <a:noFill/>
          <a:ln/>
        </p:spPr>
        <p:txBody>
          <a:bodyPr wrap="square" rtlCol="0" anchor="ctr"/>
          <a:lstStyle/>
          <a:p>
            <a:pPr marL="0" indent="0">
              <a:buNone/>
            </a:pPr>
            <a:r>
              <a:rPr lang="en-US" sz="1000" b="1" dirty="0">
                <a:solidFill>
                  <a:srgbClr val="0B1D35"/>
                </a:solidFill>
                <a:latin typeface="Arial" pitchFamily="34" charset="0"/>
                <a:ea typeface="Arial" pitchFamily="34" charset="-122"/>
                <a:cs typeface="Arial" pitchFamily="34" charset="-120"/>
              </a:rPr>
              <a:t>ACID Transaction Safety</a:t>
            </a:r>
            <a:endParaRPr lang="en-US" sz="1000" dirty="0"/>
          </a:p>
        </p:txBody>
      </p:sp>
      <p:sp>
        <p:nvSpPr>
          <p:cNvPr id="10" name="Shape 8"/>
          <p:cNvSpPr/>
          <p:nvPr/>
        </p:nvSpPr>
        <p:spPr>
          <a:xfrm>
            <a:off x="457200" y="1170432"/>
            <a:ext cx="3749040" cy="1417320"/>
          </a:xfrm>
          <a:prstGeom prst="roundRect">
            <a:avLst>
              <a:gd name="adj" fmla="val 2581"/>
            </a:avLst>
          </a:prstGeom>
          <a:solidFill>
            <a:srgbClr val="1E293B"/>
          </a:solidFill>
          <a:ln w="6350">
            <a:solidFill>
              <a:srgbClr val="0B1D35"/>
            </a:solidFill>
            <a:prstDash val="solid"/>
          </a:ln>
        </p:spPr>
      </p:sp>
      <p:sp>
        <p:nvSpPr>
          <p:cNvPr id="11" name="Text 9"/>
          <p:cNvSpPr/>
          <p:nvPr/>
        </p:nvSpPr>
        <p:spPr>
          <a:xfrm>
            <a:off x="566928" y="1261872"/>
            <a:ext cx="3529584" cy="1234440"/>
          </a:xfrm>
          <a:prstGeom prst="rect">
            <a:avLst/>
          </a:prstGeom>
          <a:noFill/>
          <a:ln/>
        </p:spPr>
        <p:txBody>
          <a:bodyPr wrap="square" rtlCol="0" anchor="ctr"/>
          <a:lstStyle/>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BEGIN;</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UPDATE inventory SET stock = stock - 1;</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INSERT INTO sales VALUES (50021);</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COMMIT;</a:t>
            </a:r>
            <a:endParaRPr lang="en-US" sz="850" dirty="0"/>
          </a:p>
        </p:txBody>
      </p:sp>
      <p:sp>
        <p:nvSpPr>
          <p:cNvPr id="12" name="Shape 10"/>
          <p:cNvSpPr/>
          <p:nvPr/>
        </p:nvSpPr>
        <p:spPr>
          <a:xfrm>
            <a:off x="3383280" y="1280160"/>
            <a:ext cx="548640" cy="548640"/>
          </a:xfrm>
          <a:prstGeom prst="ellipse">
            <a:avLst/>
          </a:prstGeom>
          <a:solidFill>
            <a:srgbClr val="10B981"/>
          </a:solidFill>
          <a:ln/>
        </p:spPr>
      </p:sp>
      <p:sp>
        <p:nvSpPr>
          <p:cNvPr id="13" name="Text 11"/>
          <p:cNvSpPr/>
          <p:nvPr/>
        </p:nvSpPr>
        <p:spPr>
          <a:xfrm>
            <a:off x="3383280" y="1280160"/>
            <a:ext cx="548640" cy="548640"/>
          </a:xfrm>
          <a:prstGeom prst="rect">
            <a:avLst/>
          </a:prstGeom>
          <a:noFill/>
          <a:ln/>
        </p:spPr>
        <p:txBody>
          <a:bodyPr wrap="square" rtlCol="0" anchor="ctr"/>
          <a:lstStyle/>
          <a:p>
            <a:pPr marL="0" indent="0" algn="ctr">
              <a:buNone/>
            </a:pPr>
            <a:r>
              <a:rPr lang="en-US" sz="1000" b="1" dirty="0">
                <a:solidFill>
                  <a:srgbClr val="FFFFFF"/>
                </a:solidFill>
              </a:rPr>
              <a:t>SAFE</a:t>
            </a:r>
            <a:endParaRPr lang="en-US" sz="1000" dirty="0"/>
          </a:p>
        </p:txBody>
      </p:sp>
      <p:sp>
        <p:nvSpPr>
          <p:cNvPr id="14" name="Shape 12"/>
          <p:cNvSpPr/>
          <p:nvPr/>
        </p:nvSpPr>
        <p:spPr>
          <a:xfrm>
            <a:off x="4434840" y="868680"/>
            <a:ext cx="4297680" cy="1828800"/>
          </a:xfrm>
          <a:prstGeom prst="roundRect">
            <a:avLst>
              <a:gd name="adj" fmla="val 3000"/>
            </a:avLst>
          </a:prstGeom>
          <a:solidFill>
            <a:srgbClr val="FFFFFF"/>
          </a:solidFill>
          <a:ln w="9525">
            <a:solidFill>
              <a:srgbClr val="E2E8F0"/>
            </a:solidFill>
            <a:prstDash val="solid"/>
          </a:ln>
        </p:spPr>
      </p:sp>
      <p:sp>
        <p:nvSpPr>
          <p:cNvPr id="15" name="Text 13"/>
          <p:cNvSpPr/>
          <p:nvPr/>
        </p:nvSpPr>
        <p:spPr>
          <a:xfrm>
            <a:off x="4526280" y="914400"/>
            <a:ext cx="2743200" cy="201168"/>
          </a:xfrm>
          <a:prstGeom prst="rect">
            <a:avLst/>
          </a:prstGeom>
          <a:noFill/>
          <a:ln/>
        </p:spPr>
        <p:txBody>
          <a:bodyPr wrap="square" rtlCol="0" anchor="ctr"/>
          <a:lstStyle/>
          <a:p>
            <a:pPr marL="0" indent="0">
              <a:buNone/>
            </a:pPr>
            <a:r>
              <a:rPr lang="en-US" sz="1000" b="1" dirty="0">
                <a:solidFill>
                  <a:srgbClr val="3EA6FF"/>
                </a:solidFill>
                <a:latin typeface="Arial" pitchFamily="34" charset="0"/>
                <a:ea typeface="Arial" pitchFamily="34" charset="-122"/>
                <a:cs typeface="Arial" pitchFamily="34" charset="-120"/>
              </a:rPr>
              <a:t>B-Tree &amp; Composite Indexing</a:t>
            </a:r>
            <a:endParaRPr lang="en-US" sz="1000" dirty="0"/>
          </a:p>
        </p:txBody>
      </p:sp>
      <p:sp>
        <p:nvSpPr>
          <p:cNvPr id="16" name="Shape 14"/>
          <p:cNvSpPr/>
          <p:nvPr/>
        </p:nvSpPr>
        <p:spPr>
          <a:xfrm>
            <a:off x="4526280" y="1170432"/>
            <a:ext cx="4114800" cy="1417320"/>
          </a:xfrm>
          <a:prstGeom prst="roundRect">
            <a:avLst>
              <a:gd name="adj" fmla="val 2581"/>
            </a:avLst>
          </a:prstGeom>
          <a:solidFill>
            <a:srgbClr val="1E293B"/>
          </a:solidFill>
          <a:ln w="6350">
            <a:solidFill>
              <a:srgbClr val="0B1D35"/>
            </a:solidFill>
            <a:prstDash val="solid"/>
          </a:ln>
        </p:spPr>
      </p:sp>
      <p:sp>
        <p:nvSpPr>
          <p:cNvPr id="17" name="Text 15"/>
          <p:cNvSpPr/>
          <p:nvPr/>
        </p:nvSpPr>
        <p:spPr>
          <a:xfrm>
            <a:off x="4636008" y="1261872"/>
            <a:ext cx="3895344" cy="1234440"/>
          </a:xfrm>
          <a:prstGeom prst="rect">
            <a:avLst/>
          </a:prstGeom>
          <a:noFill/>
          <a:ln/>
        </p:spPr>
        <p:txBody>
          <a:bodyPr wrap="square" rtlCol="0" anchor="ctr"/>
          <a:lstStyle/>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CREATE INDEX idx_sales_composite</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ON sales_order (date, dealer_id);</a:t>
            </a:r>
            <a:endParaRPr lang="en-US" sz="850" dirty="0"/>
          </a:p>
          <a:p>
            <a:pPr marL="0" indent="0">
              <a:lnSpc>
                <a:spcPts val="1000"/>
              </a:lnSpc>
              <a:buNone/>
            </a:pP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Eliminates full table scans</a:t>
            </a:r>
            <a:endParaRPr lang="en-US" sz="850" dirty="0"/>
          </a:p>
        </p:txBody>
      </p:sp>
      <p:sp>
        <p:nvSpPr>
          <p:cNvPr id="18" name="Shape 16"/>
          <p:cNvSpPr/>
          <p:nvPr/>
        </p:nvSpPr>
        <p:spPr>
          <a:xfrm>
            <a:off x="7589520" y="1280160"/>
            <a:ext cx="731520" cy="365760"/>
          </a:xfrm>
          <a:prstGeom prst="rightArrow">
            <a:avLst/>
          </a:prstGeom>
          <a:solidFill>
            <a:srgbClr val="3EA6FF"/>
          </a:solidFill>
          <a:ln/>
        </p:spPr>
      </p:sp>
      <p:sp>
        <p:nvSpPr>
          <p:cNvPr id="19" name="Text 17"/>
          <p:cNvSpPr/>
          <p:nvPr/>
        </p:nvSpPr>
        <p:spPr>
          <a:xfrm>
            <a:off x="7589520" y="1280160"/>
            <a:ext cx="731520" cy="365760"/>
          </a:xfrm>
          <a:prstGeom prst="rect">
            <a:avLst/>
          </a:prstGeom>
          <a:noFill/>
          <a:ln/>
        </p:spPr>
        <p:txBody>
          <a:bodyPr wrap="square" rtlCol="0" anchor="ctr"/>
          <a:lstStyle/>
          <a:p>
            <a:pPr marL="0" indent="0" algn="ctr">
              <a:buNone/>
            </a:pPr>
            <a:r>
              <a:rPr lang="en-US" sz="1000" b="1" dirty="0">
                <a:solidFill>
                  <a:srgbClr val="FFFFFF"/>
                </a:solidFill>
              </a:rPr>
              <a:t>FAST</a:t>
            </a:r>
            <a:endParaRPr lang="en-US" sz="1000" dirty="0"/>
          </a:p>
        </p:txBody>
      </p:sp>
      <p:sp>
        <p:nvSpPr>
          <p:cNvPr id="20" name="Shape 18"/>
          <p:cNvSpPr/>
          <p:nvPr/>
        </p:nvSpPr>
        <p:spPr>
          <a:xfrm>
            <a:off x="365760" y="2880360"/>
            <a:ext cx="3931920" cy="1828800"/>
          </a:xfrm>
          <a:prstGeom prst="roundRect">
            <a:avLst>
              <a:gd name="adj" fmla="val 3000"/>
            </a:avLst>
          </a:prstGeom>
          <a:solidFill>
            <a:srgbClr val="FFFFFF"/>
          </a:solidFill>
          <a:ln w="9525">
            <a:solidFill>
              <a:srgbClr val="E2E8F0"/>
            </a:solidFill>
            <a:prstDash val="solid"/>
          </a:ln>
        </p:spPr>
      </p:sp>
      <p:sp>
        <p:nvSpPr>
          <p:cNvPr id="21" name="Text 19"/>
          <p:cNvSpPr/>
          <p:nvPr/>
        </p:nvSpPr>
        <p:spPr>
          <a:xfrm>
            <a:off x="457200" y="2926080"/>
            <a:ext cx="2286000" cy="201168"/>
          </a:xfrm>
          <a:prstGeom prst="rect">
            <a:avLst/>
          </a:prstGeom>
          <a:noFill/>
          <a:ln/>
        </p:spPr>
        <p:txBody>
          <a:bodyPr wrap="square" rtlCol="0" anchor="ctr"/>
          <a:lstStyle/>
          <a:p>
            <a:pPr marL="0" indent="0">
              <a:buNone/>
            </a:pPr>
            <a:r>
              <a:rPr lang="en-US" sz="1000" b="1" dirty="0">
                <a:solidFill>
                  <a:srgbClr val="F58220"/>
                </a:solidFill>
                <a:latin typeface="Arial" pitchFamily="34" charset="0"/>
                <a:ea typeface="Arial" pitchFamily="34" charset="-122"/>
                <a:cs typeface="Arial" pitchFamily="34" charset="-120"/>
              </a:rPr>
              <a:t>Range &amp; Geo Partitioning</a:t>
            </a:r>
            <a:endParaRPr lang="en-US" sz="1000" dirty="0"/>
          </a:p>
        </p:txBody>
      </p:sp>
      <p:sp>
        <p:nvSpPr>
          <p:cNvPr id="22" name="Shape 20"/>
          <p:cNvSpPr/>
          <p:nvPr/>
        </p:nvSpPr>
        <p:spPr>
          <a:xfrm>
            <a:off x="457200" y="3182112"/>
            <a:ext cx="3749040" cy="1417320"/>
          </a:xfrm>
          <a:prstGeom prst="roundRect">
            <a:avLst>
              <a:gd name="adj" fmla="val 2581"/>
            </a:avLst>
          </a:prstGeom>
          <a:solidFill>
            <a:srgbClr val="1E293B"/>
          </a:solidFill>
          <a:ln w="6350">
            <a:solidFill>
              <a:srgbClr val="0B1D35"/>
            </a:solidFill>
            <a:prstDash val="solid"/>
          </a:ln>
        </p:spPr>
      </p:sp>
      <p:sp>
        <p:nvSpPr>
          <p:cNvPr id="23" name="Text 21"/>
          <p:cNvSpPr/>
          <p:nvPr/>
        </p:nvSpPr>
        <p:spPr>
          <a:xfrm>
            <a:off x="566928" y="3273552"/>
            <a:ext cx="3529584" cy="1234440"/>
          </a:xfrm>
          <a:prstGeom prst="rect">
            <a:avLst/>
          </a:prstGeom>
          <a:noFill/>
          <a:ln/>
        </p:spPr>
        <p:txBody>
          <a:bodyPr wrap="square" rtlCol="0" anchor="ctr"/>
          <a:lstStyle/>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CREATE TABLE sales_2025_q1</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PARTITION OF sales_partitioned</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FOR VALUES FROM ('2025-01-01');</a:t>
            </a:r>
            <a:endParaRPr lang="en-US" sz="850" dirty="0"/>
          </a:p>
        </p:txBody>
      </p:sp>
      <p:sp>
        <p:nvSpPr>
          <p:cNvPr id="24" name="Shape 22"/>
          <p:cNvSpPr/>
          <p:nvPr/>
        </p:nvSpPr>
        <p:spPr>
          <a:xfrm>
            <a:off x="3200400" y="3291840"/>
            <a:ext cx="365760" cy="274320"/>
          </a:xfrm>
          <a:prstGeom prst="rect">
            <a:avLst/>
          </a:prstGeom>
          <a:solidFill>
            <a:srgbClr val="F58220"/>
          </a:solidFill>
          <a:ln/>
        </p:spPr>
      </p:sp>
      <p:sp>
        <p:nvSpPr>
          <p:cNvPr id="25" name="Shape 23"/>
          <p:cNvSpPr/>
          <p:nvPr/>
        </p:nvSpPr>
        <p:spPr>
          <a:xfrm>
            <a:off x="3657600" y="3291840"/>
            <a:ext cx="365760" cy="274320"/>
          </a:xfrm>
          <a:prstGeom prst="rect">
            <a:avLst/>
          </a:prstGeom>
          <a:solidFill>
            <a:srgbClr val="F59E0B"/>
          </a:solidFill>
          <a:ln/>
        </p:spPr>
      </p:sp>
      <p:sp>
        <p:nvSpPr>
          <p:cNvPr id="26" name="Text 24"/>
          <p:cNvSpPr/>
          <p:nvPr/>
        </p:nvSpPr>
        <p:spPr>
          <a:xfrm>
            <a:off x="3200400" y="3657600"/>
            <a:ext cx="822960" cy="274320"/>
          </a:xfrm>
          <a:prstGeom prst="rect">
            <a:avLst/>
          </a:prstGeom>
          <a:noFill/>
          <a:ln/>
        </p:spPr>
        <p:txBody>
          <a:bodyPr wrap="square" rtlCol="0" anchor="ctr"/>
          <a:lstStyle/>
          <a:p>
            <a:pPr marL="0" indent="0" algn="ctr">
              <a:buNone/>
            </a:pPr>
            <a:r>
              <a:rPr lang="en-US" sz="800" b="1" dirty="0">
                <a:solidFill>
                  <a:srgbClr val="FFFFFF"/>
                </a:solidFill>
              </a:rPr>
              <a:t>SPLIT</a:t>
            </a:r>
            <a:endParaRPr lang="en-US" sz="800" dirty="0"/>
          </a:p>
        </p:txBody>
      </p:sp>
      <p:sp>
        <p:nvSpPr>
          <p:cNvPr id="27" name="Shape 25"/>
          <p:cNvSpPr/>
          <p:nvPr/>
        </p:nvSpPr>
        <p:spPr>
          <a:xfrm>
            <a:off x="4434840" y="2880360"/>
            <a:ext cx="4297680" cy="1828800"/>
          </a:xfrm>
          <a:prstGeom prst="roundRect">
            <a:avLst>
              <a:gd name="adj" fmla="val 3000"/>
            </a:avLst>
          </a:prstGeom>
          <a:solidFill>
            <a:srgbClr val="FFFFFF"/>
          </a:solidFill>
          <a:ln w="9525">
            <a:solidFill>
              <a:srgbClr val="E2E8F0"/>
            </a:solidFill>
            <a:prstDash val="solid"/>
          </a:ln>
        </p:spPr>
      </p:sp>
      <p:sp>
        <p:nvSpPr>
          <p:cNvPr id="28" name="Text 26"/>
          <p:cNvSpPr/>
          <p:nvPr/>
        </p:nvSpPr>
        <p:spPr>
          <a:xfrm>
            <a:off x="4526280" y="2926080"/>
            <a:ext cx="2743200" cy="201168"/>
          </a:xfrm>
          <a:prstGeom prst="rect">
            <a:avLst/>
          </a:prstGeom>
          <a:noFill/>
          <a:ln/>
        </p:spPr>
        <p:txBody>
          <a:bodyPr wrap="square" rtlCol="0" anchor="ctr"/>
          <a:lstStyle/>
          <a:p>
            <a:pPr marL="0" indent="0">
              <a:buNone/>
            </a:pPr>
            <a:r>
              <a:rPr lang="en-US" sz="1000" b="1" dirty="0">
                <a:solidFill>
                  <a:srgbClr val="10B981"/>
                </a:solidFill>
                <a:latin typeface="Arial" pitchFamily="34" charset="0"/>
                <a:ea typeface="Arial" pitchFamily="34" charset="-122"/>
                <a:cs typeface="Arial" pitchFamily="34" charset="-120"/>
              </a:rPr>
              <a:t>Horizontal Sharding (Citus)</a:t>
            </a:r>
            <a:endParaRPr lang="en-US" sz="1000" dirty="0"/>
          </a:p>
        </p:txBody>
      </p:sp>
      <p:sp>
        <p:nvSpPr>
          <p:cNvPr id="29" name="Shape 27"/>
          <p:cNvSpPr/>
          <p:nvPr/>
        </p:nvSpPr>
        <p:spPr>
          <a:xfrm>
            <a:off x="4526280" y="3182112"/>
            <a:ext cx="4114800" cy="1417320"/>
          </a:xfrm>
          <a:prstGeom prst="roundRect">
            <a:avLst>
              <a:gd name="adj" fmla="val 2581"/>
            </a:avLst>
          </a:prstGeom>
          <a:solidFill>
            <a:srgbClr val="1E293B"/>
          </a:solidFill>
          <a:ln w="6350">
            <a:solidFill>
              <a:srgbClr val="0B1D35"/>
            </a:solidFill>
            <a:prstDash val="solid"/>
          </a:ln>
        </p:spPr>
      </p:sp>
      <p:sp>
        <p:nvSpPr>
          <p:cNvPr id="30" name="Text 28"/>
          <p:cNvSpPr/>
          <p:nvPr/>
        </p:nvSpPr>
        <p:spPr>
          <a:xfrm>
            <a:off x="4636008" y="3273552"/>
            <a:ext cx="3895344" cy="1234440"/>
          </a:xfrm>
          <a:prstGeom prst="rect">
            <a:avLst/>
          </a:prstGeom>
          <a:noFill/>
          <a:ln/>
        </p:spPr>
        <p:txBody>
          <a:bodyPr wrap="square" rtlCol="0" anchor="ctr"/>
          <a:lstStyle/>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SELECT create_distributed_table(</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'machine_sensor_logs',</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'factory_id'</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p:txBody>
      </p:sp>
      <p:sp>
        <p:nvSpPr>
          <p:cNvPr id="31" name="Shape 29"/>
          <p:cNvSpPr/>
          <p:nvPr/>
        </p:nvSpPr>
        <p:spPr>
          <a:xfrm>
            <a:off x="7589520" y="3291840"/>
            <a:ext cx="731520" cy="457200"/>
          </a:xfrm>
          <a:prstGeom prst="cloud">
            <a:avLst/>
          </a:prstGeom>
          <a:solidFill>
            <a:srgbClr val="0B1D35"/>
          </a:solidFill>
          <a:ln/>
        </p:spPr>
      </p:sp>
      <p:sp>
        <p:nvSpPr>
          <p:cNvPr id="32" name="Text 30"/>
          <p:cNvSpPr/>
          <p:nvPr/>
        </p:nvSpPr>
        <p:spPr>
          <a:xfrm>
            <a:off x="7589520" y="3291840"/>
            <a:ext cx="731520" cy="457200"/>
          </a:xfrm>
          <a:prstGeom prst="rect">
            <a:avLst/>
          </a:prstGeom>
          <a:noFill/>
          <a:ln/>
        </p:spPr>
        <p:txBody>
          <a:bodyPr wrap="square" rtlCol="0" anchor="ctr"/>
          <a:lstStyle/>
          <a:p>
            <a:pPr marL="0" indent="0" algn="ctr">
              <a:buNone/>
            </a:pPr>
            <a:r>
              <a:rPr lang="en-US" sz="800" b="1" dirty="0">
                <a:solidFill>
                  <a:srgbClr val="FFFFFF"/>
                </a:solidFill>
              </a:rPr>
              <a:t>SCALE</a:t>
            </a:r>
            <a:endParaRPr lang="en-US" sz="800" dirty="0"/>
          </a:p>
        </p:txBody>
      </p:sp>
      <p:sp>
        <p:nvSpPr>
          <p:cNvPr id="33" name="Shape 3">
            <a:extLst>
              <a:ext uri="{FF2B5EF4-FFF2-40B4-BE49-F238E27FC236}">
                <a16:creationId xmlns:a16="http://schemas.microsoft.com/office/drawing/2014/main" id="{FD6C1E7C-4887-A04E-EC1D-F15E27B21A47}"/>
              </a:ext>
            </a:extLst>
          </p:cNvPr>
          <p:cNvSpPr/>
          <p:nvPr/>
        </p:nvSpPr>
        <p:spPr>
          <a:xfrm>
            <a:off x="495572" y="763524"/>
            <a:ext cx="8229600" cy="13716"/>
          </a:xfrm>
          <a:prstGeom prst="rect">
            <a:avLst/>
          </a:prstGeom>
          <a:solidFill>
            <a:srgbClr val="E2E8F0"/>
          </a:solidFill>
          <a:ln w="12700">
            <a:solidFill>
              <a:srgbClr val="E2E8F0"/>
            </a:solidFill>
            <a:prstDash val="solid"/>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250"/>
                                        <p:tgtEl>
                                          <p:spTgt spid="13"/>
                                        </p:tgtEl>
                                      </p:cBhvr>
                                    </p:animEffect>
                                  </p:childTnLst>
                                </p:cTn>
                              </p:par>
                            </p:childTnLst>
                          </p:cTn>
                        </p:par>
                        <p:par>
                          <p:cTn id="8" fill="hold">
                            <p:stCondLst>
                              <p:cond delay="250"/>
                            </p:stCondLst>
                            <p:childTnLst>
                              <p:par>
                                <p:cTn id="9" presetID="22" presetClass="entr" presetSubtype="8"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250"/>
                                        <p:tgtEl>
                                          <p:spTgt spid="19"/>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250"/>
                                        <p:tgtEl>
                                          <p:spTgt spid="25"/>
                                        </p:tgtEl>
                                      </p:cBhvr>
                                    </p:animEffect>
                                  </p:childTnLst>
                                </p:cTn>
                              </p:par>
                            </p:childTnLst>
                          </p:cTn>
                        </p:par>
                        <p:par>
                          <p:cTn id="16" fill="hold">
                            <p:stCondLst>
                              <p:cond delay="750"/>
                            </p:stCondLst>
                            <p:childTnLst>
                              <p:par>
                                <p:cTn id="17" presetID="22" presetClass="entr" presetSubtype="8"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left)">
                                      <p:cBhvr>
                                        <p:cTn id="19" dur="250"/>
                                        <p:tgtEl>
                                          <p:spTgt spid="24"/>
                                        </p:tgtEl>
                                      </p:cBhvr>
                                    </p:animEffect>
                                  </p:childTnLst>
                                </p:cTn>
                              </p:par>
                            </p:childTnLst>
                          </p:cTn>
                        </p:par>
                        <p:par>
                          <p:cTn id="20" fill="hold">
                            <p:stCondLst>
                              <p:cond delay="1000"/>
                            </p:stCondLst>
                            <p:childTnLst>
                              <p:par>
                                <p:cTn id="21" presetID="22" presetClass="entr" presetSubtype="4" fill="hold" grpId="0"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down)">
                                      <p:cBhvr>
                                        <p:cTn id="23" dur="2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9" grpId="0" animBg="1"/>
      <p:bldP spid="3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Data Lake vs Data Warehouse Architecture</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STORAGE STRATEGY</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12</a:t>
            </a:r>
            <a:endParaRPr lang="en-US" sz="700" dirty="0"/>
          </a:p>
        </p:txBody>
      </p:sp>
      <p:sp>
        <p:nvSpPr>
          <p:cNvPr id="8" name="Shape 6"/>
          <p:cNvSpPr/>
          <p:nvPr/>
        </p:nvSpPr>
        <p:spPr>
          <a:xfrm>
            <a:off x="365760" y="868680"/>
            <a:ext cx="3931920" cy="1737360"/>
          </a:xfrm>
          <a:prstGeom prst="roundRect">
            <a:avLst>
              <a:gd name="adj" fmla="val 3158"/>
            </a:avLst>
          </a:prstGeom>
          <a:solidFill>
            <a:srgbClr val="FFFFFF"/>
          </a:solidFill>
          <a:ln w="9525">
            <a:solidFill>
              <a:srgbClr val="E2E8F0"/>
            </a:solidFill>
            <a:prstDash val="solid"/>
          </a:ln>
        </p:spPr>
      </p:sp>
      <p:sp>
        <p:nvSpPr>
          <p:cNvPr id="9" name="Shape 7"/>
          <p:cNvSpPr/>
          <p:nvPr/>
        </p:nvSpPr>
        <p:spPr>
          <a:xfrm>
            <a:off x="457200" y="914400"/>
            <a:ext cx="3749040" cy="36576"/>
          </a:xfrm>
          <a:prstGeom prst="rect">
            <a:avLst/>
          </a:prstGeom>
          <a:solidFill>
            <a:srgbClr val="F58220"/>
          </a:solidFill>
          <a:ln w="12700">
            <a:solidFill>
              <a:srgbClr val="F58220"/>
            </a:solidFill>
            <a:prstDash val="solid"/>
          </a:ln>
        </p:spPr>
      </p:sp>
      <p:sp>
        <p:nvSpPr>
          <p:cNvPr id="10" name="Text 8"/>
          <p:cNvSpPr/>
          <p:nvPr/>
        </p:nvSpPr>
        <p:spPr>
          <a:xfrm>
            <a:off x="502920" y="1024128"/>
            <a:ext cx="1828800" cy="201168"/>
          </a:xfrm>
          <a:prstGeom prst="rect">
            <a:avLst/>
          </a:prstGeom>
          <a:noFill/>
          <a:ln/>
        </p:spPr>
        <p:txBody>
          <a:bodyPr wrap="square" rtlCol="0" anchor="ctr"/>
          <a:lstStyle/>
          <a:p>
            <a:pPr marL="0" indent="0">
              <a:buNone/>
            </a:pPr>
            <a:r>
              <a:rPr lang="en-US" sz="1000" b="1" dirty="0">
                <a:solidFill>
                  <a:srgbClr val="F58220"/>
                </a:solidFill>
                <a:latin typeface="Arial" pitchFamily="34" charset="0"/>
                <a:ea typeface="Arial" pitchFamily="34" charset="-122"/>
                <a:cs typeface="Arial" pitchFamily="34" charset="-120"/>
              </a:rPr>
              <a:t>DATA WAREHOUSE</a:t>
            </a:r>
            <a:endParaRPr lang="en-US" sz="1000" dirty="0"/>
          </a:p>
        </p:txBody>
      </p:sp>
      <p:sp>
        <p:nvSpPr>
          <p:cNvPr id="11" name="Text 9"/>
          <p:cNvSpPr/>
          <p:nvPr/>
        </p:nvSpPr>
        <p:spPr>
          <a:xfrm>
            <a:off x="2377440" y="1024128"/>
            <a:ext cx="1828800" cy="201168"/>
          </a:xfrm>
          <a:prstGeom prst="rect">
            <a:avLst/>
          </a:prstGeom>
          <a:noFill/>
          <a:ln/>
        </p:spPr>
        <p:txBody>
          <a:bodyPr wrap="square" rtlCol="0" anchor="ctr"/>
          <a:lstStyle/>
          <a:p>
            <a:pPr marL="0" indent="0" algn="r">
              <a:buNone/>
            </a:pPr>
            <a:r>
              <a:rPr lang="en-US" sz="750" dirty="0">
                <a:solidFill>
                  <a:srgbClr val="64748B"/>
                </a:solidFill>
                <a:latin typeface="Arial" pitchFamily="34" charset="0"/>
                <a:ea typeface="Arial" pitchFamily="34" charset="-122"/>
                <a:cs typeface="Arial" pitchFamily="34" charset="-120"/>
              </a:rPr>
              <a:t>Structured · Indexed · Fast Queries</a:t>
            </a:r>
            <a:endParaRPr lang="en-US" sz="750" dirty="0"/>
          </a:p>
        </p:txBody>
      </p:sp>
      <p:sp>
        <p:nvSpPr>
          <p:cNvPr id="12" name="Text 10"/>
          <p:cNvSpPr/>
          <p:nvPr/>
        </p:nvSpPr>
        <p:spPr>
          <a:xfrm>
            <a:off x="502920" y="1280160"/>
            <a:ext cx="3657600" cy="1188720"/>
          </a:xfrm>
          <a:prstGeom prst="rect">
            <a:avLst/>
          </a:prstGeom>
          <a:noFill/>
          <a:ln/>
        </p:spPr>
        <p:txBody>
          <a:bodyPr wrap="square" rtlCol="0" anchor="ctr"/>
          <a:lstStyle/>
          <a:p>
            <a:pPr marL="0" indent="0">
              <a:lnSpc>
                <a:spcPts val="1100"/>
              </a:lnSpc>
              <a:buNone/>
            </a:pPr>
            <a:r>
              <a:rPr lang="en-US" sz="900" dirty="0">
                <a:solidFill>
                  <a:srgbClr val="2D3748"/>
                </a:solidFill>
                <a:latin typeface="Arial" pitchFamily="34" charset="0"/>
                <a:ea typeface="Arial" pitchFamily="34" charset="-122"/>
                <a:cs typeface="Arial" pitchFamily="34" charset="-120"/>
              </a:rPr>
              <a:t>Customer records, payment transactions, sales logs, and shipment metrics in PostgreSQL tables optimized for analytical queries and Power BI dashboards.</a:t>
            </a:r>
            <a:endParaRPr lang="en-US" sz="900" dirty="0"/>
          </a:p>
        </p:txBody>
      </p:sp>
      <p:sp>
        <p:nvSpPr>
          <p:cNvPr id="13" name="Shape 11"/>
          <p:cNvSpPr/>
          <p:nvPr/>
        </p:nvSpPr>
        <p:spPr>
          <a:xfrm>
            <a:off x="1371600" y="2697480"/>
            <a:ext cx="1828800" cy="320040"/>
          </a:xfrm>
          <a:prstGeom prst="roundRect">
            <a:avLst>
              <a:gd name="adj" fmla="val 11429"/>
            </a:avLst>
          </a:prstGeom>
          <a:solidFill>
            <a:srgbClr val="10B981"/>
          </a:solidFill>
          <a:ln w="12700">
            <a:solidFill>
              <a:srgbClr val="10B981"/>
            </a:solidFill>
            <a:prstDash val="solid"/>
          </a:ln>
        </p:spPr>
      </p:sp>
      <p:sp>
        <p:nvSpPr>
          <p:cNvPr id="14" name="Text 12"/>
          <p:cNvSpPr/>
          <p:nvPr/>
        </p:nvSpPr>
        <p:spPr>
          <a:xfrm>
            <a:off x="1371600" y="2697480"/>
            <a:ext cx="1828800" cy="320040"/>
          </a:xfrm>
          <a:prstGeom prst="rect">
            <a:avLst/>
          </a:prstGeom>
          <a:noFill/>
          <a:ln/>
        </p:spPr>
        <p:txBody>
          <a:bodyPr wrap="square" rtlCol="0" anchor="ctr"/>
          <a:lstStyle/>
          <a:p>
            <a:pPr algn="ctr"/>
            <a:r>
              <a:rPr lang="en-US" sz="900" b="1" dirty="0">
                <a:solidFill>
                  <a:srgbClr val="FFFFFF"/>
                </a:solidFill>
                <a:latin typeface="Arial" pitchFamily="34" charset="0"/>
                <a:ea typeface="Arial" pitchFamily="34" charset="-122"/>
                <a:cs typeface="Arial" pitchFamily="34" charset="-120"/>
              </a:rPr>
              <a:t>ETL BRIDGE </a:t>
            </a: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5" name="Shape 13"/>
          <p:cNvSpPr/>
          <p:nvPr/>
        </p:nvSpPr>
        <p:spPr>
          <a:xfrm>
            <a:off x="365760" y="3154680"/>
            <a:ext cx="3931920" cy="1508760"/>
          </a:xfrm>
          <a:prstGeom prst="roundRect">
            <a:avLst>
              <a:gd name="adj" fmla="val 3636"/>
            </a:avLst>
          </a:prstGeom>
          <a:solidFill>
            <a:srgbClr val="FFFFFF"/>
          </a:solidFill>
          <a:ln w="9525">
            <a:solidFill>
              <a:srgbClr val="E2E8F0"/>
            </a:solidFill>
            <a:prstDash val="solid"/>
          </a:ln>
        </p:spPr>
      </p:sp>
      <p:sp>
        <p:nvSpPr>
          <p:cNvPr id="16" name="Shape 14"/>
          <p:cNvSpPr/>
          <p:nvPr/>
        </p:nvSpPr>
        <p:spPr>
          <a:xfrm>
            <a:off x="457200" y="3200400"/>
            <a:ext cx="3749040" cy="36576"/>
          </a:xfrm>
          <a:prstGeom prst="rect">
            <a:avLst/>
          </a:prstGeom>
          <a:solidFill>
            <a:srgbClr val="3EA6FF"/>
          </a:solidFill>
          <a:ln w="12700">
            <a:solidFill>
              <a:srgbClr val="3EA6FF"/>
            </a:solidFill>
            <a:prstDash val="solid"/>
          </a:ln>
        </p:spPr>
      </p:sp>
      <p:sp>
        <p:nvSpPr>
          <p:cNvPr id="17" name="Text 15"/>
          <p:cNvSpPr/>
          <p:nvPr/>
        </p:nvSpPr>
        <p:spPr>
          <a:xfrm>
            <a:off x="502920" y="3310128"/>
            <a:ext cx="1828800" cy="201168"/>
          </a:xfrm>
          <a:prstGeom prst="rect">
            <a:avLst/>
          </a:prstGeom>
          <a:noFill/>
          <a:ln/>
        </p:spPr>
        <p:txBody>
          <a:bodyPr wrap="square" rtlCol="0" anchor="ctr"/>
          <a:lstStyle/>
          <a:p>
            <a:pPr marL="0" indent="0">
              <a:buNone/>
            </a:pPr>
            <a:r>
              <a:rPr lang="en-US" sz="1000" b="1" dirty="0">
                <a:solidFill>
                  <a:srgbClr val="3EA6FF"/>
                </a:solidFill>
                <a:latin typeface="Arial" pitchFamily="34" charset="0"/>
                <a:ea typeface="Arial" pitchFamily="34" charset="-122"/>
                <a:cs typeface="Arial" pitchFamily="34" charset="-120"/>
              </a:rPr>
              <a:t>DATA LAKE</a:t>
            </a:r>
            <a:endParaRPr lang="en-US" sz="1000" dirty="0"/>
          </a:p>
        </p:txBody>
      </p:sp>
      <p:sp>
        <p:nvSpPr>
          <p:cNvPr id="18" name="Text 16"/>
          <p:cNvSpPr/>
          <p:nvPr/>
        </p:nvSpPr>
        <p:spPr>
          <a:xfrm>
            <a:off x="2377440" y="3310128"/>
            <a:ext cx="1828800" cy="201168"/>
          </a:xfrm>
          <a:prstGeom prst="rect">
            <a:avLst/>
          </a:prstGeom>
          <a:noFill/>
          <a:ln/>
        </p:spPr>
        <p:txBody>
          <a:bodyPr wrap="square" rtlCol="0" anchor="ctr"/>
          <a:lstStyle/>
          <a:p>
            <a:pPr marL="0" indent="0" algn="r">
              <a:buNone/>
            </a:pPr>
            <a:r>
              <a:rPr lang="en-US" sz="750" dirty="0">
                <a:solidFill>
                  <a:srgbClr val="64748B"/>
                </a:solidFill>
                <a:latin typeface="Arial" pitchFamily="34" charset="0"/>
                <a:ea typeface="Arial" pitchFamily="34" charset="-122"/>
                <a:cs typeface="Arial" pitchFamily="34" charset="-120"/>
              </a:rPr>
              <a:t>Raw · Unstructured · Cheap Storage</a:t>
            </a:r>
            <a:endParaRPr lang="en-US" sz="750" dirty="0"/>
          </a:p>
        </p:txBody>
      </p:sp>
      <p:sp>
        <p:nvSpPr>
          <p:cNvPr id="19" name="Text 17"/>
          <p:cNvSpPr/>
          <p:nvPr/>
        </p:nvSpPr>
        <p:spPr>
          <a:xfrm>
            <a:off x="502920" y="3566160"/>
            <a:ext cx="3657600" cy="960120"/>
          </a:xfrm>
          <a:prstGeom prst="rect">
            <a:avLst/>
          </a:prstGeom>
          <a:noFill/>
          <a:ln/>
        </p:spPr>
        <p:txBody>
          <a:bodyPr wrap="square" rtlCol="0" anchor="ctr"/>
          <a:lstStyle/>
          <a:p>
            <a:pPr marL="0" indent="0">
              <a:lnSpc>
                <a:spcPts val="1100"/>
              </a:lnSpc>
              <a:buNone/>
            </a:pPr>
            <a:r>
              <a:rPr lang="en-US" sz="900" dirty="0">
                <a:solidFill>
                  <a:srgbClr val="2D3748"/>
                </a:solidFill>
                <a:latin typeface="Arial" pitchFamily="34" charset="0"/>
                <a:ea typeface="Arial" pitchFamily="34" charset="-122"/>
                <a:cs typeface="Arial" pitchFamily="34" charset="-120"/>
              </a:rPr>
              <a:t>IoT sensor telemetry, machine vibration logs, CCTV feeds, and raw CSV archives stored for ML training and batch analytics.</a:t>
            </a:r>
            <a:endParaRPr lang="en-US" sz="900" dirty="0"/>
          </a:p>
        </p:txBody>
      </p:sp>
      <p:sp>
        <p:nvSpPr>
          <p:cNvPr id="20" name="Shape 18"/>
          <p:cNvSpPr/>
          <p:nvPr/>
        </p:nvSpPr>
        <p:spPr>
          <a:xfrm>
            <a:off x="4434840" y="868680"/>
            <a:ext cx="4297680" cy="3794760"/>
          </a:xfrm>
          <a:prstGeom prst="roundRect">
            <a:avLst>
              <a:gd name="adj" fmla="val 1446"/>
            </a:avLst>
          </a:prstGeom>
          <a:solidFill>
            <a:srgbClr val="F8FAFC"/>
          </a:solidFill>
          <a:ln w="9525">
            <a:solidFill>
              <a:srgbClr val="E2E8F0"/>
            </a:solidFill>
            <a:prstDash val="solid"/>
          </a:ln>
        </p:spPr>
      </p:sp>
      <p:sp>
        <p:nvSpPr>
          <p:cNvPr id="21" name="Text 19"/>
          <p:cNvSpPr/>
          <p:nvPr/>
        </p:nvSpPr>
        <p:spPr>
          <a:xfrm>
            <a:off x="4572000" y="960120"/>
            <a:ext cx="4023360" cy="22860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Storage Architecture Diagram</a:t>
            </a:r>
            <a:endParaRPr lang="en-US" sz="1200" dirty="0"/>
          </a:p>
        </p:txBody>
      </p:sp>
      <p:pic>
        <p:nvPicPr>
          <p:cNvPr id="22" name="Image 0"/>
          <p:cNvPicPr>
            <a:picLocks noChangeAspect="1"/>
          </p:cNvPicPr>
          <p:nvPr/>
        </p:nvPicPr>
        <p:blipFill>
          <a:blip r:embed="rId3"/>
          <a:srcRect/>
          <a:stretch/>
        </p:blipFill>
        <p:spPr>
          <a:xfrm>
            <a:off x="4434840" y="1280160"/>
            <a:ext cx="4292780" cy="324612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250"/>
                                        <p:tgtEl>
                                          <p:spTgt spid="15"/>
                                        </p:tgtEl>
                                      </p:cBhvr>
                                    </p:animEffect>
                                  </p:childTnLst>
                                </p:cTn>
                              </p:par>
                            </p:childTnLst>
                          </p:cTn>
                        </p:par>
                        <p:par>
                          <p:cTn id="8" fill="hold">
                            <p:stCondLst>
                              <p:cond delay="250"/>
                            </p:stCondLst>
                            <p:childTnLst>
                              <p:par>
                                <p:cTn id="9" presetID="22" presetClass="entr" presetSubtype="4"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250"/>
                                        <p:tgtEl>
                                          <p:spTgt spid="13"/>
                                        </p:tgtEl>
                                      </p:cBhvr>
                                    </p:animEffect>
                                  </p:childTnLst>
                                </p:cTn>
                              </p:par>
                            </p:childTnLst>
                          </p:cTn>
                        </p:par>
                        <p:par>
                          <p:cTn id="12" fill="hold">
                            <p:stCondLst>
                              <p:cond delay="500"/>
                            </p:stCondLst>
                            <p:childTnLst>
                              <p:par>
                                <p:cTn id="13" presetID="22" presetClass="entr" presetSubtype="4"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D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8220"/>
          </a:solidFill>
          <a:ln w="12700">
            <a:solidFill>
              <a:srgbClr val="F58220"/>
            </a:solidFill>
            <a:prstDash val="solid"/>
          </a:ln>
        </p:spPr>
      </p:sp>
      <p:sp>
        <p:nvSpPr>
          <p:cNvPr id="3" name="Text 1"/>
          <p:cNvSpPr/>
          <p:nvPr/>
        </p:nvSpPr>
        <p:spPr>
          <a:xfrm>
            <a:off x="914400" y="1828800"/>
            <a:ext cx="7315200" cy="64008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SQL ETL DATABASE PIPELINE</a:t>
            </a:r>
            <a:endParaRPr lang="en-US" sz="2600" dirty="0"/>
          </a:p>
        </p:txBody>
      </p:sp>
      <p:sp>
        <p:nvSpPr>
          <p:cNvPr id="4" name="Shape 2"/>
          <p:cNvSpPr/>
          <p:nvPr/>
        </p:nvSpPr>
        <p:spPr>
          <a:xfrm>
            <a:off x="3931920" y="2606040"/>
            <a:ext cx="1280160" cy="36576"/>
          </a:xfrm>
          <a:prstGeom prst="rect">
            <a:avLst/>
          </a:prstGeom>
          <a:solidFill>
            <a:srgbClr val="F58220"/>
          </a:solidFill>
          <a:ln w="12700">
            <a:solidFill>
              <a:srgbClr val="F58220"/>
            </a:solidFill>
            <a:prstDash val="solid"/>
          </a:ln>
        </p:spPr>
      </p:sp>
      <p:sp>
        <p:nvSpPr>
          <p:cNvPr id="5" name="Text 3"/>
          <p:cNvSpPr/>
          <p:nvPr/>
        </p:nvSpPr>
        <p:spPr>
          <a:xfrm>
            <a:off x="914400" y="2788920"/>
            <a:ext cx="7315200" cy="365760"/>
          </a:xfrm>
          <a:prstGeom prst="rect">
            <a:avLst/>
          </a:prstGeom>
          <a:noFill/>
          <a:ln/>
        </p:spPr>
        <p:txBody>
          <a:bodyPr wrap="square" rtlCol="0" anchor="ctr"/>
          <a:lstStyle/>
          <a:p>
            <a:pPr marL="0" indent="0" algn="ctr">
              <a:buNone/>
            </a:pPr>
            <a:r>
              <a:rPr lang="en-US" sz="1300" dirty="0">
                <a:solidFill>
                  <a:srgbClr val="3EA6FF"/>
                </a:solidFill>
                <a:latin typeface="Arial" pitchFamily="34" charset="0"/>
                <a:ea typeface="Arial" pitchFamily="34" charset="-122"/>
                <a:cs typeface="Arial" pitchFamily="34" charset="-120"/>
              </a:rPr>
              <a:t>PostgreSQL Schema, Extraction, Transformation &amp; Loading</a:t>
            </a:r>
            <a:endParaRPr lang="en-US" sz="1300" dirty="0"/>
          </a:p>
        </p:txBody>
      </p:sp>
      <p:sp>
        <p:nvSpPr>
          <p:cNvPr id="6" name="Text 4"/>
          <p:cNvSpPr/>
          <p:nvPr/>
        </p:nvSpPr>
        <p:spPr>
          <a:xfrm>
            <a:off x="914400" y="4572000"/>
            <a:ext cx="7315200" cy="228600"/>
          </a:xfrm>
          <a:prstGeom prst="rect">
            <a:avLst/>
          </a:prstGeom>
          <a:noFill/>
          <a:ln/>
        </p:spPr>
        <p:txBody>
          <a:bodyPr wrap="square" rtlCol="0" anchor="ctr"/>
          <a:lstStyle/>
          <a:p>
            <a:pPr marL="0" indent="0" algn="ctr">
              <a:buNone/>
            </a:pPr>
            <a:r>
              <a:rPr lang="en-US" sz="800" b="1" dirty="0">
                <a:solidFill>
                  <a:srgbClr val="64748B"/>
                </a:solidFill>
                <a:latin typeface="Arial" pitchFamily="34" charset="0"/>
                <a:ea typeface="Arial" pitchFamily="34" charset="-122"/>
                <a:cs typeface="Arial" pitchFamily="34" charset="-120"/>
              </a:rPr>
              <a:t>TATA MOTORS OPERATIONS STUDY</a:t>
            </a:r>
            <a:endParaRPr lang="en-US" sz="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ETL Pipeline: Extract → Transform → Load</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SQL ENGINEERING</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14</a:t>
            </a:r>
            <a:endParaRPr lang="en-US" sz="700" dirty="0"/>
          </a:p>
        </p:txBody>
      </p:sp>
      <p:sp>
        <p:nvSpPr>
          <p:cNvPr id="8" name="Shape 6"/>
          <p:cNvSpPr/>
          <p:nvPr/>
        </p:nvSpPr>
        <p:spPr>
          <a:xfrm>
            <a:off x="365760" y="868680"/>
            <a:ext cx="3931920" cy="3794760"/>
          </a:xfrm>
          <a:prstGeom prst="roundRect">
            <a:avLst>
              <a:gd name="adj" fmla="val 1446"/>
            </a:avLst>
          </a:prstGeom>
          <a:solidFill>
            <a:srgbClr val="FFFFFF"/>
          </a:solidFill>
          <a:ln w="9525">
            <a:solidFill>
              <a:srgbClr val="E2E8F0"/>
            </a:solidFill>
            <a:prstDash val="solid"/>
          </a:ln>
        </p:spPr>
      </p:sp>
      <p:sp>
        <p:nvSpPr>
          <p:cNvPr id="9" name="Shape 7"/>
          <p:cNvSpPr/>
          <p:nvPr/>
        </p:nvSpPr>
        <p:spPr>
          <a:xfrm>
            <a:off x="502920" y="960120"/>
            <a:ext cx="3657600" cy="1097280"/>
          </a:xfrm>
          <a:prstGeom prst="roundRect">
            <a:avLst>
              <a:gd name="adj" fmla="val 3333"/>
            </a:avLst>
          </a:prstGeom>
          <a:solidFill>
            <a:srgbClr val="FFFFFF"/>
          </a:solidFill>
          <a:ln w="19050">
            <a:solidFill>
              <a:srgbClr val="F58220"/>
            </a:solidFill>
            <a:prstDash val="solid"/>
          </a:ln>
        </p:spPr>
      </p:sp>
      <p:sp>
        <p:nvSpPr>
          <p:cNvPr id="10" name="Text 8"/>
          <p:cNvSpPr/>
          <p:nvPr/>
        </p:nvSpPr>
        <p:spPr>
          <a:xfrm>
            <a:off x="594360" y="1033272"/>
            <a:ext cx="1097280" cy="228600"/>
          </a:xfrm>
          <a:prstGeom prst="rect">
            <a:avLst/>
          </a:prstGeom>
          <a:noFill/>
          <a:ln/>
        </p:spPr>
        <p:txBody>
          <a:bodyPr wrap="square" rtlCol="0" anchor="ctr"/>
          <a:lstStyle/>
          <a:p>
            <a:pPr marL="0" indent="0">
              <a:buNone/>
            </a:pPr>
            <a:r>
              <a:rPr lang="en-US" sz="1000" b="1" dirty="0">
                <a:solidFill>
                  <a:srgbClr val="F58220"/>
                </a:solidFill>
                <a:latin typeface="Arial" pitchFamily="34" charset="0"/>
                <a:ea typeface="Arial" pitchFamily="34" charset="-122"/>
                <a:cs typeface="Arial" pitchFamily="34" charset="-120"/>
              </a:rPr>
              <a:t>EXTRACT</a:t>
            </a:r>
            <a:endParaRPr lang="en-US" sz="1000" dirty="0"/>
          </a:p>
        </p:txBody>
      </p:sp>
      <p:sp>
        <p:nvSpPr>
          <p:cNvPr id="11" name="Text 9"/>
          <p:cNvSpPr/>
          <p:nvPr/>
        </p:nvSpPr>
        <p:spPr>
          <a:xfrm>
            <a:off x="594360" y="1307592"/>
            <a:ext cx="3474720" cy="640080"/>
          </a:xfrm>
          <a:prstGeom prst="rect">
            <a:avLst/>
          </a:prstGeom>
          <a:noFill/>
          <a:ln/>
        </p:spPr>
        <p:txBody>
          <a:bodyPr wrap="square" rtlCol="0" anchor="ctr"/>
          <a:lstStyle/>
          <a:p>
            <a:pPr marL="0" indent="0">
              <a:lnSpc>
                <a:spcPts val="1000"/>
              </a:lnSpc>
              <a:buNone/>
            </a:pPr>
            <a:r>
              <a:rPr lang="en-US" sz="850" dirty="0">
                <a:solidFill>
                  <a:srgbClr val="2D3748"/>
                </a:solidFill>
                <a:latin typeface="Arial" pitchFamily="34" charset="0"/>
                <a:ea typeface="Arial" pitchFamily="34" charset="-122"/>
                <a:cs typeface="Arial" pitchFamily="34" charset="-120"/>
              </a:rPr>
              <a:t>Bulk COPY ingestion from 7 CSV sources using PostgreSQL native engine — bypassing slow row-by-row inserts.</a:t>
            </a:r>
            <a:endParaRPr lang="en-US" sz="850" dirty="0"/>
          </a:p>
        </p:txBody>
      </p:sp>
      <p:sp>
        <p:nvSpPr>
          <p:cNvPr id="12" name="Shape 10"/>
          <p:cNvSpPr/>
          <p:nvPr/>
        </p:nvSpPr>
        <p:spPr>
          <a:xfrm>
            <a:off x="502920" y="2194560"/>
            <a:ext cx="3657600" cy="1097280"/>
          </a:xfrm>
          <a:prstGeom prst="roundRect">
            <a:avLst>
              <a:gd name="adj" fmla="val 3333"/>
            </a:avLst>
          </a:prstGeom>
          <a:solidFill>
            <a:srgbClr val="FFFFFF"/>
          </a:solidFill>
          <a:ln w="19050">
            <a:solidFill>
              <a:srgbClr val="3EA6FF"/>
            </a:solidFill>
            <a:prstDash val="solid"/>
          </a:ln>
        </p:spPr>
      </p:sp>
      <p:sp>
        <p:nvSpPr>
          <p:cNvPr id="13" name="Text 11"/>
          <p:cNvSpPr/>
          <p:nvPr/>
        </p:nvSpPr>
        <p:spPr>
          <a:xfrm>
            <a:off x="594360" y="2267712"/>
            <a:ext cx="1097280" cy="228600"/>
          </a:xfrm>
          <a:prstGeom prst="rect">
            <a:avLst/>
          </a:prstGeom>
          <a:noFill/>
          <a:ln/>
        </p:spPr>
        <p:txBody>
          <a:bodyPr wrap="square" rtlCol="0" anchor="ctr"/>
          <a:lstStyle/>
          <a:p>
            <a:pPr marL="0" indent="0">
              <a:buNone/>
            </a:pPr>
            <a:r>
              <a:rPr lang="en-US" sz="1000" b="1" dirty="0">
                <a:solidFill>
                  <a:srgbClr val="3EA6FF"/>
                </a:solidFill>
                <a:latin typeface="Arial" pitchFamily="34" charset="0"/>
                <a:ea typeface="Arial" pitchFamily="34" charset="-122"/>
                <a:cs typeface="Arial" pitchFamily="34" charset="-120"/>
              </a:rPr>
              <a:t>TRANSFORM</a:t>
            </a:r>
            <a:endParaRPr lang="en-US" sz="1000" dirty="0"/>
          </a:p>
        </p:txBody>
      </p:sp>
      <p:sp>
        <p:nvSpPr>
          <p:cNvPr id="14" name="Text 12"/>
          <p:cNvSpPr/>
          <p:nvPr/>
        </p:nvSpPr>
        <p:spPr>
          <a:xfrm>
            <a:off x="594360" y="2542032"/>
            <a:ext cx="3474720" cy="640080"/>
          </a:xfrm>
          <a:prstGeom prst="rect">
            <a:avLst/>
          </a:prstGeom>
          <a:noFill/>
          <a:ln/>
        </p:spPr>
        <p:txBody>
          <a:bodyPr wrap="square" rtlCol="0" anchor="ctr"/>
          <a:lstStyle/>
          <a:p>
            <a:pPr marL="0" indent="0">
              <a:lnSpc>
                <a:spcPts val="1000"/>
              </a:lnSpc>
              <a:buNone/>
            </a:pPr>
            <a:r>
              <a:rPr lang="en-US" sz="850" dirty="0">
                <a:solidFill>
                  <a:srgbClr val="2D3748"/>
                </a:solidFill>
                <a:latin typeface="Arial" pitchFamily="34" charset="0"/>
                <a:ea typeface="Arial" pitchFamily="34" charset="-122"/>
                <a:cs typeface="Arial" pitchFamily="34" charset="-120"/>
              </a:rPr>
              <a:t>INITCAP names, LOWER emails, calculate CustomerAge, create PaymentCategory (High/Medium/Low), compute ShipmentEfficiency ratios.</a:t>
            </a:r>
            <a:endParaRPr lang="en-US" sz="850" dirty="0"/>
          </a:p>
        </p:txBody>
      </p:sp>
      <p:sp>
        <p:nvSpPr>
          <p:cNvPr id="15" name="Shape 13"/>
          <p:cNvSpPr/>
          <p:nvPr/>
        </p:nvSpPr>
        <p:spPr>
          <a:xfrm>
            <a:off x="502920" y="3429000"/>
            <a:ext cx="3657600" cy="1097280"/>
          </a:xfrm>
          <a:prstGeom prst="roundRect">
            <a:avLst>
              <a:gd name="adj" fmla="val 3333"/>
            </a:avLst>
          </a:prstGeom>
          <a:solidFill>
            <a:srgbClr val="FFFFFF"/>
          </a:solidFill>
          <a:ln w="19050">
            <a:solidFill>
              <a:srgbClr val="10B981"/>
            </a:solidFill>
            <a:prstDash val="solid"/>
          </a:ln>
        </p:spPr>
      </p:sp>
      <p:sp>
        <p:nvSpPr>
          <p:cNvPr id="16" name="Text 14"/>
          <p:cNvSpPr/>
          <p:nvPr/>
        </p:nvSpPr>
        <p:spPr>
          <a:xfrm>
            <a:off x="594360" y="3502152"/>
            <a:ext cx="1097280" cy="228600"/>
          </a:xfrm>
          <a:prstGeom prst="rect">
            <a:avLst/>
          </a:prstGeom>
          <a:noFill/>
          <a:ln/>
        </p:spPr>
        <p:txBody>
          <a:bodyPr wrap="square" rtlCol="0" anchor="ctr"/>
          <a:lstStyle/>
          <a:p>
            <a:pPr marL="0" indent="0">
              <a:buNone/>
            </a:pPr>
            <a:r>
              <a:rPr lang="en-US" sz="1000" b="1" dirty="0">
                <a:solidFill>
                  <a:srgbClr val="10B981"/>
                </a:solidFill>
                <a:latin typeface="Arial" pitchFamily="34" charset="0"/>
                <a:ea typeface="Arial" pitchFamily="34" charset="-122"/>
                <a:cs typeface="Arial" pitchFamily="34" charset="-120"/>
              </a:rPr>
              <a:t>LOAD</a:t>
            </a:r>
            <a:endParaRPr lang="en-US" sz="1000" dirty="0"/>
          </a:p>
        </p:txBody>
      </p:sp>
      <p:sp>
        <p:nvSpPr>
          <p:cNvPr id="17" name="Text 15"/>
          <p:cNvSpPr/>
          <p:nvPr/>
        </p:nvSpPr>
        <p:spPr>
          <a:xfrm>
            <a:off x="594360" y="3776472"/>
            <a:ext cx="3474720" cy="640080"/>
          </a:xfrm>
          <a:prstGeom prst="rect">
            <a:avLst/>
          </a:prstGeom>
          <a:noFill/>
          <a:ln/>
        </p:spPr>
        <p:txBody>
          <a:bodyPr wrap="square" rtlCol="0" anchor="ctr"/>
          <a:lstStyle/>
          <a:p>
            <a:pPr marL="0" indent="0">
              <a:lnSpc>
                <a:spcPts val="1000"/>
              </a:lnSpc>
              <a:buNone/>
            </a:pPr>
            <a:r>
              <a:rPr lang="en-US" sz="850" dirty="0">
                <a:solidFill>
                  <a:srgbClr val="2D3748"/>
                </a:solidFill>
                <a:latin typeface="Arial" pitchFamily="34" charset="0"/>
                <a:ea typeface="Arial" pitchFamily="34" charset="-122"/>
                <a:cs typeface="Arial" pitchFamily="34" charset="-120"/>
              </a:rPr>
              <a:t>Enriched data loaded into CustomerPayments master table, exported to Excel and Power BI analytical layers.</a:t>
            </a:r>
            <a:endParaRPr lang="en-US" sz="850" dirty="0"/>
          </a:p>
        </p:txBody>
      </p:sp>
      <p:sp>
        <p:nvSpPr>
          <p:cNvPr id="18" name="Shape 16"/>
          <p:cNvSpPr/>
          <p:nvPr/>
        </p:nvSpPr>
        <p:spPr>
          <a:xfrm>
            <a:off x="4434840" y="868680"/>
            <a:ext cx="4297680" cy="3794760"/>
          </a:xfrm>
          <a:prstGeom prst="roundRect">
            <a:avLst>
              <a:gd name="adj" fmla="val 1446"/>
            </a:avLst>
          </a:prstGeom>
          <a:solidFill>
            <a:srgbClr val="FFFFFF"/>
          </a:solidFill>
          <a:ln w="9525">
            <a:solidFill>
              <a:srgbClr val="E2E8F0"/>
            </a:solidFill>
            <a:prstDash val="solid"/>
          </a:ln>
        </p:spPr>
      </p:sp>
      <p:sp>
        <p:nvSpPr>
          <p:cNvPr id="19" name="Text 17"/>
          <p:cNvSpPr/>
          <p:nvPr/>
        </p:nvSpPr>
        <p:spPr>
          <a:xfrm>
            <a:off x="4572000" y="960120"/>
            <a:ext cx="4023360" cy="22860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Pipeline Architecture Diagram</a:t>
            </a:r>
            <a:endParaRPr lang="en-US" sz="1200" dirty="0"/>
          </a:p>
        </p:txBody>
      </p:sp>
      <p:pic>
        <p:nvPicPr>
          <p:cNvPr id="20" name="Image 0" descr="C:\Users\sayee\Documents\Tata_Motors_Final_Presentation\resources\etl_pipeline.png"/>
          <p:cNvPicPr>
            <a:picLocks noChangeAspect="1"/>
          </p:cNvPicPr>
          <p:nvPr/>
        </p:nvPicPr>
        <p:blipFill>
          <a:blip r:embed="rId3"/>
          <a:stretch>
            <a:fillRect/>
          </a:stretch>
        </p:blipFill>
        <p:spPr>
          <a:xfrm>
            <a:off x="4526280" y="1280160"/>
            <a:ext cx="4114800" cy="324612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250"/>
                                        <p:tgtEl>
                                          <p:spTgt spid="9"/>
                                        </p:tgtEl>
                                      </p:cBhvr>
                                    </p:animEffect>
                                  </p:childTnLst>
                                </p:cTn>
                              </p:par>
                            </p:childTnLst>
                          </p:cTn>
                        </p:par>
                        <p:par>
                          <p:cTn id="8" fill="hold">
                            <p:stCondLst>
                              <p:cond delay="250"/>
                            </p:stCondLst>
                            <p:childTnLst>
                              <p:par>
                                <p:cTn id="9" presetID="22" presetClass="entr" presetSubtype="1"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250"/>
                                        <p:tgtEl>
                                          <p:spTgt spid="12"/>
                                        </p:tgtEl>
                                      </p:cBhvr>
                                    </p:animEffect>
                                  </p:childTnLst>
                                </p:cTn>
                              </p:par>
                            </p:childTnLst>
                          </p:cTn>
                        </p:par>
                        <p:par>
                          <p:cTn id="12" fill="hold">
                            <p:stCondLst>
                              <p:cond delay="500"/>
                            </p:stCondLst>
                            <p:childTnLst>
                              <p:par>
                                <p:cTn id="13" presetID="22" presetClass="entr" presetSubtype="1"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up)">
                                      <p:cBhvr>
                                        <p:cTn id="15"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Data Cleaning &amp; Feature Engineering</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SQL TRANSFORMATIONS</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15</a:t>
            </a:r>
            <a:endParaRPr lang="en-US" sz="700" dirty="0"/>
          </a:p>
        </p:txBody>
      </p:sp>
      <p:sp>
        <p:nvSpPr>
          <p:cNvPr id="8" name="Shape 6"/>
          <p:cNvSpPr/>
          <p:nvPr/>
        </p:nvSpPr>
        <p:spPr>
          <a:xfrm>
            <a:off x="365760" y="868680"/>
            <a:ext cx="3931920" cy="3794760"/>
          </a:xfrm>
          <a:prstGeom prst="roundRect">
            <a:avLst>
              <a:gd name="adj" fmla="val 1446"/>
            </a:avLst>
          </a:prstGeom>
          <a:solidFill>
            <a:srgbClr val="FFFFFF"/>
          </a:solidFill>
          <a:ln w="9525">
            <a:solidFill>
              <a:srgbClr val="E2E8F0"/>
            </a:solidFill>
            <a:prstDash val="solid"/>
          </a:ln>
        </p:spPr>
      </p:sp>
      <p:sp>
        <p:nvSpPr>
          <p:cNvPr id="9" name="Text 7"/>
          <p:cNvSpPr/>
          <p:nvPr/>
        </p:nvSpPr>
        <p:spPr>
          <a:xfrm>
            <a:off x="502920" y="960120"/>
            <a:ext cx="3657600" cy="201168"/>
          </a:xfrm>
          <a:prstGeom prst="rect">
            <a:avLst/>
          </a:prstGeom>
          <a:noFill/>
          <a:ln/>
        </p:spPr>
        <p:txBody>
          <a:bodyPr wrap="square" rtlCol="0" anchor="ctr"/>
          <a:lstStyle/>
          <a:p>
            <a:pPr marL="0" indent="0">
              <a:buNone/>
            </a:pPr>
            <a:r>
              <a:rPr lang="en-US" sz="1100" b="1" dirty="0">
                <a:solidFill>
                  <a:srgbClr val="0B1D35"/>
                </a:solidFill>
                <a:latin typeface="Arial" pitchFamily="34" charset="0"/>
                <a:ea typeface="Arial" pitchFamily="34" charset="-122"/>
                <a:cs typeface="Arial" pitchFamily="34" charset="-120"/>
              </a:rPr>
              <a:t>Cleaning Comparison</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3657600" cy="146304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292608">
                <a:tc>
                  <a:txBody>
                    <a:bodyPr/>
                    <a:lstStyle/>
                    <a:p>
                      <a:pPr marL="0" indent="0">
                        <a:buNone/>
                      </a:pPr>
                      <a:r>
                        <a:rPr lang="en-US" sz="800" b="1" dirty="0">
                          <a:solidFill>
                            <a:srgbClr val="FFFFFF"/>
                          </a:solidFill>
                          <a:latin typeface="Arial" pitchFamily="34" charset="0"/>
                          <a:ea typeface="Arial" pitchFamily="34" charset="-122"/>
                          <a:cs typeface="Arial" pitchFamily="34" charset="-120"/>
                        </a:rPr>
                        <a:t>Raw Record</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D35"/>
                    </a:solidFill>
                  </a:tcPr>
                </a:tc>
                <a:tc>
                  <a:txBody>
                    <a:bodyPr/>
                    <a:lstStyle/>
                    <a:p>
                      <a:pPr marL="0" indent="0">
                        <a:buNone/>
                      </a:pPr>
                      <a:r>
                        <a:rPr lang="en-US" sz="800" b="1" dirty="0">
                          <a:solidFill>
                            <a:srgbClr val="FFFFFF"/>
                          </a:solidFill>
                          <a:latin typeface="Arial" pitchFamily="34" charset="0"/>
                          <a:ea typeface="Arial" pitchFamily="34" charset="-122"/>
                          <a:cs typeface="Arial" pitchFamily="34" charset="-120"/>
                        </a:rPr>
                        <a:t>Cleaned</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D35"/>
                    </a:solidFill>
                  </a:tcPr>
                </a:tc>
                <a:tc>
                  <a:txBody>
                    <a:bodyPr/>
                    <a:lstStyle/>
                    <a:p>
                      <a:pPr marL="0" indent="0">
                        <a:buNone/>
                      </a:pPr>
                      <a:r>
                        <a:rPr lang="en-US" sz="800" b="1" dirty="0">
                          <a:solidFill>
                            <a:srgbClr val="FFFFFF"/>
                          </a:solidFill>
                          <a:latin typeface="Arial" pitchFamily="34" charset="0"/>
                          <a:ea typeface="Arial" pitchFamily="34" charset="-122"/>
                          <a:cs typeface="Arial" pitchFamily="34" charset="-120"/>
                        </a:rPr>
                        <a:t>SQL</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D35"/>
                    </a:solidFill>
                  </a:tcPr>
                </a:tc>
                <a:extLst>
                  <a:ext uri="{0D108BD9-81ED-4DB2-BD59-A6C34878D82A}">
                    <a16:rowId xmlns:a16="http://schemas.microsoft.com/office/drawing/2014/main" val="10000"/>
                  </a:ext>
                </a:extLst>
              </a:tr>
              <a:tr h="292608">
                <a:tc>
                  <a:txBody>
                    <a:bodyPr/>
                    <a:lstStyle/>
                    <a:p>
                      <a:pPr marL="0" indent="0">
                        <a:buNone/>
                      </a:pPr>
                      <a:r>
                        <a:rPr lang="en-US" sz="800" dirty="0">
                          <a:solidFill>
                            <a:srgbClr val="000000"/>
                          </a:solidFill>
                          <a:latin typeface="Arial" pitchFamily="34" charset="0"/>
                          <a:ea typeface="Arial" pitchFamily="34" charset="-122"/>
                          <a:cs typeface="Arial" pitchFamily="34" charset="-120"/>
                        </a:rPr>
                        <a:t>sAyEeD aHmEd</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Arial" pitchFamily="34" charset="0"/>
                          <a:ea typeface="Arial" pitchFamily="34" charset="-122"/>
                          <a:cs typeface="Arial" pitchFamily="34" charset="-120"/>
                        </a:rPr>
                        <a:t>Sayeed Ahmed</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Arial" pitchFamily="34" charset="0"/>
                          <a:ea typeface="Arial" pitchFamily="34" charset="-122"/>
                          <a:cs typeface="Arial" pitchFamily="34" charset="-120"/>
                        </a:rPr>
                        <a:t>INITCAP()</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800" dirty="0">
                          <a:solidFill>
                            <a:srgbClr val="000000"/>
                          </a:solidFill>
                          <a:latin typeface="Arial" pitchFamily="34" charset="0"/>
                          <a:ea typeface="Arial" pitchFamily="34" charset="-122"/>
                          <a:cs typeface="Arial" pitchFamily="34" charset="-120"/>
                        </a:rPr>
                        <a:t>JOHN@GMAIL.COM</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Arial" pitchFamily="34" charset="0"/>
                          <a:ea typeface="Arial" pitchFamily="34" charset="-122"/>
                          <a:cs typeface="Arial" pitchFamily="34" charset="-120"/>
                        </a:rPr>
                        <a:t>john@gmail.com</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Arial" pitchFamily="34" charset="0"/>
                          <a:ea typeface="Arial" pitchFamily="34" charset="-122"/>
                          <a:cs typeface="Arial" pitchFamily="34" charset="-120"/>
                        </a:rPr>
                        <a:t>LOWER(TRIM())</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800" dirty="0">
                          <a:solidFill>
                            <a:srgbClr val="000000"/>
                          </a:solidFill>
                          <a:latin typeface="Arial" pitchFamily="34" charset="0"/>
                          <a:ea typeface="Arial" pitchFamily="34" charset="-122"/>
                          <a:cs typeface="Arial" pitchFamily="34" charset="-120"/>
                        </a:rPr>
                        <a:t>Amount: 7500</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Arial" pitchFamily="34" charset="0"/>
                          <a:ea typeface="Arial" pitchFamily="34" charset="-122"/>
                          <a:cs typeface="Arial" pitchFamily="34" charset="-120"/>
                        </a:rPr>
                        <a:t>Category: High</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Arial" pitchFamily="34" charset="0"/>
                          <a:ea typeface="Arial" pitchFamily="34" charset="-122"/>
                          <a:cs typeface="Arial" pitchFamily="34" charset="-120"/>
                        </a:rPr>
                        <a:t>CASE WHEN</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800" dirty="0">
                          <a:solidFill>
                            <a:srgbClr val="000000"/>
                          </a:solidFill>
                          <a:latin typeface="Arial" pitchFamily="34" charset="0"/>
                          <a:ea typeface="Arial" pitchFamily="34" charset="-122"/>
                          <a:cs typeface="Arial" pitchFamily="34" charset="-120"/>
                        </a:rPr>
                        <a:t>Weight/0 Charges</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Arial" pitchFamily="34" charset="0"/>
                          <a:ea typeface="Arial" pitchFamily="34" charset="-122"/>
                          <a:cs typeface="Arial" pitchFamily="34" charset="-120"/>
                        </a:rPr>
                        <a:t>Efficiency: Safe</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000000"/>
                          </a:solidFill>
                          <a:latin typeface="Arial" pitchFamily="34" charset="0"/>
                          <a:ea typeface="Arial" pitchFamily="34" charset="-122"/>
                          <a:cs typeface="Arial" pitchFamily="34" charset="-120"/>
                        </a:rPr>
                        <a:t>NULLIF()</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 8"/>
          <p:cNvSpPr/>
          <p:nvPr/>
        </p:nvSpPr>
        <p:spPr>
          <a:xfrm>
            <a:off x="502920" y="2834640"/>
            <a:ext cx="3657600" cy="201168"/>
          </a:xfrm>
          <a:prstGeom prst="rect">
            <a:avLst/>
          </a:prstGeom>
          <a:noFill/>
          <a:ln/>
        </p:spPr>
        <p:txBody>
          <a:bodyPr wrap="square" rtlCol="0" anchor="ctr"/>
          <a:lstStyle/>
          <a:p>
            <a:pPr marL="0" indent="0">
              <a:buNone/>
            </a:pPr>
            <a:r>
              <a:rPr lang="en-US" sz="1100" b="1" dirty="0">
                <a:solidFill>
                  <a:srgbClr val="0B1D35"/>
                </a:solidFill>
                <a:latin typeface="Arial" pitchFamily="34" charset="0"/>
                <a:ea typeface="Arial" pitchFamily="34" charset="-122"/>
                <a:cs typeface="Arial" pitchFamily="34" charset="-120"/>
              </a:rPr>
              <a:t>Feature Engineering Steps</a:t>
            </a:r>
            <a:endParaRPr lang="en-US" sz="1100" dirty="0"/>
          </a:p>
        </p:txBody>
      </p:sp>
      <p:sp>
        <p:nvSpPr>
          <p:cNvPr id="12" name="Text 9"/>
          <p:cNvSpPr/>
          <p:nvPr/>
        </p:nvSpPr>
        <p:spPr>
          <a:xfrm>
            <a:off x="502920" y="3108960"/>
            <a:ext cx="3657600" cy="1371600"/>
          </a:xfrm>
          <a:prstGeom prst="rect">
            <a:avLst/>
          </a:prstGeom>
          <a:noFill/>
          <a:ln/>
        </p:spPr>
        <p:txBody>
          <a:bodyPr wrap="square" rtlCol="0" anchor="ctr"/>
          <a:lstStyle/>
          <a:p>
            <a:pPr marL="0" indent="0">
              <a:lnSpc>
                <a:spcPts val="1200"/>
              </a:lnSpc>
              <a:buNone/>
            </a:pPr>
            <a:r>
              <a:rPr lang="en-US" sz="850" b="1" dirty="0">
                <a:solidFill>
                  <a:srgbClr val="F58220"/>
                </a:solidFill>
                <a:latin typeface="Arial" pitchFamily="34" charset="0"/>
                <a:ea typeface="Arial" pitchFamily="34" charset="-122"/>
                <a:cs typeface="Arial" pitchFamily="34" charset="-120"/>
              </a:rPr>
              <a:t>• CustomerAge: </a:t>
            </a:r>
            <a:r>
              <a:rPr lang="en-US" sz="850" dirty="0">
                <a:solidFill>
                  <a:srgbClr val="2D3748"/>
                </a:solidFill>
                <a:latin typeface="Arial" pitchFamily="34" charset="0"/>
                <a:ea typeface="Arial" pitchFamily="34" charset="-122"/>
                <a:cs typeface="Arial" pitchFamily="34" charset="-120"/>
              </a:rPr>
              <a:t>DATE_PART(year, AGE(NOW, start_date))
</a:t>
            </a:r>
            <a:r>
              <a:rPr lang="en-US" sz="850" b="1" dirty="0">
                <a:solidFill>
                  <a:srgbClr val="3EA6FF"/>
                </a:solidFill>
                <a:latin typeface="Arial" pitchFamily="34" charset="0"/>
                <a:ea typeface="Arial" pitchFamily="34" charset="-122"/>
                <a:cs typeface="Arial" pitchFamily="34" charset="-120"/>
              </a:rPr>
              <a:t>• PaymentCategory: </a:t>
            </a:r>
            <a:r>
              <a:rPr lang="en-US" sz="850" dirty="0">
                <a:solidFill>
                  <a:srgbClr val="2D3748"/>
                </a:solidFill>
                <a:latin typeface="Arial" pitchFamily="34" charset="0"/>
                <a:ea typeface="Arial" pitchFamily="34" charset="-122"/>
                <a:cs typeface="Arial" pitchFamily="34" charset="-120"/>
              </a:rPr>
              <a:t>High (&gt;5K) | Medium (1-5K) | Low (&lt;1K)
</a:t>
            </a:r>
            <a:r>
              <a:rPr lang="en-US" sz="850" b="1" dirty="0">
                <a:solidFill>
                  <a:srgbClr val="10B981"/>
                </a:solidFill>
                <a:latin typeface="Arial" pitchFamily="34" charset="0"/>
                <a:ea typeface="Arial" pitchFamily="34" charset="-122"/>
                <a:cs typeface="Arial" pitchFamily="34" charset="-120"/>
              </a:rPr>
              <a:t>• ShipmentEfficiency: </a:t>
            </a:r>
            <a:r>
              <a:rPr lang="en-US" sz="850" dirty="0">
                <a:solidFill>
                  <a:srgbClr val="2D3748"/>
                </a:solidFill>
                <a:latin typeface="Arial" pitchFamily="34" charset="0"/>
                <a:ea typeface="Arial" pitchFamily="34" charset="-122"/>
                <a:cs typeface="Arial" pitchFamily="34" charset="-120"/>
              </a:rPr>
              <a:t>ROUND(weight / NULLIF(charges, 0), 2)</a:t>
            </a:r>
            <a:endParaRPr lang="en-US" sz="850" dirty="0"/>
          </a:p>
        </p:txBody>
      </p:sp>
      <p:sp>
        <p:nvSpPr>
          <p:cNvPr id="13" name="Shape 10"/>
          <p:cNvSpPr/>
          <p:nvPr/>
        </p:nvSpPr>
        <p:spPr>
          <a:xfrm>
            <a:off x="4434840" y="868680"/>
            <a:ext cx="4297680" cy="3794760"/>
          </a:xfrm>
          <a:prstGeom prst="roundRect">
            <a:avLst>
              <a:gd name="adj" fmla="val 1446"/>
            </a:avLst>
          </a:prstGeom>
          <a:solidFill>
            <a:srgbClr val="FFFFFF"/>
          </a:solidFill>
          <a:ln w="9525">
            <a:solidFill>
              <a:srgbClr val="E2E8F0"/>
            </a:solidFill>
            <a:prstDash val="solid"/>
          </a:ln>
        </p:spPr>
      </p:sp>
      <p:sp>
        <p:nvSpPr>
          <p:cNvPr id="14" name="Text 11"/>
          <p:cNvSpPr/>
          <p:nvPr/>
        </p:nvSpPr>
        <p:spPr>
          <a:xfrm>
            <a:off x="4572000" y="960120"/>
            <a:ext cx="4023360" cy="201168"/>
          </a:xfrm>
          <a:prstGeom prst="rect">
            <a:avLst/>
          </a:prstGeom>
          <a:noFill/>
          <a:ln/>
        </p:spPr>
        <p:txBody>
          <a:bodyPr wrap="square" rtlCol="0" anchor="ctr"/>
          <a:lstStyle/>
          <a:p>
            <a:pPr marL="0" indent="0">
              <a:buNone/>
            </a:pPr>
            <a:r>
              <a:rPr lang="en-US" sz="1100" b="1" dirty="0">
                <a:solidFill>
                  <a:srgbClr val="0B1D35"/>
                </a:solidFill>
                <a:latin typeface="Arial" pitchFamily="34" charset="0"/>
                <a:ea typeface="Arial" pitchFamily="34" charset="-122"/>
                <a:cs typeface="Arial" pitchFamily="34" charset="-120"/>
              </a:rPr>
              <a:t>Transformation SQL</a:t>
            </a:r>
            <a:endParaRPr lang="en-US" sz="1100" dirty="0"/>
          </a:p>
        </p:txBody>
      </p:sp>
      <p:sp>
        <p:nvSpPr>
          <p:cNvPr id="15" name="Shape 12"/>
          <p:cNvSpPr/>
          <p:nvPr/>
        </p:nvSpPr>
        <p:spPr>
          <a:xfrm>
            <a:off x="4526280" y="1234440"/>
            <a:ext cx="4114800" cy="2286000"/>
          </a:xfrm>
          <a:prstGeom prst="roundRect">
            <a:avLst>
              <a:gd name="adj" fmla="val 1600"/>
            </a:avLst>
          </a:prstGeom>
          <a:solidFill>
            <a:srgbClr val="1E293B"/>
          </a:solidFill>
          <a:ln w="6350">
            <a:solidFill>
              <a:srgbClr val="0B1D35"/>
            </a:solidFill>
            <a:prstDash val="solid"/>
          </a:ln>
        </p:spPr>
      </p:sp>
      <p:sp>
        <p:nvSpPr>
          <p:cNvPr id="10" name="Text 13"/>
          <p:cNvSpPr/>
          <p:nvPr/>
        </p:nvSpPr>
        <p:spPr>
          <a:xfrm>
            <a:off x="4636008" y="1325880"/>
            <a:ext cx="3895344" cy="2103120"/>
          </a:xfrm>
          <a:prstGeom prst="rect">
            <a:avLst/>
          </a:prstGeom>
          <a:noFill/>
          <a:ln/>
        </p:spPr>
        <p:txBody>
          <a:bodyPr wrap="square" rtlCol="0" anchor="ctr"/>
          <a:lstStyle/>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Name &amp; Email Normalization</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UPDATE customer SET</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c_name = INITCAP(LOWER(c_name)),</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c_email_id = LOWER(TRIM(c_email_id));</a:t>
            </a:r>
            <a:endParaRPr lang="en-US" sz="850" dirty="0"/>
          </a:p>
          <a:p>
            <a:pPr marL="0" indent="0">
              <a:lnSpc>
                <a:spcPts val="1000"/>
              </a:lnSpc>
              <a:buNone/>
            </a:pP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Shipment Efficiency Ratio</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UPDATE shipment_details SET</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efficiency = ROUND(weight/NULLIF(charges,0),2);</a:t>
            </a:r>
            <a:endParaRPr lang="en-US" sz="850" dirty="0"/>
          </a:p>
        </p:txBody>
      </p:sp>
      <p:sp>
        <p:nvSpPr>
          <p:cNvPr id="17" name="Shape 14"/>
          <p:cNvSpPr/>
          <p:nvPr/>
        </p:nvSpPr>
        <p:spPr>
          <a:xfrm>
            <a:off x="5257796" y="3840480"/>
            <a:ext cx="731520" cy="365760"/>
          </a:xfrm>
          <a:prstGeom prst="rightArrow">
            <a:avLst/>
          </a:prstGeom>
          <a:solidFill>
            <a:srgbClr val="0B1D35"/>
          </a:solidFill>
          <a:ln/>
        </p:spPr>
      </p:sp>
      <p:sp>
        <p:nvSpPr>
          <p:cNvPr id="18" name="Text 15"/>
          <p:cNvSpPr/>
          <p:nvPr/>
        </p:nvSpPr>
        <p:spPr>
          <a:xfrm>
            <a:off x="4669154" y="3840480"/>
            <a:ext cx="457200" cy="365760"/>
          </a:xfrm>
          <a:prstGeom prst="rect">
            <a:avLst/>
          </a:prstGeom>
          <a:noFill/>
          <a:ln/>
        </p:spPr>
        <p:txBody>
          <a:bodyPr wrap="square" rtlCol="0" anchor="ctr"/>
          <a:lstStyle/>
          <a:p>
            <a:pPr marL="0" indent="0" algn="ctr">
              <a:buNone/>
            </a:pPr>
            <a:r>
              <a:rPr lang="en-US" sz="900" b="1" dirty="0">
                <a:solidFill>
                  <a:srgbClr val="F58220"/>
                </a:solidFill>
              </a:rPr>
              <a:t>RAW</a:t>
            </a:r>
            <a:endParaRPr lang="en-US" sz="900" dirty="0"/>
          </a:p>
          <a:p>
            <a:pPr marL="0" indent="0" algn="ctr">
              <a:buNone/>
            </a:pPr>
            <a:r>
              <a:rPr lang="en-US" sz="900" b="1" dirty="0">
                <a:solidFill>
                  <a:srgbClr val="F58220"/>
                </a:solidFill>
              </a:rPr>
              <a:t>CSV</a:t>
            </a:r>
            <a:endParaRPr lang="en-US" sz="900" dirty="0"/>
          </a:p>
        </p:txBody>
      </p:sp>
      <p:sp>
        <p:nvSpPr>
          <p:cNvPr id="19" name="Shape 16"/>
          <p:cNvSpPr/>
          <p:nvPr/>
        </p:nvSpPr>
        <p:spPr>
          <a:xfrm>
            <a:off x="6914327" y="3840480"/>
            <a:ext cx="731520" cy="365760"/>
          </a:xfrm>
          <a:prstGeom prst="rightArrow">
            <a:avLst/>
          </a:prstGeom>
          <a:solidFill>
            <a:srgbClr val="0B1D35"/>
          </a:solidFill>
          <a:ln/>
        </p:spPr>
      </p:sp>
      <p:sp>
        <p:nvSpPr>
          <p:cNvPr id="20" name="Text 17"/>
          <p:cNvSpPr/>
          <p:nvPr/>
        </p:nvSpPr>
        <p:spPr>
          <a:xfrm>
            <a:off x="6176277" y="3840480"/>
            <a:ext cx="510268" cy="365760"/>
          </a:xfrm>
          <a:prstGeom prst="rect">
            <a:avLst/>
          </a:prstGeom>
          <a:noFill/>
          <a:ln/>
        </p:spPr>
        <p:txBody>
          <a:bodyPr wrap="square" rtlCol="0" anchor="ctr"/>
          <a:lstStyle/>
          <a:p>
            <a:pPr marL="0" indent="0" algn="ctr">
              <a:buNone/>
            </a:pPr>
            <a:r>
              <a:rPr lang="en-US" sz="900" b="1" dirty="0">
                <a:solidFill>
                  <a:srgbClr val="3EA6FF"/>
                </a:solidFill>
              </a:rPr>
              <a:t>CLEAN</a:t>
            </a:r>
            <a:endParaRPr lang="en-US" sz="900" dirty="0"/>
          </a:p>
          <a:p>
            <a:pPr marL="0" indent="0" algn="ctr">
              <a:buNone/>
            </a:pPr>
            <a:r>
              <a:rPr lang="en-US" sz="900" b="1" dirty="0">
                <a:solidFill>
                  <a:srgbClr val="3EA6FF"/>
                </a:solidFill>
              </a:rPr>
              <a:t>SQL</a:t>
            </a:r>
            <a:endParaRPr lang="en-US" sz="900" dirty="0"/>
          </a:p>
        </p:txBody>
      </p:sp>
      <p:sp>
        <p:nvSpPr>
          <p:cNvPr id="21" name="Text 18"/>
          <p:cNvSpPr/>
          <p:nvPr/>
        </p:nvSpPr>
        <p:spPr>
          <a:xfrm>
            <a:off x="7869554" y="3840480"/>
            <a:ext cx="580481" cy="365760"/>
          </a:xfrm>
          <a:prstGeom prst="rect">
            <a:avLst/>
          </a:prstGeom>
          <a:noFill/>
          <a:ln/>
        </p:spPr>
        <p:txBody>
          <a:bodyPr wrap="square" rtlCol="0" anchor="ctr"/>
          <a:lstStyle/>
          <a:p>
            <a:pPr marL="0" indent="0" algn="ctr">
              <a:buNone/>
            </a:pPr>
            <a:r>
              <a:rPr lang="en-US" sz="900" b="1" dirty="0">
                <a:solidFill>
                  <a:srgbClr val="10B981"/>
                </a:solidFill>
              </a:rPr>
              <a:t>POWER</a:t>
            </a:r>
            <a:endParaRPr lang="en-US" sz="900" dirty="0"/>
          </a:p>
          <a:p>
            <a:pPr marL="0" indent="0" algn="ctr">
              <a:buNone/>
            </a:pPr>
            <a:r>
              <a:rPr lang="en-US" sz="900" b="1" dirty="0">
                <a:solidFill>
                  <a:srgbClr val="10B981"/>
                </a:solidFill>
              </a:rPr>
              <a:t>BI</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250"/>
                                        <p:tgtEl>
                                          <p:spTgt spid="17"/>
                                        </p:tgtEl>
                                      </p:cBhvr>
                                    </p:animEffect>
                                  </p:childTnLst>
                                </p:cTn>
                              </p:par>
                            </p:childTnLst>
                          </p:cTn>
                        </p:par>
                        <p:par>
                          <p:cTn id="8" fill="hold">
                            <p:stCondLst>
                              <p:cond delay="25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PostgreSQL Development Workspace</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LIVE ENVIRONMENT</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16</a:t>
            </a:r>
            <a:endParaRPr lang="en-US" sz="700" dirty="0"/>
          </a:p>
        </p:txBody>
      </p:sp>
      <p:sp>
        <p:nvSpPr>
          <p:cNvPr id="8" name="Shape 6"/>
          <p:cNvSpPr/>
          <p:nvPr/>
        </p:nvSpPr>
        <p:spPr>
          <a:xfrm>
            <a:off x="365760" y="868680"/>
            <a:ext cx="3291840" cy="3794760"/>
          </a:xfrm>
          <a:prstGeom prst="roundRect">
            <a:avLst>
              <a:gd name="adj" fmla="val 1667"/>
            </a:avLst>
          </a:prstGeom>
          <a:solidFill>
            <a:srgbClr val="FFFFFF"/>
          </a:solidFill>
          <a:ln w="9525">
            <a:solidFill>
              <a:srgbClr val="E2E8F0"/>
            </a:solidFill>
            <a:prstDash val="solid"/>
          </a:ln>
        </p:spPr>
      </p:sp>
      <p:sp>
        <p:nvSpPr>
          <p:cNvPr id="9" name="Text 7"/>
          <p:cNvSpPr/>
          <p:nvPr/>
        </p:nvSpPr>
        <p:spPr>
          <a:xfrm>
            <a:off x="502920" y="960120"/>
            <a:ext cx="3017520" cy="22860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Database Environment</a:t>
            </a:r>
            <a:endParaRPr lang="en-US" sz="1200" dirty="0"/>
          </a:p>
        </p:txBody>
      </p:sp>
      <p:sp>
        <p:nvSpPr>
          <p:cNvPr id="10" name="Text 8"/>
          <p:cNvSpPr/>
          <p:nvPr/>
        </p:nvSpPr>
        <p:spPr>
          <a:xfrm>
            <a:off x="502920" y="1280160"/>
            <a:ext cx="3017520" cy="3200400"/>
          </a:xfrm>
          <a:prstGeom prst="rect">
            <a:avLst/>
          </a:prstGeom>
          <a:noFill/>
          <a:ln/>
        </p:spPr>
        <p:txBody>
          <a:bodyPr wrap="square" rtlCol="0" anchor="ctr"/>
          <a:lstStyle/>
          <a:p>
            <a:pPr marL="0" indent="0">
              <a:lnSpc>
                <a:spcPts val="1100"/>
              </a:lnSpc>
              <a:buNone/>
            </a:pPr>
            <a:r>
              <a:rPr lang="en-US" sz="900" b="1" dirty="0">
                <a:solidFill>
                  <a:srgbClr val="2D3748"/>
                </a:solidFill>
                <a:latin typeface="Arial" pitchFamily="34" charset="0"/>
                <a:ea typeface="Arial" pitchFamily="34" charset="-122"/>
                <a:cs typeface="Arial" pitchFamily="34" charset="-120"/>
              </a:rPr>
              <a:t>• Engine: </a:t>
            </a:r>
            <a:r>
              <a:rPr lang="en-US" sz="900" dirty="0">
                <a:solidFill>
                  <a:srgbClr val="2D3748"/>
                </a:solidFill>
                <a:latin typeface="Arial" pitchFamily="34" charset="0"/>
                <a:ea typeface="Arial" pitchFamily="34" charset="-122"/>
                <a:cs typeface="Arial" pitchFamily="34" charset="-120"/>
              </a:rPr>
              <a:t>PostgreSQL 15 with 7 staging + 3 analytics tables
</a:t>
            </a:r>
            <a:r>
              <a:rPr lang="en-US" sz="900" b="1" dirty="0">
                <a:solidFill>
                  <a:srgbClr val="F58220"/>
                </a:solidFill>
                <a:latin typeface="Arial" pitchFamily="34" charset="0"/>
                <a:ea typeface="Arial" pitchFamily="34" charset="-122"/>
                <a:cs typeface="Arial" pitchFamily="34" charset="-120"/>
              </a:rPr>
              <a:t>• Constraints: </a:t>
            </a:r>
            <a:r>
              <a:rPr lang="en-US" sz="900" dirty="0">
                <a:solidFill>
                  <a:srgbClr val="2D3748"/>
                </a:solidFill>
                <a:latin typeface="Arial" pitchFamily="34" charset="0"/>
                <a:ea typeface="Arial" pitchFamily="34" charset="-122"/>
                <a:cs typeface="Arial" pitchFamily="34" charset="-120"/>
              </a:rPr>
              <a:t>PK/FK enforcement, CASCADE deletes, NOT NULL rules
</a:t>
            </a:r>
            <a:r>
              <a:rPr lang="en-US" sz="900" b="1" dirty="0">
                <a:solidFill>
                  <a:srgbClr val="2D3748"/>
                </a:solidFill>
                <a:latin typeface="Arial" pitchFamily="34" charset="0"/>
                <a:ea typeface="Arial" pitchFamily="34" charset="-122"/>
                <a:cs typeface="Arial" pitchFamily="34" charset="-120"/>
              </a:rPr>
              <a:t>• Workspace: </a:t>
            </a:r>
            <a:r>
              <a:rPr lang="en-US" sz="900" dirty="0">
                <a:solidFill>
                  <a:srgbClr val="2D3748"/>
                </a:solidFill>
                <a:latin typeface="Arial" pitchFamily="34" charset="0"/>
                <a:ea typeface="Arial" pitchFamily="34" charset="-122"/>
                <a:cs typeface="Arial" pitchFamily="34" charset="-120"/>
              </a:rPr>
              <a:t>PGAdmin IDE with schema explorer, table grids, and live query editor
</a:t>
            </a:r>
            <a:r>
              <a:rPr lang="en-US" sz="900" b="1" dirty="0">
                <a:solidFill>
                  <a:srgbClr val="3EA6FF"/>
                </a:solidFill>
                <a:latin typeface="Arial" pitchFamily="34" charset="0"/>
                <a:ea typeface="Arial" pitchFamily="34" charset="-122"/>
                <a:cs typeface="Arial" pitchFamily="34" charset="-120"/>
              </a:rPr>
              <a:t>• Integration: </a:t>
            </a:r>
            <a:r>
              <a:rPr lang="en-US" sz="900" dirty="0">
                <a:solidFill>
                  <a:srgbClr val="2D3748"/>
                </a:solidFill>
                <a:latin typeface="Arial" pitchFamily="34" charset="0"/>
                <a:ea typeface="Arial" pitchFamily="34" charset="-122"/>
                <a:cs typeface="Arial" pitchFamily="34" charset="-120"/>
              </a:rPr>
              <a:t>Connected to Excel dashboards and n8n query nodes via secure local ports
</a:t>
            </a:r>
            <a:r>
              <a:rPr lang="en-US" sz="900" b="1" dirty="0">
                <a:solidFill>
                  <a:srgbClr val="10B981"/>
                </a:solidFill>
                <a:latin typeface="Arial" pitchFamily="34" charset="0"/>
                <a:ea typeface="Arial" pitchFamily="34" charset="-122"/>
                <a:cs typeface="Arial" pitchFamily="34" charset="-120"/>
              </a:rPr>
              <a:t>• Verification: </a:t>
            </a:r>
            <a:r>
              <a:rPr lang="en-US" sz="900" dirty="0">
                <a:solidFill>
                  <a:srgbClr val="2D3748"/>
                </a:solidFill>
                <a:latin typeface="Arial" pitchFamily="34" charset="0"/>
                <a:ea typeface="Arial" pitchFamily="34" charset="-122"/>
                <a:cs typeface="Arial" pitchFamily="34" charset="-120"/>
              </a:rPr>
              <a:t>200 unique customer records confirmed via COUNT(DISTINCT c_id)</a:t>
            </a:r>
            <a:endParaRPr lang="en-US" sz="900" dirty="0"/>
          </a:p>
        </p:txBody>
      </p:sp>
      <p:sp>
        <p:nvSpPr>
          <p:cNvPr id="11" name="Shape 9"/>
          <p:cNvSpPr/>
          <p:nvPr/>
        </p:nvSpPr>
        <p:spPr>
          <a:xfrm>
            <a:off x="3794760" y="868680"/>
            <a:ext cx="4937760" cy="3794760"/>
          </a:xfrm>
          <a:prstGeom prst="roundRect">
            <a:avLst>
              <a:gd name="adj" fmla="val 1446"/>
            </a:avLst>
          </a:prstGeom>
          <a:solidFill>
            <a:srgbClr val="FFFFFF"/>
          </a:solidFill>
          <a:ln w="9525">
            <a:solidFill>
              <a:srgbClr val="E2E8F0"/>
            </a:solidFill>
            <a:prstDash val="solid"/>
          </a:ln>
        </p:spPr>
      </p:sp>
      <p:pic>
        <p:nvPicPr>
          <p:cNvPr id="12" name="Image 0" descr="C:\Users\sayee\Documents\Tata_Motors_Final_Presentation\resources\sql_etl_ide.png"/>
          <p:cNvPicPr>
            <a:picLocks noChangeAspect="1"/>
          </p:cNvPicPr>
          <p:nvPr/>
        </p:nvPicPr>
        <p:blipFill>
          <a:blip r:embed="rId3"/>
          <a:stretch>
            <a:fillRect/>
          </a:stretch>
        </p:blipFill>
        <p:spPr>
          <a:xfrm>
            <a:off x="3886200" y="960120"/>
            <a:ext cx="4754880" cy="36118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D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8220"/>
          </a:solidFill>
          <a:ln w="12700">
            <a:solidFill>
              <a:srgbClr val="F58220"/>
            </a:solidFill>
            <a:prstDash val="solid"/>
          </a:ln>
        </p:spPr>
      </p:sp>
      <p:sp>
        <p:nvSpPr>
          <p:cNvPr id="3" name="Text 1"/>
          <p:cNvSpPr/>
          <p:nvPr/>
        </p:nvSpPr>
        <p:spPr>
          <a:xfrm>
            <a:off x="914400" y="1828800"/>
            <a:ext cx="7315200" cy="64008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EXCEL &amp; POWER BI ANALYTICS</a:t>
            </a:r>
            <a:endParaRPr lang="en-US" sz="2600" dirty="0"/>
          </a:p>
        </p:txBody>
      </p:sp>
      <p:sp>
        <p:nvSpPr>
          <p:cNvPr id="4" name="Shape 2"/>
          <p:cNvSpPr/>
          <p:nvPr/>
        </p:nvSpPr>
        <p:spPr>
          <a:xfrm>
            <a:off x="3931920" y="2606040"/>
            <a:ext cx="1280160" cy="36576"/>
          </a:xfrm>
          <a:prstGeom prst="rect">
            <a:avLst/>
          </a:prstGeom>
          <a:solidFill>
            <a:srgbClr val="F58220"/>
          </a:solidFill>
          <a:ln w="12700">
            <a:solidFill>
              <a:srgbClr val="F58220"/>
            </a:solidFill>
            <a:prstDash val="solid"/>
          </a:ln>
        </p:spPr>
      </p:sp>
      <p:sp>
        <p:nvSpPr>
          <p:cNvPr id="5" name="Text 3"/>
          <p:cNvSpPr/>
          <p:nvPr/>
        </p:nvSpPr>
        <p:spPr>
          <a:xfrm>
            <a:off x="914400" y="2788920"/>
            <a:ext cx="7315200" cy="365760"/>
          </a:xfrm>
          <a:prstGeom prst="rect">
            <a:avLst/>
          </a:prstGeom>
          <a:noFill/>
          <a:ln/>
        </p:spPr>
        <p:txBody>
          <a:bodyPr wrap="square" rtlCol="0" anchor="ctr"/>
          <a:lstStyle/>
          <a:p>
            <a:pPr marL="0" indent="0" algn="ctr">
              <a:buNone/>
            </a:pPr>
            <a:r>
              <a:rPr lang="en-US" sz="1300" dirty="0">
                <a:solidFill>
                  <a:srgbClr val="3EA6FF"/>
                </a:solidFill>
                <a:latin typeface="Arial" pitchFamily="34" charset="0"/>
                <a:ea typeface="Arial" pitchFamily="34" charset="-122"/>
                <a:cs typeface="Arial" pitchFamily="34" charset="-120"/>
              </a:rPr>
              <a:t>Formula Architecture, Dashboards &amp; Business Intelligence</a:t>
            </a:r>
            <a:endParaRPr lang="en-US" sz="1300" dirty="0"/>
          </a:p>
        </p:txBody>
      </p:sp>
      <p:sp>
        <p:nvSpPr>
          <p:cNvPr id="6" name="Text 4"/>
          <p:cNvSpPr/>
          <p:nvPr/>
        </p:nvSpPr>
        <p:spPr>
          <a:xfrm>
            <a:off x="914400" y="4572000"/>
            <a:ext cx="7315200" cy="228600"/>
          </a:xfrm>
          <a:prstGeom prst="rect">
            <a:avLst/>
          </a:prstGeom>
          <a:noFill/>
          <a:ln/>
        </p:spPr>
        <p:txBody>
          <a:bodyPr wrap="square" rtlCol="0" anchor="ctr"/>
          <a:lstStyle/>
          <a:p>
            <a:pPr marL="0" indent="0" algn="ctr">
              <a:buNone/>
            </a:pPr>
            <a:r>
              <a:rPr lang="en-US" sz="800" b="1" dirty="0">
                <a:solidFill>
                  <a:srgbClr val="64748B"/>
                </a:solidFill>
                <a:latin typeface="Arial" pitchFamily="34" charset="0"/>
                <a:ea typeface="Arial" pitchFamily="34" charset="-122"/>
                <a:cs typeface="Arial" pitchFamily="34" charset="-120"/>
              </a:rPr>
              <a:t>TATA MOTORS OPERATIONS STUDY</a:t>
            </a:r>
            <a:endParaRPr lang="en-US" sz="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Excel Analytical Formula Architecture</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EXCEL EDA</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18</a:t>
            </a:r>
            <a:endParaRPr lang="en-US" sz="700" dirty="0"/>
          </a:p>
        </p:txBody>
      </p:sp>
      <p:sp>
        <p:nvSpPr>
          <p:cNvPr id="8" name="Shape 6"/>
          <p:cNvSpPr/>
          <p:nvPr/>
        </p:nvSpPr>
        <p:spPr>
          <a:xfrm>
            <a:off x="365760" y="841248"/>
            <a:ext cx="1965960" cy="594360"/>
          </a:xfrm>
          <a:prstGeom prst="roundRect">
            <a:avLst>
              <a:gd name="adj" fmla="val 9231"/>
            </a:avLst>
          </a:prstGeom>
          <a:solidFill>
            <a:srgbClr val="FFFFFF"/>
          </a:solidFill>
          <a:ln w="9525">
            <a:solidFill>
              <a:srgbClr val="E2E8F0"/>
            </a:solidFill>
            <a:prstDash val="solid"/>
          </a:ln>
        </p:spPr>
      </p:sp>
      <p:sp>
        <p:nvSpPr>
          <p:cNvPr id="9" name="Text 7"/>
          <p:cNvSpPr/>
          <p:nvPr/>
        </p:nvSpPr>
        <p:spPr>
          <a:xfrm>
            <a:off x="457200" y="850392"/>
            <a:ext cx="1783080" cy="274320"/>
          </a:xfrm>
          <a:prstGeom prst="rect">
            <a:avLst/>
          </a:prstGeom>
          <a:noFill/>
          <a:ln/>
        </p:spPr>
        <p:txBody>
          <a:bodyPr wrap="square" rtlCol="0" anchor="ctr"/>
          <a:lstStyle/>
          <a:p>
            <a:pPr marL="0" indent="0">
              <a:buNone/>
            </a:pPr>
            <a:r>
              <a:rPr lang="en-US" sz="1500" b="1" dirty="0">
                <a:solidFill>
                  <a:srgbClr val="EF4444"/>
                </a:solidFill>
                <a:latin typeface="Arial" pitchFamily="34" charset="0"/>
                <a:ea typeface="Arial" pitchFamily="34" charset="-122"/>
                <a:cs typeface="Arial" pitchFamily="34" charset="-120"/>
              </a:rPr>
              <a:t>49,578</a:t>
            </a:r>
            <a:endParaRPr lang="en-US" sz="1500" dirty="0"/>
          </a:p>
        </p:txBody>
      </p:sp>
      <p:sp>
        <p:nvSpPr>
          <p:cNvPr id="10" name="Text 8"/>
          <p:cNvSpPr/>
          <p:nvPr/>
        </p:nvSpPr>
        <p:spPr>
          <a:xfrm>
            <a:off x="457200" y="1133856"/>
            <a:ext cx="1783080" cy="18288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COD Avg (₹)</a:t>
            </a:r>
            <a:endParaRPr lang="en-US" sz="800" dirty="0"/>
          </a:p>
        </p:txBody>
      </p:sp>
      <p:sp>
        <p:nvSpPr>
          <p:cNvPr id="11" name="Shape 9"/>
          <p:cNvSpPr/>
          <p:nvPr/>
        </p:nvSpPr>
        <p:spPr>
          <a:xfrm>
            <a:off x="2514600" y="841248"/>
            <a:ext cx="1965960" cy="594360"/>
          </a:xfrm>
          <a:prstGeom prst="roundRect">
            <a:avLst>
              <a:gd name="adj" fmla="val 9231"/>
            </a:avLst>
          </a:prstGeom>
          <a:solidFill>
            <a:srgbClr val="FFFFFF"/>
          </a:solidFill>
          <a:ln w="9525">
            <a:solidFill>
              <a:srgbClr val="E2E8F0"/>
            </a:solidFill>
            <a:prstDash val="solid"/>
          </a:ln>
        </p:spPr>
      </p:sp>
      <p:sp>
        <p:nvSpPr>
          <p:cNvPr id="12" name="Text 10"/>
          <p:cNvSpPr/>
          <p:nvPr/>
        </p:nvSpPr>
        <p:spPr>
          <a:xfrm>
            <a:off x="2606040" y="850392"/>
            <a:ext cx="1783080" cy="274320"/>
          </a:xfrm>
          <a:prstGeom prst="rect">
            <a:avLst/>
          </a:prstGeom>
          <a:noFill/>
          <a:ln/>
        </p:spPr>
        <p:txBody>
          <a:bodyPr wrap="square" rtlCol="0" anchor="ctr"/>
          <a:lstStyle/>
          <a:p>
            <a:pPr marL="0" indent="0">
              <a:buNone/>
            </a:pPr>
            <a:r>
              <a:rPr lang="en-US" sz="1500" b="1" dirty="0">
                <a:solidFill>
                  <a:srgbClr val="3EA6FF"/>
                </a:solidFill>
                <a:latin typeface="Arial" pitchFamily="34" charset="0"/>
                <a:ea typeface="Arial" pitchFamily="34" charset="-122"/>
                <a:cs typeface="Arial" pitchFamily="34" charset="-120"/>
              </a:rPr>
              <a:t>45,039</a:t>
            </a:r>
            <a:endParaRPr lang="en-US" sz="1500" dirty="0"/>
          </a:p>
        </p:txBody>
      </p:sp>
      <p:sp>
        <p:nvSpPr>
          <p:cNvPr id="13" name="Text 11"/>
          <p:cNvSpPr/>
          <p:nvPr/>
        </p:nvSpPr>
        <p:spPr>
          <a:xfrm>
            <a:off x="2606040" y="1133856"/>
            <a:ext cx="1783080" cy="18288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Card Avg (₹)</a:t>
            </a:r>
            <a:endParaRPr lang="en-US" sz="800" dirty="0"/>
          </a:p>
        </p:txBody>
      </p:sp>
      <p:sp>
        <p:nvSpPr>
          <p:cNvPr id="14" name="Shape 12"/>
          <p:cNvSpPr/>
          <p:nvPr/>
        </p:nvSpPr>
        <p:spPr>
          <a:xfrm>
            <a:off x="4663440" y="841248"/>
            <a:ext cx="1965960" cy="594360"/>
          </a:xfrm>
          <a:prstGeom prst="roundRect">
            <a:avLst>
              <a:gd name="adj" fmla="val 9231"/>
            </a:avLst>
          </a:prstGeom>
          <a:solidFill>
            <a:srgbClr val="FFFFFF"/>
          </a:solidFill>
          <a:ln w="9525">
            <a:solidFill>
              <a:srgbClr val="E2E8F0"/>
            </a:solidFill>
            <a:prstDash val="solid"/>
          </a:ln>
        </p:spPr>
      </p:sp>
      <p:sp>
        <p:nvSpPr>
          <p:cNvPr id="15" name="Text 13"/>
          <p:cNvSpPr/>
          <p:nvPr/>
        </p:nvSpPr>
        <p:spPr>
          <a:xfrm>
            <a:off x="4754880" y="850392"/>
            <a:ext cx="1783080" cy="274320"/>
          </a:xfrm>
          <a:prstGeom prst="rect">
            <a:avLst/>
          </a:prstGeom>
          <a:noFill/>
          <a:ln/>
        </p:spPr>
        <p:txBody>
          <a:bodyPr wrap="square" rtlCol="0" anchor="ctr"/>
          <a:lstStyle/>
          <a:p>
            <a:pPr marL="0" indent="0">
              <a:buNone/>
            </a:pPr>
            <a:r>
              <a:rPr lang="en-US" sz="1500" b="1" dirty="0">
                <a:solidFill>
                  <a:srgbClr val="F58220"/>
                </a:solidFill>
                <a:latin typeface="Arial" pitchFamily="34" charset="0"/>
                <a:ea typeface="Arial" pitchFamily="34" charset="-122"/>
                <a:cs typeface="Arial" pitchFamily="34" charset="-120"/>
              </a:rPr>
              <a:t>60%+</a:t>
            </a:r>
            <a:endParaRPr lang="en-US" sz="1500" dirty="0"/>
          </a:p>
        </p:txBody>
      </p:sp>
      <p:sp>
        <p:nvSpPr>
          <p:cNvPr id="16" name="Text 14"/>
          <p:cNvSpPr/>
          <p:nvPr/>
        </p:nvSpPr>
        <p:spPr>
          <a:xfrm>
            <a:off x="4754880" y="1133856"/>
            <a:ext cx="1783080" cy="18288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Heavy Cargo</a:t>
            </a:r>
            <a:endParaRPr lang="en-US" sz="800" dirty="0"/>
          </a:p>
        </p:txBody>
      </p:sp>
      <p:sp>
        <p:nvSpPr>
          <p:cNvPr id="17" name="Shape 15"/>
          <p:cNvSpPr/>
          <p:nvPr/>
        </p:nvSpPr>
        <p:spPr>
          <a:xfrm>
            <a:off x="6812280" y="841248"/>
            <a:ext cx="1965960" cy="594360"/>
          </a:xfrm>
          <a:prstGeom prst="roundRect">
            <a:avLst>
              <a:gd name="adj" fmla="val 9231"/>
            </a:avLst>
          </a:prstGeom>
          <a:solidFill>
            <a:srgbClr val="FFFFFF"/>
          </a:solidFill>
          <a:ln w="9525">
            <a:solidFill>
              <a:srgbClr val="E2E8F0"/>
            </a:solidFill>
            <a:prstDash val="solid"/>
          </a:ln>
        </p:spPr>
      </p:sp>
      <p:sp>
        <p:nvSpPr>
          <p:cNvPr id="18" name="Text 16"/>
          <p:cNvSpPr/>
          <p:nvPr/>
        </p:nvSpPr>
        <p:spPr>
          <a:xfrm>
            <a:off x="6903720" y="850392"/>
            <a:ext cx="1783080" cy="274320"/>
          </a:xfrm>
          <a:prstGeom prst="rect">
            <a:avLst/>
          </a:prstGeom>
          <a:noFill/>
          <a:ln/>
        </p:spPr>
        <p:txBody>
          <a:bodyPr wrap="square" rtlCol="0" anchor="ctr"/>
          <a:lstStyle/>
          <a:p>
            <a:pPr marL="0" indent="0">
              <a:buNone/>
            </a:pPr>
            <a:r>
              <a:rPr lang="en-US" sz="1500" b="1" dirty="0">
                <a:solidFill>
                  <a:srgbClr val="0B1D35"/>
                </a:solidFill>
                <a:latin typeface="Arial" pitchFamily="34" charset="0"/>
                <a:ea typeface="Arial" pitchFamily="34" charset="-122"/>
                <a:cs typeface="Arial" pitchFamily="34" charset="-120"/>
              </a:rPr>
              <a:t>117.98d</a:t>
            </a:r>
            <a:endParaRPr lang="en-US" sz="1500" dirty="0"/>
          </a:p>
        </p:txBody>
      </p:sp>
      <p:sp>
        <p:nvSpPr>
          <p:cNvPr id="19" name="Text 17"/>
          <p:cNvSpPr/>
          <p:nvPr/>
        </p:nvSpPr>
        <p:spPr>
          <a:xfrm>
            <a:off x="6903720" y="1133856"/>
            <a:ext cx="1783080" cy="182880"/>
          </a:xfrm>
          <a:prstGeom prst="rect">
            <a:avLst/>
          </a:prstGeom>
          <a:noFill/>
          <a:ln/>
        </p:spPr>
        <p:txBody>
          <a:bodyPr wrap="square" rtlCol="0" anchor="ctr"/>
          <a:lstStyle/>
          <a:p>
            <a:pPr marL="0" indent="0">
              <a:buNone/>
            </a:pPr>
            <a:r>
              <a:rPr lang="en-US" sz="800" dirty="0">
                <a:solidFill>
                  <a:srgbClr val="64748B"/>
                </a:solidFill>
                <a:latin typeface="Arial" pitchFamily="34" charset="0"/>
                <a:ea typeface="Arial" pitchFamily="34" charset="-122"/>
                <a:cs typeface="Arial" pitchFamily="34" charset="-120"/>
              </a:rPr>
              <a:t>Domestic Transit</a:t>
            </a:r>
            <a:endParaRPr lang="en-US" sz="800" dirty="0"/>
          </a:p>
        </p:txBody>
      </p:sp>
      <p:sp>
        <p:nvSpPr>
          <p:cNvPr id="20" name="Shape 18"/>
          <p:cNvSpPr/>
          <p:nvPr/>
        </p:nvSpPr>
        <p:spPr>
          <a:xfrm>
            <a:off x="365760" y="1600200"/>
            <a:ext cx="3931920" cy="3063240"/>
          </a:xfrm>
          <a:prstGeom prst="roundRect">
            <a:avLst>
              <a:gd name="adj" fmla="val 1791"/>
            </a:avLst>
          </a:prstGeom>
          <a:solidFill>
            <a:srgbClr val="FFFFFF"/>
          </a:solidFill>
          <a:ln w="9525">
            <a:solidFill>
              <a:srgbClr val="E2E8F0"/>
            </a:solidFill>
            <a:prstDash val="solid"/>
          </a:ln>
        </p:spPr>
      </p:sp>
      <p:sp>
        <p:nvSpPr>
          <p:cNvPr id="21" name="Text 19"/>
          <p:cNvSpPr/>
          <p:nvPr/>
        </p:nvSpPr>
        <p:spPr>
          <a:xfrm>
            <a:off x="502920" y="1664208"/>
            <a:ext cx="3657600" cy="22860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Formula Integration System</a:t>
            </a:r>
            <a:endParaRPr lang="en-US" sz="1200" dirty="0"/>
          </a:p>
        </p:txBody>
      </p:sp>
      <p:sp>
        <p:nvSpPr>
          <p:cNvPr id="22" name="Text 20"/>
          <p:cNvSpPr/>
          <p:nvPr/>
        </p:nvSpPr>
        <p:spPr>
          <a:xfrm>
            <a:off x="502920" y="1938528"/>
            <a:ext cx="3657600" cy="2606040"/>
          </a:xfrm>
          <a:prstGeom prst="rect">
            <a:avLst/>
          </a:prstGeom>
          <a:noFill/>
          <a:ln/>
        </p:spPr>
        <p:txBody>
          <a:bodyPr wrap="square" rtlCol="0" anchor="ctr"/>
          <a:lstStyle/>
          <a:p>
            <a:pPr marL="0" indent="0">
              <a:lnSpc>
                <a:spcPts val="1000"/>
              </a:lnSpc>
              <a:buNone/>
            </a:pPr>
            <a:r>
              <a:rPr lang="en-US" sz="900" b="1" dirty="0">
                <a:solidFill>
                  <a:srgbClr val="2D3748"/>
                </a:solidFill>
                <a:latin typeface="Arial" pitchFamily="34" charset="0"/>
                <a:ea typeface="Arial" pitchFamily="34" charset="-122"/>
                <a:cs typeface="Arial" pitchFamily="34" charset="-120"/>
              </a:rPr>
              <a:t>▸ Customer-Membership Merge
</a:t>
            </a:r>
            <a:r>
              <a:rPr lang="en-US" sz="900" dirty="0">
                <a:solidFill>
                  <a:srgbClr val="2D3748"/>
                </a:solidFill>
                <a:latin typeface="Arial" pitchFamily="34" charset="0"/>
                <a:ea typeface="Arial" pitchFamily="34" charset="-122"/>
                <a:cs typeface="Arial" pitchFamily="34" charset="-120"/>
              </a:rPr>
              <a:t>XLOOKUP on M_ID joins demographics with membership dates.
</a:t>
            </a:r>
            <a:r>
              <a:rPr lang="en-US" sz="900" b="1" dirty="0">
                <a:solidFill>
                  <a:srgbClr val="2D3748"/>
                </a:solidFill>
                <a:latin typeface="Arial" pitchFamily="34" charset="0"/>
                <a:ea typeface="Arial" pitchFamily="34" charset="-122"/>
                <a:cs typeface="Arial" pitchFamily="34" charset="-120"/>
              </a:rPr>
              <a:t>▸ Shipment-Status Integration
</a:t>
            </a:r>
            <a:r>
              <a:rPr lang="en-US" sz="900" dirty="0">
                <a:solidFill>
                  <a:srgbClr val="2D3748"/>
                </a:solidFill>
                <a:latin typeface="Arial" pitchFamily="34" charset="0"/>
                <a:ea typeface="Arial" pitchFamily="34" charset="-122"/>
                <a:cs typeface="Arial" pitchFamily="34" charset="-120"/>
              </a:rPr>
              <a:t>Links shipment details with delivery logs on SH_ID.
</a:t>
            </a:r>
            <a:r>
              <a:rPr lang="en-US" sz="900" b="1" dirty="0">
                <a:solidFill>
                  <a:srgbClr val="F58220"/>
                </a:solidFill>
                <a:latin typeface="Arial" pitchFamily="34" charset="0"/>
                <a:ea typeface="Arial" pitchFamily="34" charset="-122"/>
                <a:cs typeface="Arial" pitchFamily="34" charset="-120"/>
              </a:rPr>
              <a:t>▸ Payment Mode Aggregation
</a:t>
            </a:r>
            <a:r>
              <a:rPr lang="en-US" sz="900" dirty="0">
                <a:solidFill>
                  <a:srgbClr val="2D3748"/>
                </a:solidFill>
                <a:latin typeface="Arial" pitchFamily="34" charset="0"/>
                <a:ea typeface="Arial" pitchFamily="34" charset="-122"/>
                <a:cs typeface="Arial" pitchFamily="34" charset="-120"/>
              </a:rPr>
              <a:t>AVERAGEIFS analyzes COD vs Card payment averages.
</a:t>
            </a:r>
            <a:r>
              <a:rPr lang="en-US" sz="900" b="1" dirty="0">
                <a:solidFill>
                  <a:srgbClr val="2D3748"/>
                </a:solidFill>
                <a:latin typeface="Arial" pitchFamily="34" charset="0"/>
                <a:ea typeface="Arial" pitchFamily="34" charset="-122"/>
                <a:cs typeface="Arial" pitchFamily="34" charset="-120"/>
              </a:rPr>
              <a:t>▸ Employee Shipment Count
</a:t>
            </a:r>
            <a:r>
              <a:rPr lang="en-US" sz="900" dirty="0">
                <a:solidFill>
                  <a:srgbClr val="2D3748"/>
                </a:solidFill>
                <a:latin typeface="Arial" pitchFamily="34" charset="0"/>
                <a:ea typeface="Arial" pitchFamily="34" charset="-122"/>
                <a:cs typeface="Arial" pitchFamily="34" charset="-120"/>
              </a:rPr>
              <a:t>Array formulas calculate orders per employee.
</a:t>
            </a:r>
            <a:r>
              <a:rPr lang="en-US" sz="900" b="1" dirty="0">
                <a:solidFill>
                  <a:srgbClr val="3EA6FF"/>
                </a:solidFill>
                <a:latin typeface="Arial" pitchFamily="34" charset="0"/>
                <a:ea typeface="Arial" pitchFamily="34" charset="-122"/>
                <a:cs typeface="Arial" pitchFamily="34" charset="-120"/>
              </a:rPr>
              <a:t>▸ Dynamic Dropdowns
</a:t>
            </a:r>
            <a:r>
              <a:rPr lang="en-US" sz="900" dirty="0">
                <a:solidFill>
                  <a:srgbClr val="2D3748"/>
                </a:solidFill>
                <a:latin typeface="Arial" pitchFamily="34" charset="0"/>
                <a:ea typeface="Arial" pitchFamily="34" charset="-122"/>
                <a:cs typeface="Arial" pitchFamily="34" charset="-120"/>
              </a:rPr>
              <a:t>Data validation lists for employee profile selection.</a:t>
            </a:r>
            <a:endParaRPr lang="en-US" sz="900" dirty="0"/>
          </a:p>
        </p:txBody>
      </p:sp>
      <p:sp>
        <p:nvSpPr>
          <p:cNvPr id="23" name="Shape 21"/>
          <p:cNvSpPr/>
          <p:nvPr/>
        </p:nvSpPr>
        <p:spPr>
          <a:xfrm>
            <a:off x="4434840" y="1600200"/>
            <a:ext cx="4297680" cy="3063240"/>
          </a:xfrm>
          <a:prstGeom prst="roundRect">
            <a:avLst>
              <a:gd name="adj" fmla="val 1791"/>
            </a:avLst>
          </a:prstGeom>
          <a:solidFill>
            <a:srgbClr val="FFFFFF"/>
          </a:solidFill>
          <a:ln w="9525">
            <a:solidFill>
              <a:srgbClr val="E2E8F0"/>
            </a:solidFill>
            <a:prstDash val="solid"/>
          </a:ln>
        </p:spPr>
      </p:sp>
      <p:sp>
        <p:nvSpPr>
          <p:cNvPr id="24" name="Text 22"/>
          <p:cNvSpPr/>
          <p:nvPr/>
        </p:nvSpPr>
        <p:spPr>
          <a:xfrm>
            <a:off x="4572000" y="1664208"/>
            <a:ext cx="4023360" cy="22860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Excel Formula Reference</a:t>
            </a:r>
            <a:endParaRPr lang="en-US" sz="1200" dirty="0"/>
          </a:p>
        </p:txBody>
      </p:sp>
      <p:sp>
        <p:nvSpPr>
          <p:cNvPr id="25" name="Shape 23"/>
          <p:cNvSpPr/>
          <p:nvPr/>
        </p:nvSpPr>
        <p:spPr>
          <a:xfrm>
            <a:off x="4526280" y="1938528"/>
            <a:ext cx="4114800" cy="2606040"/>
          </a:xfrm>
          <a:prstGeom prst="roundRect">
            <a:avLst>
              <a:gd name="adj" fmla="val 1404"/>
            </a:avLst>
          </a:prstGeom>
          <a:solidFill>
            <a:srgbClr val="1E293B"/>
          </a:solidFill>
          <a:ln w="6350">
            <a:solidFill>
              <a:srgbClr val="0B1D35"/>
            </a:solidFill>
            <a:prstDash val="solid"/>
          </a:ln>
        </p:spPr>
      </p:sp>
      <p:sp>
        <p:nvSpPr>
          <p:cNvPr id="26" name="Text 24"/>
          <p:cNvSpPr/>
          <p:nvPr/>
        </p:nvSpPr>
        <p:spPr>
          <a:xfrm>
            <a:off x="4636008" y="2029968"/>
            <a:ext cx="3895344" cy="2423160"/>
          </a:xfrm>
          <a:prstGeom prst="rect">
            <a:avLst/>
          </a:prstGeom>
          <a:noFill/>
          <a:ln/>
        </p:spPr>
        <p:txBody>
          <a:bodyPr wrap="square" rtlCol="0" anchor="ctr"/>
          <a:lstStyle/>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Customer-Membership Merge</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=XLOOKUP(B2, Membership!A:A,</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Membership!B:C)</a:t>
            </a:r>
            <a:endParaRPr lang="en-US" sz="850" dirty="0"/>
          </a:p>
          <a:p>
            <a:pPr marL="0" indent="0">
              <a:lnSpc>
                <a:spcPts val="1000"/>
              </a:lnSpc>
              <a:buNone/>
            </a:pP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Shipment-Status Integration</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=XLOOKUP(A2, Status!A:A,</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Status!B:B, "Not Sent")</a:t>
            </a:r>
            <a:endParaRPr lang="en-US" sz="850" dirty="0"/>
          </a:p>
          <a:p>
            <a:pPr marL="0" indent="0">
              <a:lnSpc>
                <a:spcPts val="1000"/>
              </a:lnSpc>
              <a:buNone/>
            </a:pP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Payment Mode Average (COD)</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=AVERAGEIFS(Payment!D:D,</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Payment!F:F, "COD")</a:t>
            </a:r>
            <a:endParaRPr lang="en-US" sz="850" dirty="0"/>
          </a:p>
          <a:p>
            <a:pPr marL="0" indent="0">
              <a:lnSpc>
                <a:spcPts val="1000"/>
              </a:lnSpc>
              <a:buNone/>
            </a:pP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Employee Shipment Count</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{=SUM(IF(emp_shipment!A:A=E_ID,</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1, 0))}</a:t>
            </a:r>
            <a:endParaRPr lang="en-US" sz="850" dirty="0"/>
          </a:p>
          <a:p>
            <a:pPr marL="0" indent="0">
              <a:lnSpc>
                <a:spcPts val="1000"/>
              </a:lnSpc>
              <a:buNone/>
            </a:pP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Payment Category</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=IF(D2&gt;5000,"High",</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IF(D2&gt;=1000,"Medium","Low"))</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250" fill="hold"/>
                                        <p:tgtEl>
                                          <p:spTgt spid="8"/>
                                        </p:tgtEl>
                                        <p:attrNameLst>
                                          <p:attrName>ppt_w</p:attrName>
                                        </p:attrNameLst>
                                      </p:cBhvr>
                                      <p:tavLst>
                                        <p:tav tm="0">
                                          <p:val>
                                            <p:fltVal val="0"/>
                                          </p:val>
                                        </p:tav>
                                        <p:tav tm="100000">
                                          <p:val>
                                            <p:strVal val="#ppt_w"/>
                                          </p:val>
                                        </p:tav>
                                      </p:tavLst>
                                    </p:anim>
                                    <p:anim calcmode="lin" valueType="num">
                                      <p:cBhvr>
                                        <p:cTn id="8" dur="250" fill="hold"/>
                                        <p:tgtEl>
                                          <p:spTgt spid="8"/>
                                        </p:tgtEl>
                                        <p:attrNameLst>
                                          <p:attrName>ppt_h</p:attrName>
                                        </p:attrNameLst>
                                      </p:cBhvr>
                                      <p:tavLst>
                                        <p:tav tm="0">
                                          <p:val>
                                            <p:fltVal val="0"/>
                                          </p:val>
                                        </p:tav>
                                        <p:tav tm="100000">
                                          <p:val>
                                            <p:strVal val="#ppt_h"/>
                                          </p:val>
                                        </p:tav>
                                      </p:tavLst>
                                    </p:anim>
                                    <p:animEffect transition="in" filter="fade">
                                      <p:cBhvr>
                                        <p:cTn id="9" dur="250"/>
                                        <p:tgtEl>
                                          <p:spTgt spid="8"/>
                                        </p:tgtEl>
                                      </p:cBhvr>
                                    </p:animEffect>
                                  </p:childTnLst>
                                </p:cTn>
                              </p:par>
                            </p:childTnLst>
                          </p:cTn>
                        </p:par>
                        <p:par>
                          <p:cTn id="10" fill="hold">
                            <p:stCondLst>
                              <p:cond delay="250"/>
                            </p:stCondLst>
                            <p:childTnLst>
                              <p:par>
                                <p:cTn id="11" presetID="53" presetClass="entr" presetSubtype="16"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250" fill="hold"/>
                                        <p:tgtEl>
                                          <p:spTgt spid="11"/>
                                        </p:tgtEl>
                                        <p:attrNameLst>
                                          <p:attrName>ppt_w</p:attrName>
                                        </p:attrNameLst>
                                      </p:cBhvr>
                                      <p:tavLst>
                                        <p:tav tm="0">
                                          <p:val>
                                            <p:fltVal val="0"/>
                                          </p:val>
                                        </p:tav>
                                        <p:tav tm="100000">
                                          <p:val>
                                            <p:strVal val="#ppt_w"/>
                                          </p:val>
                                        </p:tav>
                                      </p:tavLst>
                                    </p:anim>
                                    <p:anim calcmode="lin" valueType="num">
                                      <p:cBhvr>
                                        <p:cTn id="14" dur="250" fill="hold"/>
                                        <p:tgtEl>
                                          <p:spTgt spid="11"/>
                                        </p:tgtEl>
                                        <p:attrNameLst>
                                          <p:attrName>ppt_h</p:attrName>
                                        </p:attrNameLst>
                                      </p:cBhvr>
                                      <p:tavLst>
                                        <p:tav tm="0">
                                          <p:val>
                                            <p:fltVal val="0"/>
                                          </p:val>
                                        </p:tav>
                                        <p:tav tm="100000">
                                          <p:val>
                                            <p:strVal val="#ppt_h"/>
                                          </p:val>
                                        </p:tav>
                                      </p:tavLst>
                                    </p:anim>
                                    <p:animEffect transition="in" filter="fade">
                                      <p:cBhvr>
                                        <p:cTn id="15" dur="250"/>
                                        <p:tgtEl>
                                          <p:spTgt spid="11"/>
                                        </p:tgtEl>
                                      </p:cBhvr>
                                    </p:animEffect>
                                  </p:childTnLst>
                                </p:cTn>
                              </p:par>
                            </p:childTnLst>
                          </p:cTn>
                        </p:par>
                        <p:par>
                          <p:cTn id="16" fill="hold">
                            <p:stCondLst>
                              <p:cond delay="500"/>
                            </p:stCondLst>
                            <p:childTnLst>
                              <p:par>
                                <p:cTn id="17" presetID="53" presetClass="entr" presetSubtype="16"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250" fill="hold"/>
                                        <p:tgtEl>
                                          <p:spTgt spid="14"/>
                                        </p:tgtEl>
                                        <p:attrNameLst>
                                          <p:attrName>ppt_w</p:attrName>
                                        </p:attrNameLst>
                                      </p:cBhvr>
                                      <p:tavLst>
                                        <p:tav tm="0">
                                          <p:val>
                                            <p:fltVal val="0"/>
                                          </p:val>
                                        </p:tav>
                                        <p:tav tm="100000">
                                          <p:val>
                                            <p:strVal val="#ppt_w"/>
                                          </p:val>
                                        </p:tav>
                                      </p:tavLst>
                                    </p:anim>
                                    <p:anim calcmode="lin" valueType="num">
                                      <p:cBhvr>
                                        <p:cTn id="20" dur="250" fill="hold"/>
                                        <p:tgtEl>
                                          <p:spTgt spid="14"/>
                                        </p:tgtEl>
                                        <p:attrNameLst>
                                          <p:attrName>ppt_h</p:attrName>
                                        </p:attrNameLst>
                                      </p:cBhvr>
                                      <p:tavLst>
                                        <p:tav tm="0">
                                          <p:val>
                                            <p:fltVal val="0"/>
                                          </p:val>
                                        </p:tav>
                                        <p:tav tm="100000">
                                          <p:val>
                                            <p:strVal val="#ppt_h"/>
                                          </p:val>
                                        </p:tav>
                                      </p:tavLst>
                                    </p:anim>
                                    <p:animEffect transition="in" filter="fade">
                                      <p:cBhvr>
                                        <p:cTn id="21" dur="250"/>
                                        <p:tgtEl>
                                          <p:spTgt spid="14"/>
                                        </p:tgtEl>
                                      </p:cBhvr>
                                    </p:animEffect>
                                  </p:childTnLst>
                                </p:cTn>
                              </p:par>
                            </p:childTnLst>
                          </p:cTn>
                        </p:par>
                        <p:par>
                          <p:cTn id="22" fill="hold">
                            <p:stCondLst>
                              <p:cond delay="750"/>
                            </p:stCondLst>
                            <p:childTnLst>
                              <p:par>
                                <p:cTn id="23" presetID="53" presetClass="entr" presetSubtype="16" fill="hold" nodeType="after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p:cTn id="25" dur="250" fill="hold"/>
                                        <p:tgtEl>
                                          <p:spTgt spid="17"/>
                                        </p:tgtEl>
                                        <p:attrNameLst>
                                          <p:attrName>ppt_w</p:attrName>
                                        </p:attrNameLst>
                                      </p:cBhvr>
                                      <p:tavLst>
                                        <p:tav tm="0">
                                          <p:val>
                                            <p:fltVal val="0"/>
                                          </p:val>
                                        </p:tav>
                                        <p:tav tm="100000">
                                          <p:val>
                                            <p:strVal val="#ppt_w"/>
                                          </p:val>
                                        </p:tav>
                                      </p:tavLst>
                                    </p:anim>
                                    <p:anim calcmode="lin" valueType="num">
                                      <p:cBhvr>
                                        <p:cTn id="26" dur="250" fill="hold"/>
                                        <p:tgtEl>
                                          <p:spTgt spid="17"/>
                                        </p:tgtEl>
                                        <p:attrNameLst>
                                          <p:attrName>ppt_h</p:attrName>
                                        </p:attrNameLst>
                                      </p:cBhvr>
                                      <p:tavLst>
                                        <p:tav tm="0">
                                          <p:val>
                                            <p:fltVal val="0"/>
                                          </p:val>
                                        </p:tav>
                                        <p:tav tm="100000">
                                          <p:val>
                                            <p:strVal val="#ppt_h"/>
                                          </p:val>
                                        </p:tav>
                                      </p:tavLst>
                                    </p:anim>
                                    <p:animEffect transition="in" filter="fade">
                                      <p:cBhvr>
                                        <p:cTn id="2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Excel Operations Dashboard</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DASHBOARD SHOWCASE</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19</a:t>
            </a:r>
            <a:endParaRPr lang="en-US" sz="700" dirty="0"/>
          </a:p>
        </p:txBody>
      </p:sp>
      <p:sp>
        <p:nvSpPr>
          <p:cNvPr id="8" name="Shape 6"/>
          <p:cNvSpPr/>
          <p:nvPr/>
        </p:nvSpPr>
        <p:spPr>
          <a:xfrm>
            <a:off x="365760" y="868680"/>
            <a:ext cx="3291840" cy="3794760"/>
          </a:xfrm>
          <a:prstGeom prst="roundRect">
            <a:avLst>
              <a:gd name="adj" fmla="val 1667"/>
            </a:avLst>
          </a:prstGeom>
          <a:solidFill>
            <a:srgbClr val="FFFFFF"/>
          </a:solidFill>
          <a:ln w="9525">
            <a:solidFill>
              <a:srgbClr val="E2E8F0"/>
            </a:solidFill>
            <a:prstDash val="solid"/>
          </a:ln>
        </p:spPr>
      </p:sp>
      <p:sp>
        <p:nvSpPr>
          <p:cNvPr id="9" name="Text 7"/>
          <p:cNvSpPr/>
          <p:nvPr/>
        </p:nvSpPr>
        <p:spPr>
          <a:xfrm>
            <a:off x="502920" y="960120"/>
            <a:ext cx="3017520" cy="22860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Key Dashboard Insights</a:t>
            </a:r>
            <a:endParaRPr lang="en-US" sz="1200" dirty="0"/>
          </a:p>
        </p:txBody>
      </p:sp>
      <p:sp>
        <p:nvSpPr>
          <p:cNvPr id="10" name="Text 8"/>
          <p:cNvSpPr/>
          <p:nvPr/>
        </p:nvSpPr>
        <p:spPr>
          <a:xfrm>
            <a:off x="502920" y="1280160"/>
            <a:ext cx="3017520" cy="3200400"/>
          </a:xfrm>
          <a:prstGeom prst="rect">
            <a:avLst/>
          </a:prstGeom>
          <a:noFill/>
          <a:ln/>
        </p:spPr>
        <p:txBody>
          <a:bodyPr wrap="square" rtlCol="0" anchor="ctr"/>
          <a:lstStyle/>
          <a:p>
            <a:pPr marL="0" indent="0">
              <a:lnSpc>
                <a:spcPts val="1100"/>
              </a:lnSpc>
              <a:buNone/>
            </a:pPr>
            <a:r>
              <a:rPr lang="en-US" sz="900" b="1" dirty="0">
                <a:solidFill>
                  <a:srgbClr val="EF4444"/>
                </a:solidFill>
                <a:latin typeface="Arial" pitchFamily="34" charset="0"/>
                <a:ea typeface="Arial" pitchFamily="34" charset="-122"/>
                <a:cs typeface="Arial" pitchFamily="34" charset="-120"/>
              </a:rPr>
              <a:t>• Domestic Delay Gap
</a:t>
            </a:r>
            <a:r>
              <a:rPr lang="en-US" sz="900" dirty="0">
                <a:solidFill>
                  <a:srgbClr val="2D3748"/>
                </a:solidFill>
                <a:latin typeface="Arial" pitchFamily="34" charset="0"/>
                <a:ea typeface="Arial" pitchFamily="34" charset="-122"/>
                <a:cs typeface="Arial" pitchFamily="34" charset="-120"/>
              </a:rPr>
              <a:t>117.98 days avg domestic vs 96.26 days international — local transit bottleneck.
</a:t>
            </a:r>
            <a:r>
              <a:rPr lang="en-US" sz="900" b="1" dirty="0">
                <a:solidFill>
                  <a:srgbClr val="F58220"/>
                </a:solidFill>
                <a:latin typeface="Arial" pitchFamily="34" charset="0"/>
                <a:ea typeface="Arial" pitchFamily="34" charset="-122"/>
                <a:cs typeface="Arial" pitchFamily="34" charset="-120"/>
              </a:rPr>
              <a:t>• COD Revenue Risk
</a:t>
            </a:r>
            <a:r>
              <a:rPr lang="en-US" sz="900" dirty="0">
                <a:solidFill>
                  <a:srgbClr val="2D3748"/>
                </a:solidFill>
                <a:latin typeface="Arial" pitchFamily="34" charset="0"/>
                <a:ea typeface="Arial" pitchFamily="34" charset="-122"/>
                <a:cs typeface="Arial" pitchFamily="34" charset="-120"/>
              </a:rPr>
              <a:t>COD avg: ₹49,578 vs Card: ₹45,039 — high cash dependency.
</a:t>
            </a:r>
            <a:r>
              <a:rPr lang="en-US" sz="900" b="1" dirty="0">
                <a:solidFill>
                  <a:srgbClr val="2D3748"/>
                </a:solidFill>
                <a:latin typeface="Arial" pitchFamily="34" charset="0"/>
                <a:ea typeface="Arial" pitchFamily="34" charset="-122"/>
                <a:cs typeface="Arial" pitchFamily="34" charset="-120"/>
              </a:rPr>
              <a:t>• Heavy Cargo Load
</a:t>
            </a:r>
            <a:r>
              <a:rPr lang="en-US" sz="900" dirty="0">
                <a:solidFill>
                  <a:srgbClr val="2D3748"/>
                </a:solidFill>
                <a:latin typeface="Arial" pitchFamily="34" charset="0"/>
                <a:ea typeface="Arial" pitchFamily="34" charset="-122"/>
                <a:cs typeface="Arial" pitchFamily="34" charset="-120"/>
              </a:rPr>
              <a:t>60%+ shipments classified as heavy (&gt;500 units), increasing transport costs.
</a:t>
            </a:r>
            <a:r>
              <a:rPr lang="en-US" sz="900" b="1" dirty="0">
                <a:solidFill>
                  <a:srgbClr val="3EA6FF"/>
                </a:solidFill>
                <a:latin typeface="Arial" pitchFamily="34" charset="0"/>
                <a:ea typeface="Arial" pitchFamily="34" charset="-122"/>
                <a:cs typeface="Arial" pitchFamily="34" charset="-120"/>
              </a:rPr>
              <a:t>• Dept. Cost Variance
</a:t>
            </a:r>
            <a:r>
              <a:rPr lang="en-US" sz="900" dirty="0">
                <a:solidFill>
                  <a:srgbClr val="2D3748"/>
                </a:solidFill>
                <a:latin typeface="Arial" pitchFamily="34" charset="0"/>
                <a:ea typeface="Arial" pitchFamily="34" charset="-122"/>
                <a:cs typeface="Arial" pitchFamily="34" charset="-120"/>
              </a:rPr>
              <a:t>HR operations generate highest average shipment charges at ₹1,129.</a:t>
            </a:r>
            <a:endParaRPr lang="en-US" sz="900" dirty="0"/>
          </a:p>
        </p:txBody>
      </p:sp>
      <p:sp>
        <p:nvSpPr>
          <p:cNvPr id="11" name="Shape 9"/>
          <p:cNvSpPr/>
          <p:nvPr/>
        </p:nvSpPr>
        <p:spPr>
          <a:xfrm>
            <a:off x="3794760" y="868680"/>
            <a:ext cx="4937760" cy="3794760"/>
          </a:xfrm>
          <a:prstGeom prst="roundRect">
            <a:avLst>
              <a:gd name="adj" fmla="val 1446"/>
            </a:avLst>
          </a:prstGeom>
          <a:solidFill>
            <a:srgbClr val="FFFFFF"/>
          </a:solidFill>
          <a:ln w="9525">
            <a:solidFill>
              <a:srgbClr val="E2E8F0"/>
            </a:solidFill>
            <a:prstDash val="solid"/>
          </a:ln>
        </p:spPr>
      </p:sp>
      <p:pic>
        <p:nvPicPr>
          <p:cNvPr id="12" name="Image 0"/>
          <p:cNvPicPr>
            <a:picLocks noChangeAspect="1"/>
          </p:cNvPicPr>
          <p:nvPr/>
        </p:nvPicPr>
        <p:blipFill>
          <a:blip r:embed="rId3"/>
          <a:srcRect/>
          <a:stretch/>
        </p:blipFill>
        <p:spPr>
          <a:xfrm>
            <a:off x="3882118" y="868680"/>
            <a:ext cx="4758962" cy="379476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50" fill="hold"/>
                                        <p:tgtEl>
                                          <p:spTgt spid="12"/>
                                        </p:tgtEl>
                                        <p:attrNameLst>
                                          <p:attrName>ppt_x</p:attrName>
                                        </p:attrNameLst>
                                      </p:cBhvr>
                                      <p:tavLst>
                                        <p:tav tm="0">
                                          <p:val>
                                            <p:strVal val="#ppt_x"/>
                                          </p:val>
                                        </p:tav>
                                        <p:tav tm="100000">
                                          <p:val>
                                            <p:strVal val="#ppt_x"/>
                                          </p:val>
                                        </p:tav>
                                      </p:tavLst>
                                    </p:anim>
                                    <p:anim calcmode="lin" valueType="num">
                                      <p:cBhvr additive="base">
                                        <p:cTn id="8" dur="25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Power BI Dashboard Architecture</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BUSINESS INTELLIGENCE</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20</a:t>
            </a:r>
            <a:endParaRPr lang="en-US" sz="700" dirty="0"/>
          </a:p>
        </p:txBody>
      </p:sp>
      <p:sp>
        <p:nvSpPr>
          <p:cNvPr id="8" name="Shape 6"/>
          <p:cNvSpPr/>
          <p:nvPr/>
        </p:nvSpPr>
        <p:spPr>
          <a:xfrm>
            <a:off x="365760" y="868680"/>
            <a:ext cx="3931920" cy="3794760"/>
          </a:xfrm>
          <a:prstGeom prst="roundRect">
            <a:avLst>
              <a:gd name="adj" fmla="val 1446"/>
            </a:avLst>
          </a:prstGeom>
          <a:solidFill>
            <a:srgbClr val="FFFFFF"/>
          </a:solidFill>
          <a:ln w="9525">
            <a:solidFill>
              <a:srgbClr val="E2E8F0"/>
            </a:solidFill>
            <a:prstDash val="solid"/>
          </a:ln>
        </p:spPr>
      </p:sp>
      <p:sp>
        <p:nvSpPr>
          <p:cNvPr id="9" name="Text 7"/>
          <p:cNvSpPr/>
          <p:nvPr/>
        </p:nvSpPr>
        <p:spPr>
          <a:xfrm>
            <a:off x="502920" y="960120"/>
            <a:ext cx="3657600" cy="22860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Analytical Pipeline Design</a:t>
            </a:r>
            <a:endParaRPr lang="en-US" sz="1200" dirty="0"/>
          </a:p>
        </p:txBody>
      </p:sp>
      <p:sp>
        <p:nvSpPr>
          <p:cNvPr id="10" name="Text 8"/>
          <p:cNvSpPr/>
          <p:nvPr/>
        </p:nvSpPr>
        <p:spPr>
          <a:xfrm>
            <a:off x="502920" y="1280160"/>
            <a:ext cx="3657600" cy="3200400"/>
          </a:xfrm>
          <a:prstGeom prst="rect">
            <a:avLst/>
          </a:prstGeom>
          <a:noFill/>
          <a:ln/>
        </p:spPr>
        <p:txBody>
          <a:bodyPr wrap="square" rtlCol="0" anchor="ctr"/>
          <a:lstStyle/>
          <a:p>
            <a:pPr marL="0" indent="0">
              <a:lnSpc>
                <a:spcPts val="1100"/>
              </a:lnSpc>
              <a:buNone/>
            </a:pPr>
            <a:r>
              <a:rPr lang="en-US" sz="900" b="1" dirty="0">
                <a:solidFill>
                  <a:srgbClr val="0B1D35"/>
                </a:solidFill>
                <a:latin typeface="Arial" pitchFamily="34" charset="0"/>
                <a:ea typeface="Arial" pitchFamily="34" charset="-122"/>
                <a:cs typeface="Arial" pitchFamily="34" charset="-120"/>
              </a:rPr>
              <a:t>• Ingestion Layer
</a:t>
            </a:r>
            <a:r>
              <a:rPr lang="en-US" sz="900" dirty="0">
                <a:solidFill>
                  <a:srgbClr val="2D3748"/>
                </a:solidFill>
                <a:latin typeface="Arial" pitchFamily="34" charset="0"/>
                <a:ea typeface="Arial" pitchFamily="34" charset="-122"/>
                <a:cs typeface="Arial" pitchFamily="34" charset="-120"/>
              </a:rPr>
              <a:t>Power Query loads CustomerPayments master tables and staging CSVs with schema mappings.
</a:t>
            </a:r>
            <a:r>
              <a:rPr lang="en-US" sz="900" b="1" dirty="0">
                <a:solidFill>
                  <a:srgbClr val="3EA6FF"/>
                </a:solidFill>
                <a:latin typeface="Arial" pitchFamily="34" charset="0"/>
                <a:ea typeface="Arial" pitchFamily="34" charset="-122"/>
                <a:cs typeface="Arial" pitchFamily="34" charset="-120"/>
              </a:rPr>
              <a:t>• Star Schema Model
</a:t>
            </a:r>
            <a:r>
              <a:rPr lang="en-US" sz="900" dirty="0">
                <a:solidFill>
                  <a:srgbClr val="2D3748"/>
                </a:solidFill>
                <a:latin typeface="Arial" pitchFamily="34" charset="0"/>
                <a:ea typeface="Arial" pitchFamily="34" charset="-122"/>
                <a:cs typeface="Arial" pitchFamily="34" charset="-120"/>
              </a:rPr>
              <a:t>Fact table joined to Customer, Shipment Status, and Payment dimensions via M_ID keys. DAX calculated measures.
</a:t>
            </a:r>
            <a:r>
              <a:rPr lang="en-US" sz="900" b="1" dirty="0">
                <a:solidFill>
                  <a:srgbClr val="F58220"/>
                </a:solidFill>
                <a:latin typeface="Arial" pitchFamily="34" charset="0"/>
                <a:ea typeface="Arial" pitchFamily="34" charset="-122"/>
                <a:cs typeface="Arial" pitchFamily="34" charset="-120"/>
              </a:rPr>
              <a:t>• Front-End Panels
</a:t>
            </a:r>
            <a:r>
              <a:rPr lang="en-US" sz="900" dirty="0">
                <a:solidFill>
                  <a:srgbClr val="2D3748"/>
                </a:solidFill>
                <a:latin typeface="Arial" pitchFamily="34" charset="0"/>
                <a:ea typeface="Arial" pitchFamily="34" charset="-122"/>
                <a:cs typeface="Arial" pitchFamily="34" charset="-120"/>
              </a:rPr>
              <a:t>Interactive widgets for customer segmentation, employee rankings, route performance, and financial billing.
</a:t>
            </a:r>
            <a:r>
              <a:rPr lang="en-US" sz="900" b="1" dirty="0">
                <a:solidFill>
                  <a:srgbClr val="10B981"/>
                </a:solidFill>
                <a:latin typeface="Arial" pitchFamily="34" charset="0"/>
                <a:ea typeface="Arial" pitchFamily="34" charset="-122"/>
                <a:cs typeface="Arial" pitchFamily="34" charset="-120"/>
              </a:rPr>
              <a:t>• Interactive Controls
</a:t>
            </a:r>
            <a:r>
              <a:rPr lang="en-US" sz="900" dirty="0">
                <a:solidFill>
                  <a:srgbClr val="2D3748"/>
                </a:solidFill>
                <a:latin typeface="Arial" pitchFamily="34" charset="0"/>
                <a:ea typeface="Arial" pitchFamily="34" charset="-122"/>
                <a:cs typeface="Arial" pitchFamily="34" charset="-120"/>
              </a:rPr>
              <a:t>Slicers, dropdowns, and timeline controls filter across time periods, employee names, and customer types.</a:t>
            </a:r>
            <a:endParaRPr lang="en-US" sz="900" dirty="0"/>
          </a:p>
        </p:txBody>
      </p:sp>
      <p:sp>
        <p:nvSpPr>
          <p:cNvPr id="11" name="Shape 9"/>
          <p:cNvSpPr/>
          <p:nvPr/>
        </p:nvSpPr>
        <p:spPr>
          <a:xfrm>
            <a:off x="4434840" y="868680"/>
            <a:ext cx="4297680" cy="3794760"/>
          </a:xfrm>
          <a:prstGeom prst="roundRect">
            <a:avLst>
              <a:gd name="adj" fmla="val 1446"/>
            </a:avLst>
          </a:prstGeom>
          <a:solidFill>
            <a:srgbClr val="FFFFFF"/>
          </a:solidFill>
          <a:ln w="9525">
            <a:solidFill>
              <a:srgbClr val="E2E8F0"/>
            </a:solidFill>
            <a:prstDash val="solid"/>
          </a:ln>
        </p:spPr>
      </p:sp>
      <p:sp>
        <p:nvSpPr>
          <p:cNvPr id="12" name="Text 10"/>
          <p:cNvSpPr/>
          <p:nvPr/>
        </p:nvSpPr>
        <p:spPr>
          <a:xfrm>
            <a:off x="4572000" y="960120"/>
            <a:ext cx="4023360" cy="22860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BI Architecture Diagram</a:t>
            </a:r>
            <a:endParaRPr lang="en-US" sz="1200" dirty="0"/>
          </a:p>
        </p:txBody>
      </p:sp>
      <p:pic>
        <p:nvPicPr>
          <p:cNvPr id="13" name="Image 0"/>
          <p:cNvPicPr>
            <a:picLocks noChangeAspect="1"/>
          </p:cNvPicPr>
          <p:nvPr/>
        </p:nvPicPr>
        <p:blipFill>
          <a:blip r:embed="rId3"/>
          <a:srcRect/>
          <a:stretch/>
        </p:blipFill>
        <p:spPr>
          <a:xfrm>
            <a:off x="4526280" y="1600200"/>
            <a:ext cx="4114800" cy="260604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a:extLst>
            <a:ext uri="{FF2B5EF4-FFF2-40B4-BE49-F238E27FC236}">
              <a16:creationId xmlns:a16="http://schemas.microsoft.com/office/drawing/2014/main" id="{C46791F4-1432-4D09-69E4-CF9D19C34993}"/>
            </a:ext>
          </a:extLst>
        </p:cNvPr>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9ECD704D-4BC5-6F04-387A-E01A3D7B01D4}"/>
              </a:ext>
            </a:extLst>
          </p:cNvPr>
          <p:cNvSpPr/>
          <p:nvPr/>
        </p:nvSpPr>
        <p:spPr>
          <a:xfrm>
            <a:off x="342691" y="4287673"/>
            <a:ext cx="8458617" cy="4044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Shape 0">
            <a:extLst>
              <a:ext uri="{FF2B5EF4-FFF2-40B4-BE49-F238E27FC236}">
                <a16:creationId xmlns:a16="http://schemas.microsoft.com/office/drawing/2014/main" id="{41D55E1C-E358-2E34-0C61-7E6E4F571457}"/>
              </a:ext>
            </a:extLst>
          </p:cNvPr>
          <p:cNvSpPr/>
          <p:nvPr/>
        </p:nvSpPr>
        <p:spPr>
          <a:xfrm>
            <a:off x="0" y="0"/>
            <a:ext cx="54864" cy="5143500"/>
          </a:xfrm>
          <a:prstGeom prst="rect">
            <a:avLst/>
          </a:prstGeom>
          <a:solidFill>
            <a:srgbClr val="F58220"/>
          </a:solidFill>
          <a:ln w="12700">
            <a:solidFill>
              <a:srgbClr val="F58220"/>
            </a:solidFill>
            <a:prstDash val="solid"/>
          </a:ln>
        </p:spPr>
      </p:sp>
      <p:sp>
        <p:nvSpPr>
          <p:cNvPr id="3" name="Text 1">
            <a:extLst>
              <a:ext uri="{FF2B5EF4-FFF2-40B4-BE49-F238E27FC236}">
                <a16:creationId xmlns:a16="http://schemas.microsoft.com/office/drawing/2014/main" id="{D41DCA74-AF88-4BC8-0EAF-971D7467EE75}"/>
              </a:ext>
            </a:extLst>
          </p:cNvPr>
          <p:cNvSpPr/>
          <p:nvPr/>
        </p:nvSpPr>
        <p:spPr>
          <a:xfrm>
            <a:off x="134711" y="5230"/>
            <a:ext cx="6858000" cy="438912"/>
          </a:xfrm>
          <a:prstGeom prst="rect">
            <a:avLst/>
          </a:prstGeom>
          <a:noFill/>
          <a:ln/>
        </p:spPr>
        <p:txBody>
          <a:bodyPr wrap="square" rtlCol="0" anchor="ctr"/>
          <a:lstStyle/>
          <a:p>
            <a:r>
              <a:rPr lang="en-US" sz="2000" b="1" dirty="0">
                <a:solidFill>
                  <a:srgbClr val="0B1D35"/>
                </a:solidFill>
                <a:latin typeface="Arial" pitchFamily="34" charset="0"/>
                <a:ea typeface="Arial" pitchFamily="34" charset="-122"/>
                <a:cs typeface="Arial" pitchFamily="34" charset="-120"/>
              </a:rPr>
              <a:t>Customer Insights Dashboard</a:t>
            </a:r>
            <a:endParaRPr lang="en-US" sz="2000" dirty="0"/>
          </a:p>
        </p:txBody>
      </p:sp>
      <p:sp>
        <p:nvSpPr>
          <p:cNvPr id="4" name="Text 2">
            <a:extLst>
              <a:ext uri="{FF2B5EF4-FFF2-40B4-BE49-F238E27FC236}">
                <a16:creationId xmlns:a16="http://schemas.microsoft.com/office/drawing/2014/main" id="{A583BA01-8C4A-DCC3-0601-2F16F5CDEAE2}"/>
              </a:ext>
            </a:extLst>
          </p:cNvPr>
          <p:cNvSpPr/>
          <p:nvPr/>
        </p:nvSpPr>
        <p:spPr>
          <a:xfrm>
            <a:off x="6492240" y="169827"/>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LIVE DASHBOARD PAGES</a:t>
            </a:r>
            <a:endParaRPr lang="en-US" sz="800" dirty="0"/>
          </a:p>
        </p:txBody>
      </p:sp>
      <p:sp>
        <p:nvSpPr>
          <p:cNvPr id="5" name="Shape 3">
            <a:extLst>
              <a:ext uri="{FF2B5EF4-FFF2-40B4-BE49-F238E27FC236}">
                <a16:creationId xmlns:a16="http://schemas.microsoft.com/office/drawing/2014/main" id="{927DEDDF-BD35-6A97-82D0-DA91413296BB}"/>
              </a:ext>
            </a:extLst>
          </p:cNvPr>
          <p:cNvSpPr/>
          <p:nvPr/>
        </p:nvSpPr>
        <p:spPr>
          <a:xfrm>
            <a:off x="274320" y="441526"/>
            <a:ext cx="8645168" cy="45719"/>
          </a:xfrm>
          <a:prstGeom prst="rect">
            <a:avLst/>
          </a:prstGeom>
          <a:solidFill>
            <a:srgbClr val="E2E8F0"/>
          </a:solidFill>
          <a:ln w="3175">
            <a:solidFill>
              <a:srgbClr val="E2E8F0"/>
            </a:solidFill>
            <a:prstDash val="solid"/>
          </a:ln>
        </p:spPr>
      </p:sp>
      <p:sp>
        <p:nvSpPr>
          <p:cNvPr id="6" name="Text 4">
            <a:extLst>
              <a:ext uri="{FF2B5EF4-FFF2-40B4-BE49-F238E27FC236}">
                <a16:creationId xmlns:a16="http://schemas.microsoft.com/office/drawing/2014/main" id="{DE56BACC-9C76-0D26-976F-7384819AF703}"/>
              </a:ext>
            </a:extLst>
          </p:cNvPr>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a:extLst>
              <a:ext uri="{FF2B5EF4-FFF2-40B4-BE49-F238E27FC236}">
                <a16:creationId xmlns:a16="http://schemas.microsoft.com/office/drawing/2014/main" id="{56E612D9-C893-130C-128C-CAF42BA9234E}"/>
              </a:ext>
            </a:extLst>
          </p:cNvPr>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21</a:t>
            </a:r>
            <a:endParaRPr lang="en-US" sz="700" dirty="0"/>
          </a:p>
        </p:txBody>
      </p:sp>
      <p:sp>
        <p:nvSpPr>
          <p:cNvPr id="8" name="Shape 6">
            <a:extLst>
              <a:ext uri="{FF2B5EF4-FFF2-40B4-BE49-F238E27FC236}">
                <a16:creationId xmlns:a16="http://schemas.microsoft.com/office/drawing/2014/main" id="{70B0B78D-4C1B-C733-42AE-6240BD821799}"/>
              </a:ext>
            </a:extLst>
          </p:cNvPr>
          <p:cNvSpPr/>
          <p:nvPr/>
        </p:nvSpPr>
        <p:spPr>
          <a:xfrm>
            <a:off x="274320" y="576063"/>
            <a:ext cx="8645168" cy="4227153"/>
          </a:xfrm>
          <a:prstGeom prst="roundRect">
            <a:avLst>
              <a:gd name="adj" fmla="val 1967"/>
            </a:avLst>
          </a:prstGeom>
          <a:solidFill>
            <a:srgbClr val="FFFFFF"/>
          </a:solidFill>
          <a:ln w="9525">
            <a:solidFill>
              <a:srgbClr val="E2E8F0"/>
            </a:solidFill>
            <a:prstDash val="solid"/>
          </a:ln>
        </p:spPr>
      </p:sp>
      <p:pic>
        <p:nvPicPr>
          <p:cNvPr id="9" name="Image 0">
            <a:extLst>
              <a:ext uri="{FF2B5EF4-FFF2-40B4-BE49-F238E27FC236}">
                <a16:creationId xmlns:a16="http://schemas.microsoft.com/office/drawing/2014/main" id="{BB78284E-2632-7338-77AB-61AE21B651FB}"/>
              </a:ext>
            </a:extLst>
          </p:cNvPr>
          <p:cNvPicPr>
            <a:picLocks noChangeAspect="1"/>
          </p:cNvPicPr>
          <p:nvPr/>
        </p:nvPicPr>
        <p:blipFill>
          <a:blip r:embed="rId3"/>
          <a:srcRect/>
          <a:stretch/>
        </p:blipFill>
        <p:spPr>
          <a:xfrm>
            <a:off x="301031" y="762982"/>
            <a:ext cx="5878704" cy="3532192"/>
          </a:xfrm>
          <a:prstGeom prst="rect">
            <a:avLst/>
          </a:prstGeom>
        </p:spPr>
      </p:pic>
      <p:sp>
        <p:nvSpPr>
          <p:cNvPr id="10" name="Text 7">
            <a:extLst>
              <a:ext uri="{FF2B5EF4-FFF2-40B4-BE49-F238E27FC236}">
                <a16:creationId xmlns:a16="http://schemas.microsoft.com/office/drawing/2014/main" id="{F1CEDBD9-2E38-90F9-5C68-99DEFD5A911C}"/>
              </a:ext>
            </a:extLst>
          </p:cNvPr>
          <p:cNvSpPr/>
          <p:nvPr/>
        </p:nvSpPr>
        <p:spPr>
          <a:xfrm>
            <a:off x="6199465" y="1161482"/>
            <a:ext cx="2795519" cy="2529279"/>
          </a:xfrm>
          <a:prstGeom prst="rect">
            <a:avLst/>
          </a:prstGeom>
          <a:noFill/>
          <a:ln/>
        </p:spPr>
        <p:txBody>
          <a:bodyPr wrap="square" rtlCol="0" anchor="ctr"/>
          <a:lstStyle/>
          <a:p>
            <a:r>
              <a:rPr lang="en-US" sz="900" b="1" dirty="0"/>
              <a:t>Key Business Insights</a:t>
            </a:r>
          </a:p>
          <a:p>
            <a:endParaRPr lang="en-US" sz="900" b="1" dirty="0"/>
          </a:p>
          <a:p>
            <a:r>
              <a:rPr lang="en-US" sz="900" dirty="0"/>
              <a:t>• </a:t>
            </a:r>
            <a:r>
              <a:rPr lang="en-US" sz="900" b="1" dirty="0"/>
              <a:t>Low Membership Retention:</a:t>
            </a:r>
            <a:r>
              <a:rPr lang="en-US" sz="900" dirty="0"/>
              <a:t> Only </a:t>
            </a:r>
            <a:r>
              <a:rPr lang="en-US" sz="900" b="1" dirty="0"/>
              <a:t>18 out of 200 customers (9%)</a:t>
            </a:r>
            <a:r>
              <a:rPr lang="en-US" sz="900" dirty="0"/>
              <a:t> have active memberships, while </a:t>
            </a:r>
            <a:r>
              <a:rPr lang="en-US" sz="900" b="1" dirty="0"/>
              <a:t>91% memberships have expired</a:t>
            </a:r>
            <a:r>
              <a:rPr lang="en-US" sz="900" dirty="0"/>
              <a:t>.</a:t>
            </a:r>
          </a:p>
          <a:p>
            <a:endParaRPr lang="en-US" sz="900" dirty="0"/>
          </a:p>
          <a:p>
            <a:r>
              <a:rPr lang="en-US" sz="900" dirty="0"/>
              <a:t>• </a:t>
            </a:r>
            <a:r>
              <a:rPr lang="en-US" sz="900" b="1" dirty="0"/>
              <a:t>Retail Segment Dominance:</a:t>
            </a:r>
            <a:r>
              <a:rPr lang="en-US" sz="900" dirty="0"/>
              <a:t> Retail customers account for </a:t>
            </a:r>
            <a:r>
              <a:rPr lang="en-US" sz="900" b="1" dirty="0"/>
              <a:t>39% of the customer base</a:t>
            </a:r>
            <a:r>
              <a:rPr lang="en-US" sz="900" dirty="0"/>
              <a:t>, making them the largest customer segment.</a:t>
            </a:r>
          </a:p>
          <a:p>
            <a:endParaRPr lang="en-US" sz="900" dirty="0"/>
          </a:p>
          <a:p>
            <a:r>
              <a:rPr lang="en-US" sz="900" dirty="0"/>
              <a:t>• </a:t>
            </a:r>
            <a:r>
              <a:rPr lang="en-US" sz="900" b="1" dirty="0"/>
              <a:t>Fluctuating Customer Activity:</a:t>
            </a:r>
            <a:r>
              <a:rPr lang="en-US" sz="900" dirty="0"/>
              <a:t> Monthly customer activity varies between </a:t>
            </a:r>
            <a:r>
              <a:rPr lang="en-US" sz="900" b="1" dirty="0"/>
              <a:t>1.8K and 5.6K</a:t>
            </a:r>
            <a:r>
              <a:rPr lang="en-US" sz="900" dirty="0"/>
              <a:t>, indicating inconsistent customer engagement trends.</a:t>
            </a:r>
          </a:p>
          <a:p>
            <a:endParaRPr lang="en-US" sz="900" dirty="0"/>
          </a:p>
          <a:p>
            <a:r>
              <a:rPr lang="en-US" sz="900" dirty="0"/>
              <a:t>• </a:t>
            </a:r>
            <a:r>
              <a:rPr lang="en-US" sz="900" b="1" dirty="0"/>
              <a:t>Revenue Dependency on Key Customers:</a:t>
            </a:r>
            <a:r>
              <a:rPr lang="en-US" sz="900" dirty="0"/>
              <a:t> A small group of top customers contributes a significant share of total payments, creating concentration risk.</a:t>
            </a:r>
          </a:p>
          <a:p>
            <a:endParaRPr lang="en-US" sz="900" dirty="0"/>
          </a:p>
          <a:p>
            <a:r>
              <a:rPr lang="en-US" sz="900" dirty="0"/>
              <a:t>• </a:t>
            </a:r>
            <a:r>
              <a:rPr lang="en-US" sz="900" b="1" dirty="0"/>
              <a:t>Regional Expansion Potential:</a:t>
            </a:r>
            <a:r>
              <a:rPr lang="en-US" sz="900" dirty="0"/>
              <a:t> Customer distribution differs across locations, highlighting opportunities for targeted regional growth initiatives.</a:t>
            </a:r>
          </a:p>
        </p:txBody>
      </p:sp>
      <p:sp>
        <p:nvSpPr>
          <p:cNvPr id="22" name="Shape 6">
            <a:extLst>
              <a:ext uri="{FF2B5EF4-FFF2-40B4-BE49-F238E27FC236}">
                <a16:creationId xmlns:a16="http://schemas.microsoft.com/office/drawing/2014/main" id="{F88BAA81-188C-600C-E3A1-36ED491040DC}"/>
              </a:ext>
            </a:extLst>
          </p:cNvPr>
          <p:cNvSpPr/>
          <p:nvPr/>
        </p:nvSpPr>
        <p:spPr>
          <a:xfrm>
            <a:off x="382670" y="4250693"/>
            <a:ext cx="8418638" cy="497686"/>
          </a:xfrm>
          <a:prstGeom prst="roundRect">
            <a:avLst>
              <a:gd name="adj" fmla="val 9231"/>
            </a:avLst>
          </a:prstGeom>
          <a:solidFill>
            <a:schemeClr val="bg1">
              <a:lumMod val="85000"/>
            </a:schemeClr>
          </a:solidFill>
          <a:ln w="9525">
            <a:solidFill>
              <a:srgbClr val="E2E8F0"/>
            </a:solidFill>
            <a:prstDash val="solid"/>
          </a:ln>
        </p:spPr>
      </p:sp>
      <p:sp>
        <p:nvSpPr>
          <p:cNvPr id="23" name="Text 7">
            <a:extLst>
              <a:ext uri="{FF2B5EF4-FFF2-40B4-BE49-F238E27FC236}">
                <a16:creationId xmlns:a16="http://schemas.microsoft.com/office/drawing/2014/main" id="{D55F08BC-5B56-4288-E2DC-EDA8031B1BCF}"/>
              </a:ext>
            </a:extLst>
          </p:cNvPr>
          <p:cNvSpPr/>
          <p:nvPr/>
        </p:nvSpPr>
        <p:spPr>
          <a:xfrm>
            <a:off x="474109" y="4364998"/>
            <a:ext cx="7943270" cy="264152"/>
          </a:xfrm>
          <a:prstGeom prst="rect">
            <a:avLst/>
          </a:prstGeom>
          <a:noFill/>
          <a:ln/>
        </p:spPr>
        <p:txBody>
          <a:bodyPr wrap="square" rtlCol="0" anchor="ctr"/>
          <a:lstStyle/>
          <a:p>
            <a:r>
              <a:rPr lang="en-US" sz="1200" dirty="0">
                <a:solidFill>
                  <a:schemeClr val="tx1">
                    <a:lumMod val="75000"/>
                    <a:lumOff val="25000"/>
                  </a:schemeClr>
                </a:solidFill>
              </a:rPr>
              <a:t>Customer retention remains the primary challenge, while retail growth and regional expansion present the biggest opportunities for future revenue growth.</a:t>
            </a:r>
          </a:p>
        </p:txBody>
      </p:sp>
    </p:spTree>
    <p:extLst>
      <p:ext uri="{BB962C8B-B14F-4D97-AF65-F5344CB8AC3E}">
        <p14:creationId xmlns:p14="http://schemas.microsoft.com/office/powerpoint/2010/main" val="42887410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250"/>
                                        <p:tgtEl>
                                          <p:spTgt spid="9"/>
                                        </p:tgtEl>
                                      </p:cBhvr>
                                    </p:animEffect>
                                  </p:childTnLst>
                                </p:cTn>
                              </p:par>
                            </p:childTnLst>
                          </p:cTn>
                        </p:par>
                        <p:par>
                          <p:cTn id="8" fill="hold">
                            <p:stCondLst>
                              <p:cond delay="250"/>
                            </p:stCondLst>
                            <p:childTnLst>
                              <p:par>
                                <p:cTn id="9" presetID="2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a:extLst>
            <a:ext uri="{FF2B5EF4-FFF2-40B4-BE49-F238E27FC236}">
              <a16:creationId xmlns:a16="http://schemas.microsoft.com/office/drawing/2014/main" id="{595C2D22-DCE2-9CC2-6D2F-1AF28F2A49F7}"/>
            </a:ext>
          </a:extLst>
        </p:cNvPr>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96448716-788A-E949-0F47-6E5AC6720EF8}"/>
              </a:ext>
            </a:extLst>
          </p:cNvPr>
          <p:cNvSpPr/>
          <p:nvPr/>
        </p:nvSpPr>
        <p:spPr>
          <a:xfrm>
            <a:off x="342691" y="4287673"/>
            <a:ext cx="8458617" cy="4044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Shape 0">
            <a:extLst>
              <a:ext uri="{FF2B5EF4-FFF2-40B4-BE49-F238E27FC236}">
                <a16:creationId xmlns:a16="http://schemas.microsoft.com/office/drawing/2014/main" id="{D29FD603-1F86-ABD0-2A12-98FA24554ECE}"/>
              </a:ext>
            </a:extLst>
          </p:cNvPr>
          <p:cNvSpPr/>
          <p:nvPr/>
        </p:nvSpPr>
        <p:spPr>
          <a:xfrm>
            <a:off x="0" y="0"/>
            <a:ext cx="54864" cy="5143500"/>
          </a:xfrm>
          <a:prstGeom prst="rect">
            <a:avLst/>
          </a:prstGeom>
          <a:solidFill>
            <a:srgbClr val="F58220"/>
          </a:solidFill>
          <a:ln w="12700">
            <a:solidFill>
              <a:srgbClr val="F58220"/>
            </a:solidFill>
            <a:prstDash val="solid"/>
          </a:ln>
        </p:spPr>
      </p:sp>
      <p:sp>
        <p:nvSpPr>
          <p:cNvPr id="3" name="Text 1">
            <a:extLst>
              <a:ext uri="{FF2B5EF4-FFF2-40B4-BE49-F238E27FC236}">
                <a16:creationId xmlns:a16="http://schemas.microsoft.com/office/drawing/2014/main" id="{5B7A0043-833E-B3F1-AADA-9A0BD9EB172D}"/>
              </a:ext>
            </a:extLst>
          </p:cNvPr>
          <p:cNvSpPr/>
          <p:nvPr/>
        </p:nvSpPr>
        <p:spPr>
          <a:xfrm>
            <a:off x="134711" y="5230"/>
            <a:ext cx="6858000" cy="438912"/>
          </a:xfrm>
          <a:prstGeom prst="rect">
            <a:avLst/>
          </a:prstGeom>
          <a:noFill/>
          <a:ln/>
        </p:spPr>
        <p:txBody>
          <a:bodyPr wrap="square" rtlCol="0" anchor="ctr"/>
          <a:lstStyle/>
          <a:p>
            <a:r>
              <a:rPr lang="en-US" sz="2000" b="1" dirty="0">
                <a:solidFill>
                  <a:srgbClr val="0B1D35"/>
                </a:solidFill>
                <a:latin typeface="Arial" pitchFamily="34" charset="0"/>
                <a:ea typeface="Arial" pitchFamily="34" charset="-122"/>
                <a:cs typeface="Arial" pitchFamily="34" charset="-120"/>
              </a:rPr>
              <a:t>Shipment Overview Dashboard</a:t>
            </a:r>
            <a:endParaRPr lang="en-US" sz="2000" dirty="0"/>
          </a:p>
        </p:txBody>
      </p:sp>
      <p:sp>
        <p:nvSpPr>
          <p:cNvPr id="4" name="Text 2">
            <a:extLst>
              <a:ext uri="{FF2B5EF4-FFF2-40B4-BE49-F238E27FC236}">
                <a16:creationId xmlns:a16="http://schemas.microsoft.com/office/drawing/2014/main" id="{A03667C8-2603-51CC-CF35-E3ED2D52E3C3}"/>
              </a:ext>
            </a:extLst>
          </p:cNvPr>
          <p:cNvSpPr/>
          <p:nvPr/>
        </p:nvSpPr>
        <p:spPr>
          <a:xfrm>
            <a:off x="6492240" y="169827"/>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LIVE DASHBOARD PAGES</a:t>
            </a:r>
            <a:endParaRPr lang="en-US" sz="800" dirty="0"/>
          </a:p>
        </p:txBody>
      </p:sp>
      <p:sp>
        <p:nvSpPr>
          <p:cNvPr id="5" name="Shape 3">
            <a:extLst>
              <a:ext uri="{FF2B5EF4-FFF2-40B4-BE49-F238E27FC236}">
                <a16:creationId xmlns:a16="http://schemas.microsoft.com/office/drawing/2014/main" id="{8EC36184-E00E-08A1-191F-A16083CA5EA1}"/>
              </a:ext>
            </a:extLst>
          </p:cNvPr>
          <p:cNvSpPr/>
          <p:nvPr/>
        </p:nvSpPr>
        <p:spPr>
          <a:xfrm>
            <a:off x="274320" y="441526"/>
            <a:ext cx="8645168" cy="45719"/>
          </a:xfrm>
          <a:prstGeom prst="rect">
            <a:avLst/>
          </a:prstGeom>
          <a:solidFill>
            <a:srgbClr val="E2E8F0"/>
          </a:solidFill>
          <a:ln w="3175">
            <a:solidFill>
              <a:srgbClr val="E2E8F0"/>
            </a:solidFill>
            <a:prstDash val="solid"/>
          </a:ln>
        </p:spPr>
      </p:sp>
      <p:sp>
        <p:nvSpPr>
          <p:cNvPr id="6" name="Text 4">
            <a:extLst>
              <a:ext uri="{FF2B5EF4-FFF2-40B4-BE49-F238E27FC236}">
                <a16:creationId xmlns:a16="http://schemas.microsoft.com/office/drawing/2014/main" id="{B39D8851-88B5-66F9-19FD-29D572E672A1}"/>
              </a:ext>
            </a:extLst>
          </p:cNvPr>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a:extLst>
              <a:ext uri="{FF2B5EF4-FFF2-40B4-BE49-F238E27FC236}">
                <a16:creationId xmlns:a16="http://schemas.microsoft.com/office/drawing/2014/main" id="{AC097268-CE7C-7C66-6D9F-A1F36C2DC8AA}"/>
              </a:ext>
            </a:extLst>
          </p:cNvPr>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22</a:t>
            </a:r>
          </a:p>
        </p:txBody>
      </p:sp>
      <p:sp>
        <p:nvSpPr>
          <p:cNvPr id="8" name="Shape 6">
            <a:extLst>
              <a:ext uri="{FF2B5EF4-FFF2-40B4-BE49-F238E27FC236}">
                <a16:creationId xmlns:a16="http://schemas.microsoft.com/office/drawing/2014/main" id="{0724B565-E12A-63E1-33AE-425815FD86A8}"/>
              </a:ext>
            </a:extLst>
          </p:cNvPr>
          <p:cNvSpPr/>
          <p:nvPr/>
        </p:nvSpPr>
        <p:spPr>
          <a:xfrm>
            <a:off x="274320" y="576063"/>
            <a:ext cx="8645168" cy="4227153"/>
          </a:xfrm>
          <a:prstGeom prst="roundRect">
            <a:avLst>
              <a:gd name="adj" fmla="val 1967"/>
            </a:avLst>
          </a:prstGeom>
          <a:solidFill>
            <a:srgbClr val="FFFFFF"/>
          </a:solidFill>
          <a:ln w="9525">
            <a:solidFill>
              <a:srgbClr val="E2E8F0"/>
            </a:solidFill>
            <a:prstDash val="solid"/>
          </a:ln>
        </p:spPr>
      </p:sp>
      <p:pic>
        <p:nvPicPr>
          <p:cNvPr id="9" name="Image 0">
            <a:extLst>
              <a:ext uri="{FF2B5EF4-FFF2-40B4-BE49-F238E27FC236}">
                <a16:creationId xmlns:a16="http://schemas.microsoft.com/office/drawing/2014/main" id="{AA6DC7D9-D6A1-DC56-C620-6EFF4EE77B4F}"/>
              </a:ext>
            </a:extLst>
          </p:cNvPr>
          <p:cNvPicPr>
            <a:picLocks noChangeAspect="1"/>
          </p:cNvPicPr>
          <p:nvPr/>
        </p:nvPicPr>
        <p:blipFill>
          <a:blip r:embed="rId3"/>
          <a:srcRect/>
          <a:stretch/>
        </p:blipFill>
        <p:spPr>
          <a:xfrm>
            <a:off x="301031" y="829212"/>
            <a:ext cx="5878704" cy="3399732"/>
          </a:xfrm>
          <a:prstGeom prst="rect">
            <a:avLst/>
          </a:prstGeom>
        </p:spPr>
      </p:pic>
      <p:sp>
        <p:nvSpPr>
          <p:cNvPr id="10" name="Text 7">
            <a:extLst>
              <a:ext uri="{FF2B5EF4-FFF2-40B4-BE49-F238E27FC236}">
                <a16:creationId xmlns:a16="http://schemas.microsoft.com/office/drawing/2014/main" id="{5769B306-A4D3-C1D0-8FC4-46895CD24112}"/>
              </a:ext>
            </a:extLst>
          </p:cNvPr>
          <p:cNvSpPr/>
          <p:nvPr/>
        </p:nvSpPr>
        <p:spPr>
          <a:xfrm>
            <a:off x="6199465" y="1161482"/>
            <a:ext cx="2795519" cy="2598172"/>
          </a:xfrm>
          <a:prstGeom prst="rect">
            <a:avLst/>
          </a:prstGeom>
          <a:noFill/>
          <a:ln/>
        </p:spPr>
        <p:txBody>
          <a:bodyPr wrap="square" rtlCol="0" anchor="ctr"/>
          <a:lstStyle/>
          <a:p>
            <a:r>
              <a:rPr lang="en-US" sz="900" b="1" dirty="0"/>
              <a:t>Key Business Insights</a:t>
            </a:r>
          </a:p>
          <a:p>
            <a:endParaRPr lang="en-US" sz="900" b="1" dirty="0"/>
          </a:p>
          <a:p>
            <a:r>
              <a:rPr lang="en-US" sz="900" dirty="0"/>
              <a:t>• </a:t>
            </a:r>
            <a:r>
              <a:rPr lang="en-US" sz="900" b="1" dirty="0"/>
              <a:t>High Delivery Failure Rate:</a:t>
            </a:r>
            <a:r>
              <a:rPr lang="en-US" sz="900" dirty="0"/>
              <a:t> Only </a:t>
            </a:r>
            <a:r>
              <a:rPr lang="en-US" sz="900" b="1" dirty="0"/>
              <a:t>50% of shipments are delivered (100/200)</a:t>
            </a:r>
            <a:r>
              <a:rPr lang="en-US" sz="900" dirty="0"/>
              <a:t>, indicating significant logistics inefficiencies.</a:t>
            </a:r>
          </a:p>
          <a:p>
            <a:r>
              <a:rPr lang="en-US" sz="900" dirty="0"/>
              <a:t>• </a:t>
            </a:r>
            <a:r>
              <a:rPr lang="en-US" sz="900" b="1" dirty="0"/>
              <a:t>Domestic Shipments Dominate:</a:t>
            </a:r>
            <a:r>
              <a:rPr lang="en-US" sz="900" dirty="0"/>
              <a:t> </a:t>
            </a:r>
            <a:r>
              <a:rPr lang="en-US" sz="900" b="1" dirty="0"/>
              <a:t>54.5% of shipments are domestic</a:t>
            </a:r>
            <a:r>
              <a:rPr lang="en-US" sz="900" dirty="0"/>
              <a:t>, making local logistics performance critical to overall operations.</a:t>
            </a:r>
          </a:p>
          <a:p>
            <a:r>
              <a:rPr lang="en-US" sz="900" dirty="0"/>
              <a:t>• </a:t>
            </a:r>
            <a:r>
              <a:rPr lang="en-US" sz="900" b="1" dirty="0"/>
              <a:t>Balanced Service Mix:</a:t>
            </a:r>
            <a:r>
              <a:rPr lang="en-US" sz="900" dirty="0"/>
              <a:t> Shipment volume is evenly distributed between </a:t>
            </a:r>
            <a:r>
              <a:rPr lang="en-US" sz="900" b="1" dirty="0"/>
              <a:t>Express (51%)</a:t>
            </a:r>
            <a:r>
              <a:rPr lang="en-US" sz="900" dirty="0"/>
              <a:t> and </a:t>
            </a:r>
            <a:r>
              <a:rPr lang="en-US" sz="900" b="1" dirty="0"/>
              <a:t>Regular (49%)</a:t>
            </a:r>
            <a:r>
              <a:rPr lang="en-US" sz="900" dirty="0"/>
              <a:t> services.</a:t>
            </a:r>
          </a:p>
          <a:p>
            <a:r>
              <a:rPr lang="en-US" sz="900" dirty="0"/>
              <a:t>• </a:t>
            </a:r>
            <a:r>
              <a:rPr lang="en-US" sz="900" b="1" dirty="0"/>
              <a:t>Declining Shipment Trend:</a:t>
            </a:r>
            <a:r>
              <a:rPr lang="en-US" sz="900" dirty="0"/>
              <a:t> Monthly shipments decline from </a:t>
            </a:r>
            <a:r>
              <a:rPr lang="en-US" sz="900" b="1" dirty="0"/>
              <a:t>32 shipments to just 5 shipments</a:t>
            </a:r>
            <a:r>
              <a:rPr lang="en-US" sz="900" dirty="0"/>
              <a:t>, suggesting reduced operational throughput or demand fluctuations.</a:t>
            </a:r>
          </a:p>
          <a:p>
            <a:r>
              <a:rPr lang="en-US" sz="900" dirty="0"/>
              <a:t>• </a:t>
            </a:r>
            <a:r>
              <a:rPr lang="en-US" sz="900" b="1" dirty="0"/>
              <a:t>Higher Weight Drives Higher Costs:</a:t>
            </a:r>
            <a:r>
              <a:rPr lang="en-US" sz="900" dirty="0"/>
              <a:t> A strong positive relationship exists between </a:t>
            </a:r>
            <a:r>
              <a:rPr lang="en-US" sz="900" b="1" dirty="0"/>
              <a:t>shipment weight and transportation charges</a:t>
            </a:r>
            <a:r>
              <a:rPr lang="en-US" sz="900" dirty="0"/>
              <a:t>, making heavy cargo a key cost driver.</a:t>
            </a:r>
          </a:p>
          <a:p>
            <a:r>
              <a:rPr lang="en-US" sz="900" dirty="0"/>
              <a:t>• </a:t>
            </a:r>
            <a:r>
              <a:rPr lang="en-US" sz="900" b="1" dirty="0"/>
              <a:t>Consistent Delivery Challenges:</a:t>
            </a:r>
            <a:r>
              <a:rPr lang="en-US" sz="900" dirty="0"/>
              <a:t> Non-delivered shipments occur across most months, highlighting the need for improved tracking and fulfillment processes.</a:t>
            </a:r>
          </a:p>
        </p:txBody>
      </p:sp>
      <p:sp>
        <p:nvSpPr>
          <p:cNvPr id="22" name="Shape 6">
            <a:extLst>
              <a:ext uri="{FF2B5EF4-FFF2-40B4-BE49-F238E27FC236}">
                <a16:creationId xmlns:a16="http://schemas.microsoft.com/office/drawing/2014/main" id="{27657682-9E00-C328-D708-DD04AEA38FC5}"/>
              </a:ext>
            </a:extLst>
          </p:cNvPr>
          <p:cNvSpPr/>
          <p:nvPr/>
        </p:nvSpPr>
        <p:spPr>
          <a:xfrm>
            <a:off x="382670" y="4250693"/>
            <a:ext cx="8418638" cy="497686"/>
          </a:xfrm>
          <a:prstGeom prst="roundRect">
            <a:avLst>
              <a:gd name="adj" fmla="val 9231"/>
            </a:avLst>
          </a:prstGeom>
          <a:solidFill>
            <a:schemeClr val="bg1">
              <a:lumMod val="85000"/>
            </a:schemeClr>
          </a:solidFill>
          <a:ln w="9525">
            <a:solidFill>
              <a:srgbClr val="E2E8F0"/>
            </a:solidFill>
            <a:prstDash val="solid"/>
          </a:ln>
        </p:spPr>
      </p:sp>
      <p:sp>
        <p:nvSpPr>
          <p:cNvPr id="23" name="Text 7">
            <a:extLst>
              <a:ext uri="{FF2B5EF4-FFF2-40B4-BE49-F238E27FC236}">
                <a16:creationId xmlns:a16="http://schemas.microsoft.com/office/drawing/2014/main" id="{B6C18FAE-3D54-F511-646E-918A005D4D5E}"/>
              </a:ext>
            </a:extLst>
          </p:cNvPr>
          <p:cNvSpPr/>
          <p:nvPr/>
        </p:nvSpPr>
        <p:spPr>
          <a:xfrm>
            <a:off x="474109" y="4364998"/>
            <a:ext cx="7943270" cy="264152"/>
          </a:xfrm>
          <a:prstGeom prst="rect">
            <a:avLst/>
          </a:prstGeom>
          <a:noFill/>
          <a:ln/>
        </p:spPr>
        <p:txBody>
          <a:bodyPr wrap="square" rtlCol="0" anchor="ctr"/>
          <a:lstStyle/>
          <a:p>
            <a:r>
              <a:rPr lang="en-US" sz="1200" dirty="0"/>
              <a:t>Logistics operations face a 50% delivery success rate and declining shipment volumes, while transportation costs are heavily influenced by shipment weight, creating opportunities for route optimization and delivery performance improvement.</a:t>
            </a:r>
            <a:endParaRPr lang="en-US" sz="1200" dirty="0">
              <a:solidFill>
                <a:schemeClr val="tx1">
                  <a:lumMod val="75000"/>
                  <a:lumOff val="25000"/>
                </a:schemeClr>
              </a:solidFill>
            </a:endParaRPr>
          </a:p>
        </p:txBody>
      </p:sp>
    </p:spTree>
    <p:extLst>
      <p:ext uri="{BB962C8B-B14F-4D97-AF65-F5344CB8AC3E}">
        <p14:creationId xmlns:p14="http://schemas.microsoft.com/office/powerpoint/2010/main" val="9847520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250"/>
                                        <p:tgtEl>
                                          <p:spTgt spid="9"/>
                                        </p:tgtEl>
                                      </p:cBhvr>
                                    </p:animEffect>
                                  </p:childTnLst>
                                </p:cTn>
                              </p:par>
                            </p:childTnLst>
                          </p:cTn>
                        </p:par>
                        <p:par>
                          <p:cTn id="8" fill="hold">
                            <p:stCondLst>
                              <p:cond delay="250"/>
                            </p:stCondLst>
                            <p:childTnLst>
                              <p:par>
                                <p:cTn id="9" presetID="2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a:extLst>
            <a:ext uri="{FF2B5EF4-FFF2-40B4-BE49-F238E27FC236}">
              <a16:creationId xmlns:a16="http://schemas.microsoft.com/office/drawing/2014/main" id="{67A2B7A6-C5F6-38D7-377C-33A64EDD6941}"/>
            </a:ext>
          </a:extLst>
        </p:cNvPr>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F90C28DD-30E7-E78F-FC9B-E868478FDB78}"/>
              </a:ext>
            </a:extLst>
          </p:cNvPr>
          <p:cNvSpPr/>
          <p:nvPr/>
        </p:nvSpPr>
        <p:spPr>
          <a:xfrm>
            <a:off x="342691" y="4287673"/>
            <a:ext cx="8458617" cy="4044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Shape 0">
            <a:extLst>
              <a:ext uri="{FF2B5EF4-FFF2-40B4-BE49-F238E27FC236}">
                <a16:creationId xmlns:a16="http://schemas.microsoft.com/office/drawing/2014/main" id="{C5115C15-9FE1-A03E-61D3-FB33E1C229A2}"/>
              </a:ext>
            </a:extLst>
          </p:cNvPr>
          <p:cNvSpPr/>
          <p:nvPr/>
        </p:nvSpPr>
        <p:spPr>
          <a:xfrm>
            <a:off x="0" y="0"/>
            <a:ext cx="54864" cy="5143500"/>
          </a:xfrm>
          <a:prstGeom prst="rect">
            <a:avLst/>
          </a:prstGeom>
          <a:solidFill>
            <a:srgbClr val="F58220"/>
          </a:solidFill>
          <a:ln w="12700">
            <a:solidFill>
              <a:srgbClr val="F58220"/>
            </a:solidFill>
            <a:prstDash val="solid"/>
          </a:ln>
        </p:spPr>
      </p:sp>
      <p:sp>
        <p:nvSpPr>
          <p:cNvPr id="3" name="Text 1">
            <a:extLst>
              <a:ext uri="{FF2B5EF4-FFF2-40B4-BE49-F238E27FC236}">
                <a16:creationId xmlns:a16="http://schemas.microsoft.com/office/drawing/2014/main" id="{7CFF094C-F67E-6CDA-604E-88D8E2061702}"/>
              </a:ext>
            </a:extLst>
          </p:cNvPr>
          <p:cNvSpPr/>
          <p:nvPr/>
        </p:nvSpPr>
        <p:spPr>
          <a:xfrm>
            <a:off x="134711" y="5230"/>
            <a:ext cx="6858000" cy="438912"/>
          </a:xfrm>
          <a:prstGeom prst="rect">
            <a:avLst/>
          </a:prstGeom>
          <a:noFill/>
          <a:ln/>
        </p:spPr>
        <p:txBody>
          <a:bodyPr wrap="square" rtlCol="0" anchor="ctr"/>
          <a:lstStyle/>
          <a:p>
            <a:r>
              <a:rPr lang="en-US" sz="2000" b="1" dirty="0">
                <a:solidFill>
                  <a:srgbClr val="0B1D35"/>
                </a:solidFill>
                <a:latin typeface="Arial" pitchFamily="34" charset="0"/>
                <a:ea typeface="Arial" pitchFamily="34" charset="-122"/>
                <a:cs typeface="Arial" pitchFamily="34" charset="-120"/>
              </a:rPr>
              <a:t>Financial Health Dashboard</a:t>
            </a:r>
            <a:endParaRPr lang="en-US" sz="2000" dirty="0"/>
          </a:p>
        </p:txBody>
      </p:sp>
      <p:sp>
        <p:nvSpPr>
          <p:cNvPr id="4" name="Text 2">
            <a:extLst>
              <a:ext uri="{FF2B5EF4-FFF2-40B4-BE49-F238E27FC236}">
                <a16:creationId xmlns:a16="http://schemas.microsoft.com/office/drawing/2014/main" id="{28339CDD-12BC-09EF-3CD7-B60BC94304DD}"/>
              </a:ext>
            </a:extLst>
          </p:cNvPr>
          <p:cNvSpPr/>
          <p:nvPr/>
        </p:nvSpPr>
        <p:spPr>
          <a:xfrm>
            <a:off x="6492240" y="169827"/>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LIVE DASHBOARD PAGES</a:t>
            </a:r>
            <a:endParaRPr lang="en-US" sz="800" dirty="0"/>
          </a:p>
        </p:txBody>
      </p:sp>
      <p:sp>
        <p:nvSpPr>
          <p:cNvPr id="5" name="Shape 3">
            <a:extLst>
              <a:ext uri="{FF2B5EF4-FFF2-40B4-BE49-F238E27FC236}">
                <a16:creationId xmlns:a16="http://schemas.microsoft.com/office/drawing/2014/main" id="{D0690835-FCD5-DACB-1CE3-3B369C6BC019}"/>
              </a:ext>
            </a:extLst>
          </p:cNvPr>
          <p:cNvSpPr/>
          <p:nvPr/>
        </p:nvSpPr>
        <p:spPr>
          <a:xfrm>
            <a:off x="274320" y="441526"/>
            <a:ext cx="8645168" cy="45719"/>
          </a:xfrm>
          <a:prstGeom prst="rect">
            <a:avLst/>
          </a:prstGeom>
          <a:solidFill>
            <a:srgbClr val="E2E8F0"/>
          </a:solidFill>
          <a:ln w="3175">
            <a:solidFill>
              <a:srgbClr val="E2E8F0"/>
            </a:solidFill>
            <a:prstDash val="solid"/>
          </a:ln>
        </p:spPr>
      </p:sp>
      <p:sp>
        <p:nvSpPr>
          <p:cNvPr id="6" name="Text 4">
            <a:extLst>
              <a:ext uri="{FF2B5EF4-FFF2-40B4-BE49-F238E27FC236}">
                <a16:creationId xmlns:a16="http://schemas.microsoft.com/office/drawing/2014/main" id="{9EA26850-D39E-AAB5-BA74-AD8EBBB344C8}"/>
              </a:ext>
            </a:extLst>
          </p:cNvPr>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a:extLst>
              <a:ext uri="{FF2B5EF4-FFF2-40B4-BE49-F238E27FC236}">
                <a16:creationId xmlns:a16="http://schemas.microsoft.com/office/drawing/2014/main" id="{057C469D-B0BC-D3C0-F551-E28AE782029F}"/>
              </a:ext>
            </a:extLst>
          </p:cNvPr>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23</a:t>
            </a:r>
            <a:endParaRPr lang="en-US" sz="700" dirty="0"/>
          </a:p>
        </p:txBody>
      </p:sp>
      <p:sp>
        <p:nvSpPr>
          <p:cNvPr id="8" name="Shape 6">
            <a:extLst>
              <a:ext uri="{FF2B5EF4-FFF2-40B4-BE49-F238E27FC236}">
                <a16:creationId xmlns:a16="http://schemas.microsoft.com/office/drawing/2014/main" id="{D8F7BD72-41F0-F578-9323-2E27C721AEA2}"/>
              </a:ext>
            </a:extLst>
          </p:cNvPr>
          <p:cNvSpPr/>
          <p:nvPr/>
        </p:nvSpPr>
        <p:spPr>
          <a:xfrm>
            <a:off x="274320" y="576063"/>
            <a:ext cx="8645168" cy="4227153"/>
          </a:xfrm>
          <a:prstGeom prst="roundRect">
            <a:avLst>
              <a:gd name="adj" fmla="val 1967"/>
            </a:avLst>
          </a:prstGeom>
          <a:solidFill>
            <a:srgbClr val="FFFFFF"/>
          </a:solidFill>
          <a:ln w="9525">
            <a:solidFill>
              <a:srgbClr val="E2E8F0"/>
            </a:solidFill>
            <a:prstDash val="solid"/>
          </a:ln>
        </p:spPr>
      </p:sp>
      <p:pic>
        <p:nvPicPr>
          <p:cNvPr id="9" name="Image 0">
            <a:extLst>
              <a:ext uri="{FF2B5EF4-FFF2-40B4-BE49-F238E27FC236}">
                <a16:creationId xmlns:a16="http://schemas.microsoft.com/office/drawing/2014/main" id="{10FD9C51-FA43-CC31-E37E-B8415F9C2075}"/>
              </a:ext>
            </a:extLst>
          </p:cNvPr>
          <p:cNvPicPr>
            <a:picLocks noChangeAspect="1"/>
          </p:cNvPicPr>
          <p:nvPr/>
        </p:nvPicPr>
        <p:blipFill>
          <a:blip r:embed="rId3"/>
          <a:srcRect/>
          <a:stretch/>
        </p:blipFill>
        <p:spPr>
          <a:xfrm>
            <a:off x="301031" y="829212"/>
            <a:ext cx="5878704" cy="3399732"/>
          </a:xfrm>
          <a:prstGeom prst="rect">
            <a:avLst/>
          </a:prstGeom>
        </p:spPr>
      </p:pic>
      <p:sp>
        <p:nvSpPr>
          <p:cNvPr id="10" name="Text 7">
            <a:extLst>
              <a:ext uri="{FF2B5EF4-FFF2-40B4-BE49-F238E27FC236}">
                <a16:creationId xmlns:a16="http://schemas.microsoft.com/office/drawing/2014/main" id="{017D1C86-DB74-0EEB-3800-EDB0294EF032}"/>
              </a:ext>
            </a:extLst>
          </p:cNvPr>
          <p:cNvSpPr/>
          <p:nvPr/>
        </p:nvSpPr>
        <p:spPr>
          <a:xfrm>
            <a:off x="6199465" y="1161482"/>
            <a:ext cx="2795519" cy="2529279"/>
          </a:xfrm>
          <a:prstGeom prst="rect">
            <a:avLst/>
          </a:prstGeom>
          <a:noFill/>
          <a:ln/>
        </p:spPr>
        <p:txBody>
          <a:bodyPr wrap="square" rtlCol="0" anchor="ctr"/>
          <a:lstStyle/>
          <a:p>
            <a:r>
              <a:rPr lang="en-US" sz="900" b="1" dirty="0"/>
              <a:t>Key Business Insights</a:t>
            </a:r>
          </a:p>
          <a:p>
            <a:endParaRPr lang="en-US" sz="900" b="1" dirty="0"/>
          </a:p>
          <a:p>
            <a:r>
              <a:rPr lang="en-US" sz="900" dirty="0"/>
              <a:t>• </a:t>
            </a:r>
            <a:r>
              <a:rPr lang="en-US" sz="900" b="1" dirty="0"/>
              <a:t>High Outstanding Balance Risk:</a:t>
            </a:r>
            <a:r>
              <a:rPr lang="en-US" sz="900" dirty="0"/>
              <a:t> Outstanding payments equal </a:t>
            </a:r>
            <a:r>
              <a:rPr lang="en-US" sz="900" b="1" dirty="0"/>
              <a:t>₹5M</a:t>
            </a:r>
            <a:r>
              <a:rPr lang="en-US" sz="900" dirty="0"/>
              <a:t>, matching the amount received, resulting in a low </a:t>
            </a:r>
            <a:r>
              <a:rPr lang="en-US" sz="900" b="1" dirty="0"/>
              <a:t>50% payment success rate</a:t>
            </a:r>
            <a:r>
              <a:rPr lang="en-US" sz="900" dirty="0"/>
              <a:t>.</a:t>
            </a:r>
          </a:p>
          <a:p>
            <a:r>
              <a:rPr lang="en-US" sz="900" dirty="0"/>
              <a:t>• </a:t>
            </a:r>
            <a:r>
              <a:rPr lang="en-US" sz="900" b="1" dirty="0"/>
              <a:t>Revenue Strong but Collection Efficiency Weak:</a:t>
            </a:r>
            <a:r>
              <a:rPr lang="en-US" sz="900" dirty="0"/>
              <a:t> Total revenue stands at </a:t>
            </a:r>
            <a:r>
              <a:rPr lang="en-US" sz="900" b="1" dirty="0"/>
              <a:t>₹9M</a:t>
            </a:r>
            <a:r>
              <a:rPr lang="en-US" sz="900" dirty="0"/>
              <a:t>, yet a significant portion remains unpaid, impacting cash flow stability.</a:t>
            </a:r>
          </a:p>
          <a:p>
            <a:r>
              <a:rPr lang="en-US" sz="900" dirty="0"/>
              <a:t>• </a:t>
            </a:r>
            <a:r>
              <a:rPr lang="en-US" sz="900" b="1" dirty="0"/>
              <a:t>COD Remains Dominant:</a:t>
            </a:r>
            <a:r>
              <a:rPr lang="en-US" sz="900" dirty="0"/>
              <a:t> </a:t>
            </a:r>
            <a:r>
              <a:rPr lang="en-US" sz="900" b="1" dirty="0"/>
              <a:t>55.4% of payments are Cash on Delivery (COD)</a:t>
            </a:r>
            <a:r>
              <a:rPr lang="en-US" sz="900" dirty="0"/>
              <a:t>, increasing collection risk and payment delays.</a:t>
            </a:r>
          </a:p>
          <a:p>
            <a:r>
              <a:rPr lang="en-US" sz="900" dirty="0"/>
              <a:t>• </a:t>
            </a:r>
            <a:r>
              <a:rPr lang="en-US" sz="900" b="1" dirty="0"/>
              <a:t>Retail Customers Drive Revenue:</a:t>
            </a:r>
            <a:r>
              <a:rPr lang="en-US" sz="900" dirty="0"/>
              <a:t> Retail customers contribute the highest payments (</a:t>
            </a:r>
            <a:r>
              <a:rPr lang="en-US" sz="900" b="1" dirty="0"/>
              <a:t>₹3.7M</a:t>
            </a:r>
            <a:r>
              <a:rPr lang="en-US" sz="900" dirty="0"/>
              <a:t>), making them the most valuable customer segment.</a:t>
            </a:r>
          </a:p>
          <a:p>
            <a:r>
              <a:rPr lang="en-US" sz="900" dirty="0"/>
              <a:t>• </a:t>
            </a:r>
            <a:r>
              <a:rPr lang="en-US" sz="900" b="1" dirty="0"/>
              <a:t>Customer Revenue Concentration:</a:t>
            </a:r>
            <a:r>
              <a:rPr lang="en-US" sz="900" dirty="0"/>
              <a:t> A small group of customers contributes a disproportionately high share of total payments, creating dependency risk.</a:t>
            </a:r>
          </a:p>
          <a:p>
            <a:r>
              <a:rPr lang="en-US" sz="900" dirty="0"/>
              <a:t>• </a:t>
            </a:r>
            <a:r>
              <a:rPr lang="en-US" sz="900" b="1" dirty="0"/>
              <a:t>Outstanding Amounts Fluctuate Significantly:</a:t>
            </a:r>
            <a:r>
              <a:rPr lang="en-US" sz="900" dirty="0"/>
              <a:t> Monthly outstanding balances peak at </a:t>
            </a:r>
            <a:r>
              <a:rPr lang="en-US" sz="900" b="1" dirty="0"/>
              <a:t>₹0.83M</a:t>
            </a:r>
            <a:r>
              <a:rPr lang="en-US" sz="900" dirty="0"/>
              <a:t>, indicating inconsistent collections and potential working capital challenges.</a:t>
            </a:r>
          </a:p>
        </p:txBody>
      </p:sp>
      <p:sp>
        <p:nvSpPr>
          <p:cNvPr id="22" name="Shape 6">
            <a:extLst>
              <a:ext uri="{FF2B5EF4-FFF2-40B4-BE49-F238E27FC236}">
                <a16:creationId xmlns:a16="http://schemas.microsoft.com/office/drawing/2014/main" id="{C777E25A-D266-A27C-CD30-42BA0D64D469}"/>
              </a:ext>
            </a:extLst>
          </p:cNvPr>
          <p:cNvSpPr/>
          <p:nvPr/>
        </p:nvSpPr>
        <p:spPr>
          <a:xfrm>
            <a:off x="382670" y="4250693"/>
            <a:ext cx="8418638" cy="497686"/>
          </a:xfrm>
          <a:prstGeom prst="roundRect">
            <a:avLst>
              <a:gd name="adj" fmla="val 9231"/>
            </a:avLst>
          </a:prstGeom>
          <a:solidFill>
            <a:schemeClr val="bg1">
              <a:lumMod val="85000"/>
            </a:schemeClr>
          </a:solidFill>
          <a:ln w="9525">
            <a:solidFill>
              <a:srgbClr val="E2E8F0"/>
            </a:solidFill>
            <a:prstDash val="solid"/>
          </a:ln>
        </p:spPr>
      </p:sp>
      <p:sp>
        <p:nvSpPr>
          <p:cNvPr id="23" name="Text 7">
            <a:extLst>
              <a:ext uri="{FF2B5EF4-FFF2-40B4-BE49-F238E27FC236}">
                <a16:creationId xmlns:a16="http://schemas.microsoft.com/office/drawing/2014/main" id="{CA37D663-7E8A-7A4A-8A54-3A10822EF10A}"/>
              </a:ext>
            </a:extLst>
          </p:cNvPr>
          <p:cNvSpPr/>
          <p:nvPr/>
        </p:nvSpPr>
        <p:spPr>
          <a:xfrm>
            <a:off x="474109" y="4364998"/>
            <a:ext cx="7943270" cy="264152"/>
          </a:xfrm>
          <a:prstGeom prst="rect">
            <a:avLst/>
          </a:prstGeom>
          <a:noFill/>
          <a:ln/>
        </p:spPr>
        <p:txBody>
          <a:bodyPr wrap="square" rtlCol="0" anchor="ctr"/>
          <a:lstStyle/>
          <a:p>
            <a:r>
              <a:rPr lang="en-US" sz="1200" dirty="0"/>
              <a:t>Despite generating ₹9M in revenue, only half of payments are successfully collected, highlighting a critical need to reduce COD dependency, improve collections, and strengthen cash flow management.</a:t>
            </a:r>
            <a:endParaRPr lang="en-US" sz="1200" dirty="0">
              <a:solidFill>
                <a:schemeClr val="tx1">
                  <a:lumMod val="75000"/>
                  <a:lumOff val="25000"/>
                </a:schemeClr>
              </a:solidFill>
            </a:endParaRPr>
          </a:p>
        </p:txBody>
      </p:sp>
    </p:spTree>
    <p:extLst>
      <p:ext uri="{BB962C8B-B14F-4D97-AF65-F5344CB8AC3E}">
        <p14:creationId xmlns:p14="http://schemas.microsoft.com/office/powerpoint/2010/main" val="1581421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250"/>
                                        <p:tgtEl>
                                          <p:spTgt spid="9"/>
                                        </p:tgtEl>
                                      </p:cBhvr>
                                    </p:animEffect>
                                  </p:childTnLst>
                                </p:cTn>
                              </p:par>
                            </p:childTnLst>
                          </p:cTn>
                        </p:par>
                        <p:par>
                          <p:cTn id="8" fill="hold">
                            <p:stCondLst>
                              <p:cond delay="250"/>
                            </p:stCondLst>
                            <p:childTnLst>
                              <p:par>
                                <p:cTn id="9" presetID="2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0B1D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8220"/>
          </a:solidFill>
          <a:ln w="12700">
            <a:solidFill>
              <a:srgbClr val="F58220"/>
            </a:solidFill>
            <a:prstDash val="solid"/>
          </a:ln>
        </p:spPr>
      </p:sp>
      <p:sp>
        <p:nvSpPr>
          <p:cNvPr id="3" name="Text 1"/>
          <p:cNvSpPr/>
          <p:nvPr/>
        </p:nvSpPr>
        <p:spPr>
          <a:xfrm>
            <a:off x="914400" y="1828800"/>
            <a:ext cx="7315200" cy="64008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n8n OPERATIONS AUTOMATION</a:t>
            </a:r>
            <a:endParaRPr lang="en-US" sz="2600" dirty="0"/>
          </a:p>
        </p:txBody>
      </p:sp>
      <p:sp>
        <p:nvSpPr>
          <p:cNvPr id="4" name="Shape 2"/>
          <p:cNvSpPr/>
          <p:nvPr/>
        </p:nvSpPr>
        <p:spPr>
          <a:xfrm>
            <a:off x="3931920" y="2606040"/>
            <a:ext cx="1280160" cy="36576"/>
          </a:xfrm>
          <a:prstGeom prst="rect">
            <a:avLst/>
          </a:prstGeom>
          <a:solidFill>
            <a:srgbClr val="F58220"/>
          </a:solidFill>
          <a:ln w="12700">
            <a:solidFill>
              <a:srgbClr val="F58220"/>
            </a:solidFill>
            <a:prstDash val="solid"/>
          </a:ln>
        </p:spPr>
      </p:sp>
      <p:sp>
        <p:nvSpPr>
          <p:cNvPr id="5" name="Text 3"/>
          <p:cNvSpPr/>
          <p:nvPr/>
        </p:nvSpPr>
        <p:spPr>
          <a:xfrm>
            <a:off x="914400" y="2788920"/>
            <a:ext cx="7315200" cy="365760"/>
          </a:xfrm>
          <a:prstGeom prst="rect">
            <a:avLst/>
          </a:prstGeom>
          <a:noFill/>
          <a:ln/>
        </p:spPr>
        <p:txBody>
          <a:bodyPr wrap="square" rtlCol="0" anchor="ctr"/>
          <a:lstStyle/>
          <a:p>
            <a:pPr marL="0" indent="0" algn="ctr">
              <a:buNone/>
            </a:pPr>
            <a:r>
              <a:rPr lang="en-US" sz="1300" dirty="0">
                <a:solidFill>
                  <a:srgbClr val="3EA6FF"/>
                </a:solidFill>
                <a:latin typeface="Arial" pitchFamily="34" charset="0"/>
                <a:ea typeface="Arial" pitchFamily="34" charset="-122"/>
                <a:cs typeface="Arial" pitchFamily="34" charset="-120"/>
              </a:rPr>
              <a:t>GenAI-Powered Workflows Connecting SQL to Executive Alerts</a:t>
            </a:r>
            <a:endParaRPr lang="en-US" sz="1300" dirty="0"/>
          </a:p>
        </p:txBody>
      </p:sp>
      <p:sp>
        <p:nvSpPr>
          <p:cNvPr id="6" name="Text 4"/>
          <p:cNvSpPr/>
          <p:nvPr/>
        </p:nvSpPr>
        <p:spPr>
          <a:xfrm>
            <a:off x="914400" y="4572000"/>
            <a:ext cx="7315200" cy="228600"/>
          </a:xfrm>
          <a:prstGeom prst="rect">
            <a:avLst/>
          </a:prstGeom>
          <a:noFill/>
          <a:ln/>
        </p:spPr>
        <p:txBody>
          <a:bodyPr wrap="square" rtlCol="0" anchor="ctr"/>
          <a:lstStyle/>
          <a:p>
            <a:pPr marL="0" indent="0" algn="ctr">
              <a:buNone/>
            </a:pPr>
            <a:r>
              <a:rPr lang="en-US" sz="800" b="1" dirty="0">
                <a:solidFill>
                  <a:srgbClr val="64748B"/>
                </a:solidFill>
                <a:latin typeface="Arial" pitchFamily="34" charset="0"/>
                <a:ea typeface="Arial" pitchFamily="34" charset="-122"/>
                <a:cs typeface="Arial" pitchFamily="34" charset="-120"/>
              </a:rPr>
              <a:t>TATA MOTORS OPERATIONS STUDY</a:t>
            </a:r>
            <a:endParaRPr lang="en-US" sz="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n8n Daily Operations Automation</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WORKFLOW I: DAILY SUMMARY</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25</a:t>
            </a:r>
            <a:endParaRPr lang="en-US" sz="700" dirty="0"/>
          </a:p>
        </p:txBody>
      </p:sp>
      <p:sp>
        <p:nvSpPr>
          <p:cNvPr id="8" name="Shape 6"/>
          <p:cNvSpPr/>
          <p:nvPr/>
        </p:nvSpPr>
        <p:spPr>
          <a:xfrm>
            <a:off x="365760" y="868680"/>
            <a:ext cx="3931920" cy="3794760"/>
          </a:xfrm>
          <a:prstGeom prst="roundRect">
            <a:avLst>
              <a:gd name="adj" fmla="val 1446"/>
            </a:avLst>
          </a:prstGeom>
          <a:solidFill>
            <a:srgbClr val="FFFFFF"/>
          </a:solidFill>
          <a:ln w="9525">
            <a:solidFill>
              <a:srgbClr val="E2E8F0"/>
            </a:solidFill>
            <a:prstDash val="solid"/>
          </a:ln>
        </p:spPr>
      </p:sp>
      <p:sp>
        <p:nvSpPr>
          <p:cNvPr id="9" name="Text 7"/>
          <p:cNvSpPr/>
          <p:nvPr/>
        </p:nvSpPr>
        <p:spPr>
          <a:xfrm>
            <a:off x="502920" y="960120"/>
            <a:ext cx="3657600" cy="22860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Daily Summary Workflow</a:t>
            </a:r>
            <a:endParaRPr lang="en-US" sz="1200" dirty="0"/>
          </a:p>
        </p:txBody>
      </p:sp>
      <p:pic>
        <p:nvPicPr>
          <p:cNvPr id="10" name="Image 0" descr="C:\Users\sayee\Documents\Tata_Motors_Final_Presentation\resources\image.png"/>
          <p:cNvPicPr>
            <a:picLocks noChangeAspect="1"/>
          </p:cNvPicPr>
          <p:nvPr/>
        </p:nvPicPr>
        <p:blipFill>
          <a:blip r:embed="rId3"/>
          <a:stretch>
            <a:fillRect/>
          </a:stretch>
        </p:blipFill>
        <p:spPr>
          <a:xfrm>
            <a:off x="457200" y="1261872"/>
            <a:ext cx="3749040" cy="1645920"/>
          </a:xfrm>
          <a:prstGeom prst="rect">
            <a:avLst/>
          </a:prstGeom>
        </p:spPr>
      </p:pic>
      <p:sp>
        <p:nvSpPr>
          <p:cNvPr id="11" name="Text 8"/>
          <p:cNvSpPr/>
          <p:nvPr/>
        </p:nvSpPr>
        <p:spPr>
          <a:xfrm>
            <a:off x="502920" y="3017520"/>
            <a:ext cx="3657600" cy="1508760"/>
          </a:xfrm>
          <a:prstGeom prst="rect">
            <a:avLst/>
          </a:prstGeom>
          <a:noFill/>
          <a:ln/>
        </p:spPr>
        <p:txBody>
          <a:bodyPr wrap="square" rtlCol="0" anchor="ctr"/>
          <a:lstStyle/>
          <a:p>
            <a:pPr marL="0" indent="0">
              <a:lnSpc>
                <a:spcPts val="1000"/>
              </a:lnSpc>
              <a:buNone/>
            </a:pPr>
            <a:r>
              <a:rPr lang="en-US" sz="850" b="1" dirty="0">
                <a:solidFill>
                  <a:srgbClr val="F58220"/>
                </a:solidFill>
                <a:latin typeface="Arial" pitchFamily="34" charset="0"/>
                <a:ea typeface="Arial" pitchFamily="34" charset="-122"/>
                <a:cs typeface="Arial" pitchFamily="34" charset="-120"/>
              </a:rPr>
              <a:t>① Cron Trigger → </a:t>
            </a:r>
            <a:r>
              <a:rPr lang="en-US" sz="850" dirty="0">
                <a:solidFill>
                  <a:srgbClr val="2D3748"/>
                </a:solidFill>
                <a:latin typeface="Arial" pitchFamily="34" charset="0"/>
                <a:ea typeface="Arial" pitchFamily="34" charset="-122"/>
                <a:cs typeface="Arial" pitchFamily="34" charset="-120"/>
              </a:rPr>
              <a:t>Daily schedule at set morning hour
</a:t>
            </a:r>
            <a:r>
              <a:rPr lang="en-US" sz="850" b="1" dirty="0">
                <a:solidFill>
                  <a:srgbClr val="3EA6FF"/>
                </a:solidFill>
                <a:latin typeface="Arial" pitchFamily="34" charset="0"/>
                <a:ea typeface="Arial" pitchFamily="34" charset="-122"/>
                <a:cs typeface="Arial" pitchFamily="34" charset="-120"/>
              </a:rPr>
              <a:t>② PostgreSQL Query → </a:t>
            </a:r>
            <a:r>
              <a:rPr lang="en-US" sz="850" dirty="0">
                <a:solidFill>
                  <a:srgbClr val="2D3748"/>
                </a:solidFill>
                <a:latin typeface="Arial" pitchFamily="34" charset="0"/>
                <a:ea typeface="Arial" pitchFamily="34" charset="-122"/>
                <a:cs typeface="Arial" pitchFamily="34" charset="-120"/>
              </a:rPr>
              <a:t>Pulls aggregated shipment &amp; payment metrics
</a:t>
            </a:r>
            <a:r>
              <a:rPr lang="en-US" sz="850" b="1" dirty="0">
                <a:solidFill>
                  <a:srgbClr val="2D3748"/>
                </a:solidFill>
                <a:latin typeface="Arial" pitchFamily="34" charset="0"/>
                <a:ea typeface="Arial" pitchFamily="34" charset="-122"/>
                <a:cs typeface="Arial" pitchFamily="34" charset="-120"/>
              </a:rPr>
              <a:t>③ JS Formatter → </a:t>
            </a:r>
            <a:r>
              <a:rPr lang="en-US" sz="850" dirty="0">
                <a:solidFill>
                  <a:srgbClr val="2D3748"/>
                </a:solidFill>
                <a:latin typeface="Arial" pitchFamily="34" charset="0"/>
                <a:ea typeface="Arial" pitchFamily="34" charset="-122"/>
                <a:cs typeface="Arial" pitchFamily="34" charset="-120"/>
              </a:rPr>
              <a:t>Structures SQL output as JSON arrays
</a:t>
            </a:r>
            <a:r>
              <a:rPr lang="en-US" sz="850" b="1" dirty="0">
                <a:solidFill>
                  <a:srgbClr val="10B981"/>
                </a:solidFill>
                <a:latin typeface="Arial" pitchFamily="34" charset="0"/>
                <a:ea typeface="Arial" pitchFamily="34" charset="-122"/>
                <a:cs typeface="Arial" pitchFamily="34" charset="-120"/>
              </a:rPr>
              <a:t>④ Groq LLM → </a:t>
            </a:r>
            <a:r>
              <a:rPr lang="en-US" sz="850" dirty="0">
                <a:solidFill>
                  <a:srgbClr val="2D3748"/>
                </a:solidFill>
                <a:latin typeface="Arial" pitchFamily="34" charset="0"/>
                <a:ea typeface="Arial" pitchFamily="34" charset="-122"/>
                <a:cs typeface="Arial" pitchFamily="34" charset="-120"/>
              </a:rPr>
              <a:t>Generates plain-English executive summary
</a:t>
            </a:r>
            <a:r>
              <a:rPr lang="en-US" sz="850" b="1" dirty="0">
                <a:solidFill>
                  <a:srgbClr val="EF4444"/>
                </a:solidFill>
                <a:latin typeface="Arial" pitchFamily="34" charset="0"/>
                <a:ea typeface="Arial" pitchFamily="34" charset="-122"/>
                <a:cs typeface="Arial" pitchFamily="34" charset="-120"/>
              </a:rPr>
              <a:t>⑤ Email Node → </a:t>
            </a:r>
            <a:r>
              <a:rPr lang="en-US" sz="850" dirty="0">
                <a:solidFill>
                  <a:srgbClr val="2D3748"/>
                </a:solidFill>
                <a:latin typeface="Arial" pitchFamily="34" charset="0"/>
                <a:ea typeface="Arial" pitchFamily="34" charset="-122"/>
                <a:cs typeface="Arial" pitchFamily="34" charset="-120"/>
              </a:rPr>
              <a:t>Delivers report to operations managers</a:t>
            </a:r>
            <a:endParaRPr lang="en-US" sz="850" dirty="0"/>
          </a:p>
        </p:txBody>
      </p:sp>
      <p:sp>
        <p:nvSpPr>
          <p:cNvPr id="12" name="Shape 9"/>
          <p:cNvSpPr/>
          <p:nvPr/>
        </p:nvSpPr>
        <p:spPr>
          <a:xfrm>
            <a:off x="4434840" y="868680"/>
            <a:ext cx="4297680" cy="3794760"/>
          </a:xfrm>
          <a:prstGeom prst="roundRect">
            <a:avLst>
              <a:gd name="adj" fmla="val 1446"/>
            </a:avLst>
          </a:prstGeom>
          <a:solidFill>
            <a:srgbClr val="FFFFFF"/>
          </a:solidFill>
          <a:ln w="9525">
            <a:solidFill>
              <a:srgbClr val="E2E8F0"/>
            </a:solidFill>
            <a:prstDash val="solid"/>
          </a:ln>
        </p:spPr>
      </p:sp>
      <p:sp>
        <p:nvSpPr>
          <p:cNvPr id="13" name="Text 10"/>
          <p:cNvSpPr/>
          <p:nvPr/>
        </p:nvSpPr>
        <p:spPr>
          <a:xfrm>
            <a:off x="4572000" y="960120"/>
            <a:ext cx="4023360" cy="22860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Pipeline Architecture &amp; Output</a:t>
            </a:r>
            <a:endParaRPr lang="en-US" sz="1200" dirty="0"/>
          </a:p>
        </p:txBody>
      </p:sp>
      <p:pic>
        <p:nvPicPr>
          <p:cNvPr id="14" name="Image 1"/>
          <p:cNvPicPr>
            <a:picLocks noChangeAspect="1"/>
          </p:cNvPicPr>
          <p:nvPr/>
        </p:nvPicPr>
        <p:blipFill>
          <a:blip r:embed="rId4"/>
          <a:srcRect/>
          <a:stretch/>
        </p:blipFill>
        <p:spPr>
          <a:xfrm>
            <a:off x="4526280" y="1234440"/>
            <a:ext cx="4069080" cy="1828800"/>
          </a:xfrm>
          <a:prstGeom prst="rect">
            <a:avLst/>
          </a:prstGeom>
        </p:spPr>
      </p:pic>
      <p:sp>
        <p:nvSpPr>
          <p:cNvPr id="15" name="Shape 11"/>
          <p:cNvSpPr/>
          <p:nvPr/>
        </p:nvSpPr>
        <p:spPr>
          <a:xfrm>
            <a:off x="4526280" y="3154680"/>
            <a:ext cx="4114800" cy="1371600"/>
          </a:xfrm>
          <a:prstGeom prst="roundRect">
            <a:avLst>
              <a:gd name="adj" fmla="val 2667"/>
            </a:avLst>
          </a:prstGeom>
          <a:solidFill>
            <a:srgbClr val="1E293B"/>
          </a:solidFill>
          <a:ln w="6350">
            <a:solidFill>
              <a:srgbClr val="0B1D35"/>
            </a:solidFill>
            <a:prstDash val="solid"/>
          </a:ln>
        </p:spPr>
      </p:sp>
      <p:sp>
        <p:nvSpPr>
          <p:cNvPr id="16" name="Text 12"/>
          <p:cNvSpPr/>
          <p:nvPr/>
        </p:nvSpPr>
        <p:spPr>
          <a:xfrm>
            <a:off x="4636008" y="3246120"/>
            <a:ext cx="3895344" cy="1188720"/>
          </a:xfrm>
          <a:prstGeom prst="rect">
            <a:avLst/>
          </a:prstGeom>
          <a:noFill/>
          <a:ln/>
        </p:spPr>
        <p:txBody>
          <a:bodyPr wrap="square" rtlCol="0" anchor="ctr"/>
          <a:lstStyle/>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Daily Operations Summary:</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Total Shipments: 200</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Delivered: 100 | Pending: 100</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Domestic: 109 | International: 91</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Express: 102 | Regular: 98</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Charges Collected: ₹187,594</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 ⚠️ 100 payments outstanding (COD risk)</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AI-Based Shipment Issue Explanation</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WORKFLOW II: ON-DEMAND REASONER</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26</a:t>
            </a:r>
            <a:endParaRPr lang="en-US" sz="700" dirty="0"/>
          </a:p>
        </p:txBody>
      </p:sp>
      <p:sp>
        <p:nvSpPr>
          <p:cNvPr id="8" name="Shape 6"/>
          <p:cNvSpPr/>
          <p:nvPr/>
        </p:nvSpPr>
        <p:spPr>
          <a:xfrm>
            <a:off x="365760" y="868680"/>
            <a:ext cx="3931920" cy="1828800"/>
          </a:xfrm>
          <a:prstGeom prst="roundRect">
            <a:avLst>
              <a:gd name="adj" fmla="val 3000"/>
            </a:avLst>
          </a:prstGeom>
          <a:solidFill>
            <a:srgbClr val="FFFFFF"/>
          </a:solidFill>
          <a:ln w="9525">
            <a:solidFill>
              <a:srgbClr val="E2E8F0"/>
            </a:solidFill>
            <a:prstDash val="solid"/>
          </a:ln>
        </p:spPr>
      </p:sp>
      <p:pic>
        <p:nvPicPr>
          <p:cNvPr id="9" name="Image 0" descr="C:\Users\sayee\Documents\Tata_Motors_Final_Presentation\resources\WhatsApp Image 2026-05-29 at 8.37.51 AM.jpeg"/>
          <p:cNvPicPr>
            <a:picLocks noChangeAspect="1"/>
          </p:cNvPicPr>
          <p:nvPr/>
        </p:nvPicPr>
        <p:blipFill>
          <a:blip r:embed="rId3"/>
          <a:stretch>
            <a:fillRect/>
          </a:stretch>
        </p:blipFill>
        <p:spPr>
          <a:xfrm>
            <a:off x="438912" y="932688"/>
            <a:ext cx="3785616" cy="1700784"/>
          </a:xfrm>
          <a:prstGeom prst="rect">
            <a:avLst/>
          </a:prstGeom>
        </p:spPr>
      </p:pic>
      <p:sp>
        <p:nvSpPr>
          <p:cNvPr id="10" name="Shape 7"/>
          <p:cNvSpPr/>
          <p:nvPr/>
        </p:nvSpPr>
        <p:spPr>
          <a:xfrm>
            <a:off x="365760" y="2834640"/>
            <a:ext cx="3931920" cy="1828800"/>
          </a:xfrm>
          <a:prstGeom prst="roundRect">
            <a:avLst>
              <a:gd name="adj" fmla="val 3000"/>
            </a:avLst>
          </a:prstGeom>
          <a:solidFill>
            <a:srgbClr val="FFFFFF"/>
          </a:solidFill>
          <a:ln w="9525">
            <a:solidFill>
              <a:srgbClr val="E2E8F0"/>
            </a:solidFill>
            <a:prstDash val="solid"/>
          </a:ln>
        </p:spPr>
      </p:sp>
      <p:pic>
        <p:nvPicPr>
          <p:cNvPr id="11" name="Image 1" descr="C:\Users\sayee\Documents\Tata_Motors_Final_Presentation\resources\WhatsApp Image 2026-05-29 at 8.37.52 AM.jpeg"/>
          <p:cNvPicPr>
            <a:picLocks noChangeAspect="1"/>
          </p:cNvPicPr>
          <p:nvPr/>
        </p:nvPicPr>
        <p:blipFill>
          <a:blip r:embed="rId4"/>
          <a:stretch>
            <a:fillRect/>
          </a:stretch>
        </p:blipFill>
        <p:spPr>
          <a:xfrm>
            <a:off x="438912" y="2898648"/>
            <a:ext cx="3785616" cy="1700784"/>
          </a:xfrm>
          <a:prstGeom prst="rect">
            <a:avLst/>
          </a:prstGeom>
        </p:spPr>
      </p:pic>
      <p:sp>
        <p:nvSpPr>
          <p:cNvPr id="12" name="Shape 8"/>
          <p:cNvSpPr/>
          <p:nvPr/>
        </p:nvSpPr>
        <p:spPr>
          <a:xfrm>
            <a:off x="4434840" y="868680"/>
            <a:ext cx="4297680" cy="3794760"/>
          </a:xfrm>
          <a:prstGeom prst="roundRect">
            <a:avLst>
              <a:gd name="adj" fmla="val 1446"/>
            </a:avLst>
          </a:prstGeom>
          <a:solidFill>
            <a:srgbClr val="FFFFFF"/>
          </a:solidFill>
          <a:ln w="9525">
            <a:solidFill>
              <a:srgbClr val="E2E8F0"/>
            </a:solidFill>
            <a:prstDash val="solid"/>
          </a:ln>
        </p:spPr>
      </p:sp>
      <p:sp>
        <p:nvSpPr>
          <p:cNvPr id="13" name="Text 9"/>
          <p:cNvSpPr/>
          <p:nvPr/>
        </p:nvSpPr>
        <p:spPr>
          <a:xfrm>
            <a:off x="4572000" y="960120"/>
            <a:ext cx="4023360" cy="22860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Resolution Logic Flow</a:t>
            </a:r>
            <a:endParaRPr lang="en-US" sz="1200" dirty="0"/>
          </a:p>
        </p:txBody>
      </p:sp>
      <p:pic>
        <p:nvPicPr>
          <p:cNvPr id="14" name="Image 2"/>
          <p:cNvPicPr>
            <a:picLocks noChangeAspect="1"/>
          </p:cNvPicPr>
          <p:nvPr/>
        </p:nvPicPr>
        <p:blipFill>
          <a:blip r:embed="rId5"/>
          <a:srcRect/>
          <a:stretch/>
        </p:blipFill>
        <p:spPr>
          <a:xfrm>
            <a:off x="4636008" y="1234440"/>
            <a:ext cx="3895344" cy="1463040"/>
          </a:xfrm>
          <a:prstGeom prst="rect">
            <a:avLst/>
          </a:prstGeom>
        </p:spPr>
      </p:pic>
      <p:sp>
        <p:nvSpPr>
          <p:cNvPr id="15" name="Text 10"/>
          <p:cNvSpPr/>
          <p:nvPr/>
        </p:nvSpPr>
        <p:spPr>
          <a:xfrm>
            <a:off x="4572000" y="2788920"/>
            <a:ext cx="4023360" cy="201168"/>
          </a:xfrm>
          <a:prstGeom prst="rect">
            <a:avLst/>
          </a:prstGeom>
          <a:noFill/>
          <a:ln/>
        </p:spPr>
        <p:txBody>
          <a:bodyPr wrap="square" rtlCol="0" anchor="ctr"/>
          <a:lstStyle/>
          <a:p>
            <a:pPr marL="0" indent="0">
              <a:buNone/>
            </a:pPr>
            <a:r>
              <a:rPr lang="en-US" sz="1000" b="1" dirty="0">
                <a:solidFill>
                  <a:srgbClr val="F58220"/>
                </a:solidFill>
                <a:latin typeface="Arial" pitchFamily="34" charset="0"/>
                <a:ea typeface="Arial" pitchFamily="34" charset="-122"/>
                <a:cs typeface="Arial" pitchFamily="34" charset="-120"/>
              </a:rPr>
              <a:t>Sample AI Response (Shipment #180)</a:t>
            </a:r>
            <a:endParaRPr lang="en-US" sz="1000" dirty="0"/>
          </a:p>
        </p:txBody>
      </p:sp>
      <p:sp>
        <p:nvSpPr>
          <p:cNvPr id="16" name="Shape 11"/>
          <p:cNvSpPr/>
          <p:nvPr/>
        </p:nvSpPr>
        <p:spPr>
          <a:xfrm>
            <a:off x="4526280" y="3035808"/>
            <a:ext cx="4114800" cy="1554480"/>
          </a:xfrm>
          <a:prstGeom prst="roundRect">
            <a:avLst>
              <a:gd name="adj" fmla="val 2353"/>
            </a:avLst>
          </a:prstGeom>
          <a:solidFill>
            <a:srgbClr val="1E293B"/>
          </a:solidFill>
          <a:ln w="6350">
            <a:solidFill>
              <a:srgbClr val="0B1D35"/>
            </a:solidFill>
            <a:prstDash val="solid"/>
          </a:ln>
        </p:spPr>
      </p:sp>
      <p:sp>
        <p:nvSpPr>
          <p:cNvPr id="17" name="Text 12"/>
          <p:cNvSpPr/>
          <p:nvPr/>
        </p:nvSpPr>
        <p:spPr>
          <a:xfrm>
            <a:off x="4636008" y="3127248"/>
            <a:ext cx="3895344" cy="1371600"/>
          </a:xfrm>
          <a:prstGeom prst="rect">
            <a:avLst/>
          </a:prstGeom>
          <a:noFill/>
          <a:ln/>
        </p:spPr>
        <p:txBody>
          <a:bodyPr wrap="square" rtlCol="0" anchor="ctr"/>
          <a:lstStyle/>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"Shipment SH_180 is currently not</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delivered because it is an International</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Regular shipment with longer transit</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times. Payment is pending as the</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customer chose Cash on Delivery.</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The assigned employee manages</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multiple international shipments,</a:t>
            </a:r>
            <a:endParaRPr lang="en-US" sz="850" dirty="0"/>
          </a:p>
          <a:p>
            <a:pPr marL="0" indent="0">
              <a:lnSpc>
                <a:spcPts val="1000"/>
              </a:lnSpc>
              <a:buNone/>
            </a:pPr>
            <a:r>
              <a:rPr lang="en-US" sz="850" dirty="0">
                <a:solidFill>
                  <a:srgbClr val="FFFFFF"/>
                </a:solidFill>
                <a:latin typeface="Courier New" pitchFamily="34" charset="0"/>
                <a:ea typeface="Courier New" pitchFamily="34" charset="-122"/>
                <a:cs typeface="Courier New" pitchFamily="34" charset="-120"/>
              </a:rPr>
              <a:t>which may contribute to delays."</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Executive Action Recommendations</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STRATEGIC DIRECTIONS</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27</a:t>
            </a:r>
            <a:endParaRPr lang="en-US" sz="700" dirty="0"/>
          </a:p>
        </p:txBody>
      </p:sp>
      <p:sp>
        <p:nvSpPr>
          <p:cNvPr id="8" name="Shape 6"/>
          <p:cNvSpPr/>
          <p:nvPr/>
        </p:nvSpPr>
        <p:spPr>
          <a:xfrm>
            <a:off x="365760" y="868680"/>
            <a:ext cx="2697480" cy="3794760"/>
          </a:xfrm>
          <a:prstGeom prst="roundRect">
            <a:avLst>
              <a:gd name="adj" fmla="val 2034"/>
            </a:avLst>
          </a:prstGeom>
          <a:solidFill>
            <a:srgbClr val="FFFFFF"/>
          </a:solidFill>
          <a:ln w="9525">
            <a:solidFill>
              <a:srgbClr val="E2E8F0"/>
            </a:solidFill>
            <a:prstDash val="solid"/>
          </a:ln>
        </p:spPr>
      </p:sp>
      <p:sp>
        <p:nvSpPr>
          <p:cNvPr id="9" name="Shape 7"/>
          <p:cNvSpPr/>
          <p:nvPr/>
        </p:nvSpPr>
        <p:spPr>
          <a:xfrm>
            <a:off x="457200" y="914400"/>
            <a:ext cx="2514600" cy="36576"/>
          </a:xfrm>
          <a:prstGeom prst="rect">
            <a:avLst/>
          </a:prstGeom>
          <a:solidFill>
            <a:srgbClr val="EF4444"/>
          </a:solidFill>
          <a:ln w="12700">
            <a:solidFill>
              <a:srgbClr val="EF4444"/>
            </a:solidFill>
            <a:prstDash val="solid"/>
          </a:ln>
        </p:spPr>
      </p:sp>
      <p:sp>
        <p:nvSpPr>
          <p:cNvPr id="10" name="Shape 8"/>
          <p:cNvSpPr/>
          <p:nvPr/>
        </p:nvSpPr>
        <p:spPr>
          <a:xfrm>
            <a:off x="640080" y="1097280"/>
            <a:ext cx="2148840" cy="777240"/>
          </a:xfrm>
          <a:prstGeom prst="roundRect">
            <a:avLst>
              <a:gd name="adj" fmla="val 4706"/>
            </a:avLst>
          </a:prstGeom>
          <a:solidFill>
            <a:srgbClr val="EF4444"/>
          </a:solidFill>
          <a:ln w="12700">
            <a:solidFill>
              <a:srgbClr val="EF4444"/>
            </a:solidFill>
            <a:prstDash val="solid"/>
          </a:ln>
        </p:spPr>
      </p:sp>
      <p:sp>
        <p:nvSpPr>
          <p:cNvPr id="11" name="Text 9"/>
          <p:cNvSpPr/>
          <p:nvPr/>
        </p:nvSpPr>
        <p:spPr>
          <a:xfrm>
            <a:off x="640080" y="1097280"/>
            <a:ext cx="2148840" cy="50292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-30%</a:t>
            </a:r>
            <a:endParaRPr lang="en-US" sz="2200" dirty="0"/>
          </a:p>
        </p:txBody>
      </p:sp>
      <p:sp>
        <p:nvSpPr>
          <p:cNvPr id="12" name="Text 10"/>
          <p:cNvSpPr/>
          <p:nvPr/>
        </p:nvSpPr>
        <p:spPr>
          <a:xfrm>
            <a:off x="640080" y="1572768"/>
            <a:ext cx="2148840" cy="274320"/>
          </a:xfrm>
          <a:prstGeom prst="rect">
            <a:avLst/>
          </a:prstGeom>
          <a:noFill/>
          <a:ln/>
        </p:spPr>
        <p:txBody>
          <a:bodyPr wrap="square" rtlCol="0" anchor="t"/>
          <a:lstStyle/>
          <a:p>
            <a:pPr marL="0" indent="0" algn="ctr">
              <a:buNone/>
            </a:pPr>
            <a:r>
              <a:rPr lang="en-US" sz="900" b="1" dirty="0">
                <a:solidFill>
                  <a:srgbClr val="FFFFFF"/>
                </a:solidFill>
                <a:latin typeface="Arial" pitchFamily="34" charset="0"/>
                <a:ea typeface="Arial" pitchFamily="34" charset="-122"/>
                <a:cs typeface="Arial" pitchFamily="34" charset="-120"/>
              </a:rPr>
              <a:t>Delivery Delays</a:t>
            </a:r>
            <a:endParaRPr lang="en-US" sz="900" dirty="0"/>
          </a:p>
        </p:txBody>
      </p:sp>
      <p:sp>
        <p:nvSpPr>
          <p:cNvPr id="13" name="Text 11"/>
          <p:cNvSpPr/>
          <p:nvPr/>
        </p:nvSpPr>
        <p:spPr>
          <a:xfrm>
            <a:off x="475488" y="2011680"/>
            <a:ext cx="2468880" cy="32004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Optimize Local Logistics</a:t>
            </a:r>
            <a:endParaRPr lang="en-US" sz="1200" dirty="0"/>
          </a:p>
        </p:txBody>
      </p:sp>
      <p:sp>
        <p:nvSpPr>
          <p:cNvPr id="14" name="Text 12"/>
          <p:cNvSpPr/>
          <p:nvPr/>
        </p:nvSpPr>
        <p:spPr>
          <a:xfrm>
            <a:off x="475488" y="2423160"/>
            <a:ext cx="2468880" cy="502920"/>
          </a:xfrm>
          <a:prstGeom prst="rect">
            <a:avLst/>
          </a:prstGeom>
          <a:noFill/>
          <a:ln/>
        </p:spPr>
        <p:txBody>
          <a:bodyPr wrap="square" rtlCol="0" anchor="ctr"/>
          <a:lstStyle/>
          <a:p>
            <a:pPr marL="0" indent="0">
              <a:lnSpc>
                <a:spcPts val="1100"/>
              </a:lnSpc>
              <a:buNone/>
            </a:pPr>
            <a:r>
              <a:rPr lang="en-US" sz="950" dirty="0">
                <a:solidFill>
                  <a:srgbClr val="2D3748"/>
                </a:solidFill>
                <a:latin typeface="Arial" pitchFamily="34" charset="0"/>
                <a:ea typeface="Arial" pitchFamily="34" charset="-122"/>
                <a:cs typeface="Arial" pitchFamily="34" charset="-120"/>
              </a:rPr>
              <a:t>▸ Establish regional transshipment hubs</a:t>
            </a:r>
            <a:endParaRPr lang="en-US" sz="950" dirty="0"/>
          </a:p>
        </p:txBody>
      </p:sp>
      <p:sp>
        <p:nvSpPr>
          <p:cNvPr id="15" name="Text 13"/>
          <p:cNvSpPr/>
          <p:nvPr/>
        </p:nvSpPr>
        <p:spPr>
          <a:xfrm>
            <a:off x="475488" y="3017520"/>
            <a:ext cx="2468880" cy="502920"/>
          </a:xfrm>
          <a:prstGeom prst="rect">
            <a:avLst/>
          </a:prstGeom>
          <a:noFill/>
          <a:ln/>
        </p:spPr>
        <p:txBody>
          <a:bodyPr wrap="square" rtlCol="0" anchor="ctr"/>
          <a:lstStyle/>
          <a:p>
            <a:pPr marL="0" indent="0">
              <a:lnSpc>
                <a:spcPts val="1100"/>
              </a:lnSpc>
              <a:buNone/>
            </a:pPr>
            <a:r>
              <a:rPr lang="en-US" sz="950" dirty="0">
                <a:solidFill>
                  <a:srgbClr val="2D3748"/>
                </a:solidFill>
                <a:latin typeface="Arial" pitchFamily="34" charset="0"/>
                <a:ea typeface="Arial" pitchFamily="34" charset="-122"/>
                <a:cs typeface="Arial" pitchFamily="34" charset="-120"/>
              </a:rPr>
              <a:t>▸ Deploy GPS fleet tracking systems</a:t>
            </a:r>
            <a:endParaRPr lang="en-US" sz="950" dirty="0"/>
          </a:p>
        </p:txBody>
      </p:sp>
      <p:sp>
        <p:nvSpPr>
          <p:cNvPr id="16" name="Text 14"/>
          <p:cNvSpPr/>
          <p:nvPr/>
        </p:nvSpPr>
        <p:spPr>
          <a:xfrm>
            <a:off x="475488" y="3611880"/>
            <a:ext cx="2468880" cy="502920"/>
          </a:xfrm>
          <a:prstGeom prst="rect">
            <a:avLst/>
          </a:prstGeom>
          <a:noFill/>
          <a:ln/>
        </p:spPr>
        <p:txBody>
          <a:bodyPr wrap="square" rtlCol="0" anchor="ctr"/>
          <a:lstStyle/>
          <a:p>
            <a:pPr marL="0" indent="0">
              <a:lnSpc>
                <a:spcPts val="1100"/>
              </a:lnSpc>
              <a:buNone/>
            </a:pPr>
            <a:r>
              <a:rPr lang="en-US" sz="950" dirty="0">
                <a:solidFill>
                  <a:srgbClr val="2D3748"/>
                </a:solidFill>
                <a:latin typeface="Arial" pitchFamily="34" charset="0"/>
                <a:ea typeface="Arial" pitchFamily="34" charset="-122"/>
                <a:cs typeface="Arial" pitchFamily="34" charset="-120"/>
              </a:rPr>
              <a:t>▸ Audit carrier allocations monthly</a:t>
            </a:r>
            <a:endParaRPr lang="en-US" sz="950" dirty="0"/>
          </a:p>
        </p:txBody>
      </p:sp>
      <p:sp>
        <p:nvSpPr>
          <p:cNvPr id="17" name="Shape 15"/>
          <p:cNvSpPr/>
          <p:nvPr/>
        </p:nvSpPr>
        <p:spPr>
          <a:xfrm>
            <a:off x="3291840" y="868680"/>
            <a:ext cx="2697480" cy="3794760"/>
          </a:xfrm>
          <a:prstGeom prst="roundRect">
            <a:avLst>
              <a:gd name="adj" fmla="val 2034"/>
            </a:avLst>
          </a:prstGeom>
          <a:solidFill>
            <a:srgbClr val="FFFFFF"/>
          </a:solidFill>
          <a:ln w="9525">
            <a:solidFill>
              <a:srgbClr val="E2E8F0"/>
            </a:solidFill>
            <a:prstDash val="solid"/>
          </a:ln>
        </p:spPr>
      </p:sp>
      <p:sp>
        <p:nvSpPr>
          <p:cNvPr id="18" name="Shape 16"/>
          <p:cNvSpPr/>
          <p:nvPr/>
        </p:nvSpPr>
        <p:spPr>
          <a:xfrm>
            <a:off x="3383280" y="914400"/>
            <a:ext cx="2514600" cy="36576"/>
          </a:xfrm>
          <a:prstGeom prst="rect">
            <a:avLst/>
          </a:prstGeom>
          <a:solidFill>
            <a:srgbClr val="3EA6FF"/>
          </a:solidFill>
          <a:ln w="12700">
            <a:solidFill>
              <a:srgbClr val="3EA6FF"/>
            </a:solidFill>
            <a:prstDash val="solid"/>
          </a:ln>
        </p:spPr>
      </p:sp>
      <p:sp>
        <p:nvSpPr>
          <p:cNvPr id="19" name="Shape 17"/>
          <p:cNvSpPr/>
          <p:nvPr/>
        </p:nvSpPr>
        <p:spPr>
          <a:xfrm>
            <a:off x="3566160" y="1097280"/>
            <a:ext cx="2148840" cy="777240"/>
          </a:xfrm>
          <a:prstGeom prst="roundRect">
            <a:avLst>
              <a:gd name="adj" fmla="val 4706"/>
            </a:avLst>
          </a:prstGeom>
          <a:solidFill>
            <a:srgbClr val="3EA6FF"/>
          </a:solidFill>
          <a:ln w="12700">
            <a:solidFill>
              <a:srgbClr val="3EA6FF"/>
            </a:solidFill>
            <a:prstDash val="solid"/>
          </a:ln>
        </p:spPr>
      </p:sp>
      <p:sp>
        <p:nvSpPr>
          <p:cNvPr id="20" name="Text 18"/>
          <p:cNvSpPr/>
          <p:nvPr/>
        </p:nvSpPr>
        <p:spPr>
          <a:xfrm>
            <a:off x="3566160" y="1097280"/>
            <a:ext cx="2148840" cy="50292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50→25%</a:t>
            </a:r>
            <a:endParaRPr lang="en-US" sz="2200" dirty="0"/>
          </a:p>
        </p:txBody>
      </p:sp>
      <p:sp>
        <p:nvSpPr>
          <p:cNvPr id="21" name="Text 19"/>
          <p:cNvSpPr/>
          <p:nvPr/>
        </p:nvSpPr>
        <p:spPr>
          <a:xfrm>
            <a:off x="3566160" y="1572768"/>
            <a:ext cx="2148840" cy="274320"/>
          </a:xfrm>
          <a:prstGeom prst="rect">
            <a:avLst/>
          </a:prstGeom>
          <a:noFill/>
          <a:ln/>
        </p:spPr>
        <p:txBody>
          <a:bodyPr wrap="square" rtlCol="0" anchor="t"/>
          <a:lstStyle/>
          <a:p>
            <a:pPr marL="0" indent="0" algn="ctr">
              <a:buNone/>
            </a:pPr>
            <a:r>
              <a:rPr lang="en-US" sz="900" b="1" dirty="0">
                <a:solidFill>
                  <a:srgbClr val="FFFFFF"/>
                </a:solidFill>
                <a:latin typeface="Arial" pitchFamily="34" charset="0"/>
                <a:ea typeface="Arial" pitchFamily="34" charset="-122"/>
                <a:cs typeface="Arial" pitchFamily="34" charset="-120"/>
              </a:rPr>
              <a:t>COD Reduction</a:t>
            </a:r>
            <a:endParaRPr lang="en-US" sz="900" dirty="0"/>
          </a:p>
        </p:txBody>
      </p:sp>
      <p:sp>
        <p:nvSpPr>
          <p:cNvPr id="22" name="Text 20"/>
          <p:cNvSpPr/>
          <p:nvPr/>
        </p:nvSpPr>
        <p:spPr>
          <a:xfrm>
            <a:off x="3401568" y="2011680"/>
            <a:ext cx="2468880" cy="32004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Digitize Billing Systems</a:t>
            </a:r>
            <a:endParaRPr lang="en-US" sz="1200" dirty="0"/>
          </a:p>
        </p:txBody>
      </p:sp>
      <p:sp>
        <p:nvSpPr>
          <p:cNvPr id="23" name="Text 21"/>
          <p:cNvSpPr/>
          <p:nvPr/>
        </p:nvSpPr>
        <p:spPr>
          <a:xfrm>
            <a:off x="3401568" y="2423160"/>
            <a:ext cx="2468880" cy="502920"/>
          </a:xfrm>
          <a:prstGeom prst="rect">
            <a:avLst/>
          </a:prstGeom>
          <a:noFill/>
          <a:ln/>
        </p:spPr>
        <p:txBody>
          <a:bodyPr wrap="square" rtlCol="0" anchor="ctr"/>
          <a:lstStyle/>
          <a:p>
            <a:pPr marL="0" indent="0">
              <a:lnSpc>
                <a:spcPts val="1100"/>
              </a:lnSpc>
              <a:buNone/>
            </a:pPr>
            <a:r>
              <a:rPr lang="en-US" sz="950" dirty="0">
                <a:solidFill>
                  <a:srgbClr val="2D3748"/>
                </a:solidFill>
                <a:latin typeface="Arial" pitchFamily="34" charset="0"/>
                <a:ea typeface="Arial" pitchFamily="34" charset="-122"/>
                <a:cs typeface="Arial" pitchFamily="34" charset="-120"/>
              </a:rPr>
              <a:t>▸ Dealer rebates for digital payment adoption</a:t>
            </a:r>
            <a:endParaRPr lang="en-US" sz="950" dirty="0"/>
          </a:p>
        </p:txBody>
      </p:sp>
      <p:sp>
        <p:nvSpPr>
          <p:cNvPr id="24" name="Text 22"/>
          <p:cNvSpPr/>
          <p:nvPr/>
        </p:nvSpPr>
        <p:spPr>
          <a:xfrm>
            <a:off x="3401568" y="3017520"/>
            <a:ext cx="2468880" cy="502920"/>
          </a:xfrm>
          <a:prstGeom prst="rect">
            <a:avLst/>
          </a:prstGeom>
          <a:noFill/>
          <a:ln/>
        </p:spPr>
        <p:txBody>
          <a:bodyPr wrap="square" rtlCol="0" anchor="ctr"/>
          <a:lstStyle/>
          <a:p>
            <a:pPr marL="0" indent="0">
              <a:lnSpc>
                <a:spcPts val="1100"/>
              </a:lnSpc>
              <a:buNone/>
            </a:pPr>
            <a:r>
              <a:rPr lang="en-US" sz="950" dirty="0">
                <a:solidFill>
                  <a:srgbClr val="2D3748"/>
                </a:solidFill>
                <a:latin typeface="Arial" pitchFamily="34" charset="0"/>
                <a:ea typeface="Arial" pitchFamily="34" charset="-122"/>
                <a:cs typeface="Arial" pitchFamily="34" charset="-120"/>
              </a:rPr>
              <a:t>▸ Automated SMS checkout gateway links</a:t>
            </a:r>
            <a:endParaRPr lang="en-US" sz="950" dirty="0"/>
          </a:p>
        </p:txBody>
      </p:sp>
      <p:sp>
        <p:nvSpPr>
          <p:cNvPr id="25" name="Text 23"/>
          <p:cNvSpPr/>
          <p:nvPr/>
        </p:nvSpPr>
        <p:spPr>
          <a:xfrm>
            <a:off x="3401568" y="3611880"/>
            <a:ext cx="2468880" cy="502920"/>
          </a:xfrm>
          <a:prstGeom prst="rect">
            <a:avLst/>
          </a:prstGeom>
          <a:noFill/>
          <a:ln/>
        </p:spPr>
        <p:txBody>
          <a:bodyPr wrap="square" rtlCol="0" anchor="ctr"/>
          <a:lstStyle/>
          <a:p>
            <a:pPr marL="0" indent="0">
              <a:lnSpc>
                <a:spcPts val="1100"/>
              </a:lnSpc>
              <a:buNone/>
            </a:pPr>
            <a:r>
              <a:rPr lang="en-US" sz="950" dirty="0">
                <a:solidFill>
                  <a:srgbClr val="2D3748"/>
                </a:solidFill>
                <a:latin typeface="Arial" pitchFamily="34" charset="0"/>
                <a:ea typeface="Arial" pitchFamily="34" charset="-122"/>
                <a:cs typeface="Arial" pitchFamily="34" charset="-120"/>
              </a:rPr>
              <a:t>▸ Real-time POS accounting entries</a:t>
            </a:r>
            <a:endParaRPr lang="en-US" sz="950" dirty="0"/>
          </a:p>
        </p:txBody>
      </p:sp>
      <p:sp>
        <p:nvSpPr>
          <p:cNvPr id="26" name="Shape 24"/>
          <p:cNvSpPr/>
          <p:nvPr/>
        </p:nvSpPr>
        <p:spPr>
          <a:xfrm>
            <a:off x="6217920" y="868680"/>
            <a:ext cx="2697480" cy="3794760"/>
          </a:xfrm>
          <a:prstGeom prst="roundRect">
            <a:avLst>
              <a:gd name="adj" fmla="val 2034"/>
            </a:avLst>
          </a:prstGeom>
          <a:solidFill>
            <a:srgbClr val="FFFFFF"/>
          </a:solidFill>
          <a:ln w="9525">
            <a:solidFill>
              <a:srgbClr val="E2E8F0"/>
            </a:solidFill>
            <a:prstDash val="solid"/>
          </a:ln>
        </p:spPr>
      </p:sp>
      <p:sp>
        <p:nvSpPr>
          <p:cNvPr id="27" name="Shape 25"/>
          <p:cNvSpPr/>
          <p:nvPr/>
        </p:nvSpPr>
        <p:spPr>
          <a:xfrm>
            <a:off x="6309360" y="914400"/>
            <a:ext cx="2514600" cy="36576"/>
          </a:xfrm>
          <a:prstGeom prst="rect">
            <a:avLst/>
          </a:prstGeom>
          <a:solidFill>
            <a:srgbClr val="F58220"/>
          </a:solidFill>
          <a:ln w="12700">
            <a:solidFill>
              <a:srgbClr val="F58220"/>
            </a:solidFill>
            <a:prstDash val="solid"/>
          </a:ln>
        </p:spPr>
      </p:sp>
      <p:sp>
        <p:nvSpPr>
          <p:cNvPr id="28" name="Shape 26"/>
          <p:cNvSpPr/>
          <p:nvPr/>
        </p:nvSpPr>
        <p:spPr>
          <a:xfrm>
            <a:off x="6492240" y="1097280"/>
            <a:ext cx="2148840" cy="777240"/>
          </a:xfrm>
          <a:prstGeom prst="roundRect">
            <a:avLst>
              <a:gd name="adj" fmla="val 4706"/>
            </a:avLst>
          </a:prstGeom>
          <a:solidFill>
            <a:srgbClr val="F58220"/>
          </a:solidFill>
          <a:ln w="12700">
            <a:solidFill>
              <a:srgbClr val="F58220"/>
            </a:solidFill>
            <a:prstDash val="solid"/>
          </a:ln>
        </p:spPr>
      </p:sp>
      <p:sp>
        <p:nvSpPr>
          <p:cNvPr id="29" name="Text 27"/>
          <p:cNvSpPr/>
          <p:nvPr/>
        </p:nvSpPr>
        <p:spPr>
          <a:xfrm>
            <a:off x="6492240" y="1097280"/>
            <a:ext cx="2148840" cy="50292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-20%</a:t>
            </a:r>
            <a:endParaRPr lang="en-US" sz="2200" dirty="0"/>
          </a:p>
        </p:txBody>
      </p:sp>
      <p:sp>
        <p:nvSpPr>
          <p:cNvPr id="30" name="Text 28"/>
          <p:cNvSpPr/>
          <p:nvPr/>
        </p:nvSpPr>
        <p:spPr>
          <a:xfrm>
            <a:off x="6492240" y="1572768"/>
            <a:ext cx="2148840" cy="274320"/>
          </a:xfrm>
          <a:prstGeom prst="rect">
            <a:avLst/>
          </a:prstGeom>
          <a:noFill/>
          <a:ln/>
        </p:spPr>
        <p:txBody>
          <a:bodyPr wrap="square" rtlCol="0" anchor="t"/>
          <a:lstStyle/>
          <a:p>
            <a:pPr marL="0" indent="0" algn="ctr">
              <a:buNone/>
            </a:pPr>
            <a:r>
              <a:rPr lang="en-US" sz="900" b="1" dirty="0">
                <a:solidFill>
                  <a:srgbClr val="FFFFFF"/>
                </a:solidFill>
                <a:latin typeface="Arial" pitchFamily="34" charset="0"/>
                <a:ea typeface="Arial" pitchFamily="34" charset="-122"/>
                <a:cs typeface="Arial" pitchFamily="34" charset="-120"/>
              </a:rPr>
              <a:t>Admin Logistics</a:t>
            </a:r>
            <a:endParaRPr lang="en-US" sz="900" dirty="0"/>
          </a:p>
        </p:txBody>
      </p:sp>
      <p:sp>
        <p:nvSpPr>
          <p:cNvPr id="31" name="Text 29"/>
          <p:cNvSpPr/>
          <p:nvPr/>
        </p:nvSpPr>
        <p:spPr>
          <a:xfrm>
            <a:off x="6327648" y="2011680"/>
            <a:ext cx="2468880" cy="320040"/>
          </a:xfrm>
          <a:prstGeom prst="rect">
            <a:avLst/>
          </a:prstGeom>
          <a:noFill/>
          <a:ln/>
        </p:spPr>
        <p:txBody>
          <a:bodyPr wrap="square" rtlCol="0" anchor="ctr"/>
          <a:lstStyle/>
          <a:p>
            <a:pPr marL="0" indent="0">
              <a:buNone/>
            </a:pPr>
            <a:r>
              <a:rPr lang="en-US" sz="1200" b="1" dirty="0">
                <a:solidFill>
                  <a:srgbClr val="0B1D35"/>
                </a:solidFill>
                <a:latin typeface="Arial" pitchFamily="34" charset="0"/>
                <a:ea typeface="Arial" pitchFamily="34" charset="-122"/>
                <a:cs typeface="Arial" pitchFamily="34" charset="-120"/>
              </a:rPr>
              <a:t>Control Dept. Costs</a:t>
            </a:r>
            <a:endParaRPr lang="en-US" sz="1200" dirty="0"/>
          </a:p>
        </p:txBody>
      </p:sp>
      <p:sp>
        <p:nvSpPr>
          <p:cNvPr id="32" name="Text 30"/>
          <p:cNvSpPr/>
          <p:nvPr/>
        </p:nvSpPr>
        <p:spPr>
          <a:xfrm>
            <a:off x="6327648" y="2423160"/>
            <a:ext cx="2468880" cy="502920"/>
          </a:xfrm>
          <a:prstGeom prst="rect">
            <a:avLst/>
          </a:prstGeom>
          <a:noFill/>
          <a:ln/>
        </p:spPr>
        <p:txBody>
          <a:bodyPr wrap="square" rtlCol="0" anchor="ctr"/>
          <a:lstStyle/>
          <a:p>
            <a:pPr marL="0" indent="0">
              <a:lnSpc>
                <a:spcPts val="1100"/>
              </a:lnSpc>
              <a:buNone/>
            </a:pPr>
            <a:r>
              <a:rPr lang="en-US" sz="950" dirty="0">
                <a:solidFill>
                  <a:srgbClr val="2D3748"/>
                </a:solidFill>
                <a:latin typeface="Arial" pitchFamily="34" charset="0"/>
                <a:ea typeface="Arial" pitchFamily="34" charset="-122"/>
                <a:cs typeface="Arial" pitchFamily="34" charset="-120"/>
              </a:rPr>
              <a:t>▸ Multi-level approval for high-cost shipments</a:t>
            </a:r>
            <a:endParaRPr lang="en-US" sz="950" dirty="0"/>
          </a:p>
        </p:txBody>
      </p:sp>
      <p:sp>
        <p:nvSpPr>
          <p:cNvPr id="33" name="Text 31"/>
          <p:cNvSpPr/>
          <p:nvPr/>
        </p:nvSpPr>
        <p:spPr>
          <a:xfrm>
            <a:off x="6327648" y="3017520"/>
            <a:ext cx="2468880" cy="502920"/>
          </a:xfrm>
          <a:prstGeom prst="rect">
            <a:avLst/>
          </a:prstGeom>
          <a:noFill/>
          <a:ln/>
        </p:spPr>
        <p:txBody>
          <a:bodyPr wrap="square" rtlCol="0" anchor="ctr"/>
          <a:lstStyle/>
          <a:p>
            <a:pPr marL="0" indent="0">
              <a:lnSpc>
                <a:spcPts val="1100"/>
              </a:lnSpc>
              <a:buNone/>
            </a:pPr>
            <a:r>
              <a:rPr lang="en-US" sz="950" dirty="0">
                <a:solidFill>
                  <a:srgbClr val="2D3748"/>
                </a:solidFill>
                <a:latin typeface="Arial" pitchFamily="34" charset="0"/>
                <a:ea typeface="Arial" pitchFamily="34" charset="-122"/>
                <a:cs typeface="Arial" pitchFamily="34" charset="-120"/>
              </a:rPr>
              <a:t>▸ Strict departmental shipping budgets</a:t>
            </a:r>
            <a:endParaRPr lang="en-US" sz="950" dirty="0"/>
          </a:p>
        </p:txBody>
      </p:sp>
      <p:sp>
        <p:nvSpPr>
          <p:cNvPr id="34" name="Text 32"/>
          <p:cNvSpPr/>
          <p:nvPr/>
        </p:nvSpPr>
        <p:spPr>
          <a:xfrm>
            <a:off x="6327648" y="3611880"/>
            <a:ext cx="2468880" cy="502920"/>
          </a:xfrm>
          <a:prstGeom prst="rect">
            <a:avLst/>
          </a:prstGeom>
          <a:noFill/>
          <a:ln/>
        </p:spPr>
        <p:txBody>
          <a:bodyPr wrap="square" rtlCol="0" anchor="ctr"/>
          <a:lstStyle/>
          <a:p>
            <a:pPr marL="0" indent="0">
              <a:lnSpc>
                <a:spcPts val="1100"/>
              </a:lnSpc>
              <a:buNone/>
            </a:pPr>
            <a:r>
              <a:rPr lang="en-US" sz="950" dirty="0">
                <a:solidFill>
                  <a:srgbClr val="2D3748"/>
                </a:solidFill>
                <a:latin typeface="Arial" pitchFamily="34" charset="0"/>
                <a:ea typeface="Arial" pitchFamily="34" charset="-122"/>
                <a:cs typeface="Arial" pitchFamily="34" charset="-120"/>
              </a:rPr>
              <a:t>▸ Weekly spend summaries via n8n</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24-Month Implementation Roadmap</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DEPLOYMENT TIMELINE</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28</a:t>
            </a:r>
            <a:endParaRPr lang="en-US" sz="700" dirty="0"/>
          </a:p>
        </p:txBody>
      </p:sp>
      <p:sp>
        <p:nvSpPr>
          <p:cNvPr id="8" name="Shape 6"/>
          <p:cNvSpPr/>
          <p:nvPr/>
        </p:nvSpPr>
        <p:spPr>
          <a:xfrm>
            <a:off x="365760" y="868680"/>
            <a:ext cx="8366760" cy="3794760"/>
          </a:xfrm>
          <a:prstGeom prst="roundRect">
            <a:avLst>
              <a:gd name="adj" fmla="val 1446"/>
            </a:avLst>
          </a:prstGeom>
          <a:solidFill>
            <a:srgbClr val="FFFFFF"/>
          </a:solidFill>
          <a:ln w="9525">
            <a:solidFill>
              <a:srgbClr val="E2E8F0"/>
            </a:solidFill>
            <a:prstDash val="solid"/>
          </a:ln>
        </p:spPr>
      </p:sp>
      <p:sp>
        <p:nvSpPr>
          <p:cNvPr id="9" name="Shape 7"/>
          <p:cNvSpPr/>
          <p:nvPr/>
        </p:nvSpPr>
        <p:spPr>
          <a:xfrm>
            <a:off x="822960" y="2606040"/>
            <a:ext cx="7498080" cy="0"/>
          </a:xfrm>
          <a:prstGeom prst="line">
            <a:avLst/>
          </a:prstGeom>
          <a:noFill/>
          <a:ln w="38100">
            <a:solidFill>
              <a:srgbClr val="3EA6FF"/>
            </a:solidFill>
            <a:prstDash val="solid"/>
          </a:ln>
        </p:spPr>
      </p:sp>
      <p:sp>
        <p:nvSpPr>
          <p:cNvPr id="10" name="Shape 8"/>
          <p:cNvSpPr/>
          <p:nvPr/>
        </p:nvSpPr>
        <p:spPr>
          <a:xfrm>
            <a:off x="1371600" y="2487168"/>
            <a:ext cx="237744" cy="237744"/>
          </a:xfrm>
          <a:prstGeom prst="ellipse">
            <a:avLst/>
          </a:prstGeom>
          <a:solidFill>
            <a:srgbClr val="0B1D35"/>
          </a:solidFill>
          <a:ln w="25400">
            <a:solidFill>
              <a:srgbClr val="FFFFFF"/>
            </a:solidFill>
            <a:prstDash val="solid"/>
          </a:ln>
        </p:spPr>
      </p:sp>
      <p:sp>
        <p:nvSpPr>
          <p:cNvPr id="11" name="Shape 9"/>
          <p:cNvSpPr/>
          <p:nvPr/>
        </p:nvSpPr>
        <p:spPr>
          <a:xfrm>
            <a:off x="640080" y="1051560"/>
            <a:ext cx="1920240" cy="1371600"/>
          </a:xfrm>
          <a:prstGeom prst="roundRect">
            <a:avLst>
              <a:gd name="adj" fmla="val 2667"/>
            </a:avLst>
          </a:prstGeom>
          <a:solidFill>
            <a:srgbClr val="F1F5F9"/>
          </a:solidFill>
          <a:ln w="19050">
            <a:solidFill>
              <a:srgbClr val="0B1D35"/>
            </a:solidFill>
            <a:prstDash val="solid"/>
          </a:ln>
        </p:spPr>
      </p:sp>
      <p:sp>
        <p:nvSpPr>
          <p:cNvPr id="12" name="Text 10"/>
          <p:cNvSpPr/>
          <p:nvPr/>
        </p:nvSpPr>
        <p:spPr>
          <a:xfrm>
            <a:off x="713232" y="1106424"/>
            <a:ext cx="1773936" cy="201168"/>
          </a:xfrm>
          <a:prstGeom prst="rect">
            <a:avLst/>
          </a:prstGeom>
          <a:noFill/>
          <a:ln/>
        </p:spPr>
        <p:txBody>
          <a:bodyPr wrap="square" rtlCol="0" anchor="ctr"/>
          <a:lstStyle/>
          <a:p>
            <a:pPr marL="0" indent="0">
              <a:buNone/>
            </a:pPr>
            <a:r>
              <a:rPr lang="en-US" sz="900" b="1" dirty="0">
                <a:solidFill>
                  <a:srgbClr val="0B1D35"/>
                </a:solidFill>
                <a:latin typeface="Arial" pitchFamily="34" charset="0"/>
                <a:ea typeface="Arial" pitchFamily="34" charset="-122"/>
                <a:cs typeface="Arial" pitchFamily="34" charset="-120"/>
              </a:rPr>
              <a:t>Phase 1 (0-6M)</a:t>
            </a:r>
            <a:endParaRPr lang="en-US" sz="900" dirty="0"/>
          </a:p>
        </p:txBody>
      </p:sp>
      <p:sp>
        <p:nvSpPr>
          <p:cNvPr id="13" name="Text 11"/>
          <p:cNvSpPr/>
          <p:nvPr/>
        </p:nvSpPr>
        <p:spPr>
          <a:xfrm>
            <a:off x="713232" y="1307592"/>
            <a:ext cx="1773936" cy="182880"/>
          </a:xfrm>
          <a:prstGeom prst="rect">
            <a:avLst/>
          </a:prstGeom>
          <a:noFill/>
          <a:ln/>
        </p:spPr>
        <p:txBody>
          <a:bodyPr wrap="square" rtlCol="0" anchor="ctr"/>
          <a:lstStyle/>
          <a:p>
            <a:pPr marL="0" indent="0">
              <a:buNone/>
            </a:pPr>
            <a:r>
              <a:rPr lang="en-US" sz="800" b="1" dirty="0">
                <a:solidFill>
                  <a:srgbClr val="0B1D35"/>
                </a:solidFill>
                <a:latin typeface="Arial" pitchFamily="34" charset="0"/>
                <a:ea typeface="Arial" pitchFamily="34" charset="-122"/>
                <a:cs typeface="Arial" pitchFamily="34" charset="-120"/>
              </a:rPr>
              <a:t>Data Foundation</a:t>
            </a:r>
            <a:endParaRPr lang="en-US" sz="800" dirty="0"/>
          </a:p>
        </p:txBody>
      </p:sp>
      <p:sp>
        <p:nvSpPr>
          <p:cNvPr id="14" name="Text 12"/>
          <p:cNvSpPr/>
          <p:nvPr/>
        </p:nvSpPr>
        <p:spPr>
          <a:xfrm>
            <a:off x="713232" y="1508760"/>
            <a:ext cx="1773936" cy="868680"/>
          </a:xfrm>
          <a:prstGeom prst="rect">
            <a:avLst/>
          </a:prstGeom>
          <a:noFill/>
          <a:ln/>
        </p:spPr>
        <p:txBody>
          <a:bodyPr wrap="square" rtlCol="0" anchor="ctr"/>
          <a:lstStyle/>
          <a:p>
            <a:pPr marL="0" indent="0">
              <a:lnSpc>
                <a:spcPts val="900"/>
              </a:lnSpc>
              <a:buNone/>
            </a:pPr>
            <a:r>
              <a:rPr lang="en-US" sz="750" dirty="0">
                <a:solidFill>
                  <a:srgbClr val="2D3748"/>
                </a:solidFill>
                <a:latin typeface="Arial" pitchFamily="34" charset="0"/>
                <a:ea typeface="Arial" pitchFamily="34" charset="-122"/>
                <a:cs typeface="Arial" pitchFamily="34" charset="-120"/>
              </a:rPr>
              <a:t>PostgreSQL schema design, ETL pipeline deployment, data quality audits, core indexing setup.</a:t>
            </a:r>
            <a:endParaRPr lang="en-US" sz="750" dirty="0"/>
          </a:p>
        </p:txBody>
      </p:sp>
      <p:sp>
        <p:nvSpPr>
          <p:cNvPr id="15" name="Shape 13"/>
          <p:cNvSpPr/>
          <p:nvPr/>
        </p:nvSpPr>
        <p:spPr>
          <a:xfrm>
            <a:off x="3474720" y="2487168"/>
            <a:ext cx="237744" cy="237744"/>
          </a:xfrm>
          <a:prstGeom prst="ellipse">
            <a:avLst/>
          </a:prstGeom>
          <a:solidFill>
            <a:srgbClr val="3EA6FF"/>
          </a:solidFill>
          <a:ln w="25400">
            <a:solidFill>
              <a:srgbClr val="FFFFFF"/>
            </a:solidFill>
            <a:prstDash val="solid"/>
          </a:ln>
        </p:spPr>
      </p:sp>
      <p:sp>
        <p:nvSpPr>
          <p:cNvPr id="16" name="Shape 14"/>
          <p:cNvSpPr/>
          <p:nvPr/>
        </p:nvSpPr>
        <p:spPr>
          <a:xfrm>
            <a:off x="2743200" y="2926080"/>
            <a:ext cx="1920240" cy="1371600"/>
          </a:xfrm>
          <a:prstGeom prst="roundRect">
            <a:avLst>
              <a:gd name="adj" fmla="val 2667"/>
            </a:avLst>
          </a:prstGeom>
          <a:solidFill>
            <a:srgbClr val="F1F5F9"/>
          </a:solidFill>
          <a:ln w="19050">
            <a:solidFill>
              <a:srgbClr val="3EA6FF"/>
            </a:solidFill>
            <a:prstDash val="solid"/>
          </a:ln>
        </p:spPr>
      </p:sp>
      <p:sp>
        <p:nvSpPr>
          <p:cNvPr id="17" name="Text 15"/>
          <p:cNvSpPr/>
          <p:nvPr/>
        </p:nvSpPr>
        <p:spPr>
          <a:xfrm>
            <a:off x="2816352" y="2980944"/>
            <a:ext cx="1773936" cy="201168"/>
          </a:xfrm>
          <a:prstGeom prst="rect">
            <a:avLst/>
          </a:prstGeom>
          <a:noFill/>
          <a:ln/>
        </p:spPr>
        <p:txBody>
          <a:bodyPr wrap="square" rtlCol="0" anchor="ctr"/>
          <a:lstStyle/>
          <a:p>
            <a:pPr marL="0" indent="0">
              <a:buNone/>
            </a:pPr>
            <a:r>
              <a:rPr lang="en-US" sz="900" b="1" dirty="0">
                <a:solidFill>
                  <a:srgbClr val="3EA6FF"/>
                </a:solidFill>
                <a:latin typeface="Arial" pitchFamily="34" charset="0"/>
                <a:ea typeface="Arial" pitchFamily="34" charset="-122"/>
                <a:cs typeface="Arial" pitchFamily="34" charset="-120"/>
              </a:rPr>
              <a:t>Phase 2 (6-12M)</a:t>
            </a:r>
            <a:endParaRPr lang="en-US" sz="900" dirty="0"/>
          </a:p>
        </p:txBody>
      </p:sp>
      <p:sp>
        <p:nvSpPr>
          <p:cNvPr id="18" name="Text 16"/>
          <p:cNvSpPr/>
          <p:nvPr/>
        </p:nvSpPr>
        <p:spPr>
          <a:xfrm>
            <a:off x="2816352" y="3182112"/>
            <a:ext cx="1773936" cy="182880"/>
          </a:xfrm>
          <a:prstGeom prst="rect">
            <a:avLst/>
          </a:prstGeom>
          <a:noFill/>
          <a:ln/>
        </p:spPr>
        <p:txBody>
          <a:bodyPr wrap="square" rtlCol="0" anchor="ctr"/>
          <a:lstStyle/>
          <a:p>
            <a:pPr marL="0" indent="0">
              <a:buNone/>
            </a:pPr>
            <a:r>
              <a:rPr lang="en-US" sz="800" b="1" dirty="0">
                <a:solidFill>
                  <a:srgbClr val="0B1D35"/>
                </a:solidFill>
                <a:latin typeface="Arial" pitchFamily="34" charset="0"/>
                <a:ea typeface="Arial" pitchFamily="34" charset="-122"/>
                <a:cs typeface="Arial" pitchFamily="34" charset="-120"/>
              </a:rPr>
              <a:t>Analytics Layer</a:t>
            </a:r>
            <a:endParaRPr lang="en-US" sz="800" dirty="0"/>
          </a:p>
        </p:txBody>
      </p:sp>
      <p:sp>
        <p:nvSpPr>
          <p:cNvPr id="19" name="Text 17"/>
          <p:cNvSpPr/>
          <p:nvPr/>
        </p:nvSpPr>
        <p:spPr>
          <a:xfrm>
            <a:off x="2816352" y="3383280"/>
            <a:ext cx="1773936" cy="868680"/>
          </a:xfrm>
          <a:prstGeom prst="rect">
            <a:avLst/>
          </a:prstGeom>
          <a:noFill/>
          <a:ln/>
        </p:spPr>
        <p:txBody>
          <a:bodyPr wrap="square" rtlCol="0" anchor="ctr"/>
          <a:lstStyle/>
          <a:p>
            <a:pPr marL="0" indent="0">
              <a:lnSpc>
                <a:spcPts val="900"/>
              </a:lnSpc>
              <a:buNone/>
            </a:pPr>
            <a:r>
              <a:rPr lang="en-US" sz="750" dirty="0">
                <a:solidFill>
                  <a:srgbClr val="2D3748"/>
                </a:solidFill>
                <a:latin typeface="Arial" pitchFamily="34" charset="0"/>
                <a:ea typeface="Arial" pitchFamily="34" charset="-122"/>
                <a:cs typeface="Arial" pitchFamily="34" charset="-120"/>
              </a:rPr>
              <a:t>Excel dashboards, Power BI star schema, predictive maintenance sensors, employee tracking.</a:t>
            </a:r>
            <a:endParaRPr lang="en-US" sz="750" dirty="0"/>
          </a:p>
        </p:txBody>
      </p:sp>
      <p:sp>
        <p:nvSpPr>
          <p:cNvPr id="20" name="Shape 18"/>
          <p:cNvSpPr/>
          <p:nvPr/>
        </p:nvSpPr>
        <p:spPr>
          <a:xfrm>
            <a:off x="5577840" y="2487168"/>
            <a:ext cx="237744" cy="237744"/>
          </a:xfrm>
          <a:prstGeom prst="ellipse">
            <a:avLst/>
          </a:prstGeom>
          <a:solidFill>
            <a:srgbClr val="F58220"/>
          </a:solidFill>
          <a:ln w="25400">
            <a:solidFill>
              <a:srgbClr val="FFFFFF"/>
            </a:solidFill>
            <a:prstDash val="solid"/>
          </a:ln>
        </p:spPr>
      </p:sp>
      <p:sp>
        <p:nvSpPr>
          <p:cNvPr id="21" name="Shape 19"/>
          <p:cNvSpPr/>
          <p:nvPr/>
        </p:nvSpPr>
        <p:spPr>
          <a:xfrm>
            <a:off x="4846320" y="1051560"/>
            <a:ext cx="1920240" cy="1371600"/>
          </a:xfrm>
          <a:prstGeom prst="roundRect">
            <a:avLst>
              <a:gd name="adj" fmla="val 2667"/>
            </a:avLst>
          </a:prstGeom>
          <a:solidFill>
            <a:srgbClr val="F1F5F9"/>
          </a:solidFill>
          <a:ln w="19050">
            <a:solidFill>
              <a:srgbClr val="F58220"/>
            </a:solidFill>
            <a:prstDash val="solid"/>
          </a:ln>
        </p:spPr>
      </p:sp>
      <p:sp>
        <p:nvSpPr>
          <p:cNvPr id="22" name="Text 20"/>
          <p:cNvSpPr/>
          <p:nvPr/>
        </p:nvSpPr>
        <p:spPr>
          <a:xfrm>
            <a:off x="4919472" y="1106424"/>
            <a:ext cx="1773936" cy="201168"/>
          </a:xfrm>
          <a:prstGeom prst="rect">
            <a:avLst/>
          </a:prstGeom>
          <a:noFill/>
          <a:ln/>
        </p:spPr>
        <p:txBody>
          <a:bodyPr wrap="square" rtlCol="0" anchor="ctr"/>
          <a:lstStyle/>
          <a:p>
            <a:pPr marL="0" indent="0">
              <a:buNone/>
            </a:pPr>
            <a:r>
              <a:rPr lang="en-US" sz="900" b="1" dirty="0">
                <a:solidFill>
                  <a:srgbClr val="F58220"/>
                </a:solidFill>
                <a:latin typeface="Arial" pitchFamily="34" charset="0"/>
                <a:ea typeface="Arial" pitchFamily="34" charset="-122"/>
                <a:cs typeface="Arial" pitchFamily="34" charset="-120"/>
              </a:rPr>
              <a:t>Phase 3 (12-18M)</a:t>
            </a:r>
            <a:endParaRPr lang="en-US" sz="900" dirty="0"/>
          </a:p>
        </p:txBody>
      </p:sp>
      <p:sp>
        <p:nvSpPr>
          <p:cNvPr id="23" name="Text 21"/>
          <p:cNvSpPr/>
          <p:nvPr/>
        </p:nvSpPr>
        <p:spPr>
          <a:xfrm>
            <a:off x="4919472" y="1307592"/>
            <a:ext cx="1773936" cy="182880"/>
          </a:xfrm>
          <a:prstGeom prst="rect">
            <a:avLst/>
          </a:prstGeom>
          <a:noFill/>
          <a:ln/>
        </p:spPr>
        <p:txBody>
          <a:bodyPr wrap="square" rtlCol="0" anchor="ctr"/>
          <a:lstStyle/>
          <a:p>
            <a:pPr marL="0" indent="0">
              <a:buNone/>
            </a:pPr>
            <a:r>
              <a:rPr lang="en-US" sz="800" b="1" dirty="0">
                <a:solidFill>
                  <a:srgbClr val="0B1D35"/>
                </a:solidFill>
                <a:latin typeface="Arial" pitchFamily="34" charset="0"/>
                <a:ea typeface="Arial" pitchFamily="34" charset="-122"/>
                <a:cs typeface="Arial" pitchFamily="34" charset="-120"/>
              </a:rPr>
              <a:t>Automation</a:t>
            </a:r>
            <a:endParaRPr lang="en-US" sz="800" dirty="0"/>
          </a:p>
        </p:txBody>
      </p:sp>
      <p:sp>
        <p:nvSpPr>
          <p:cNvPr id="24" name="Text 22"/>
          <p:cNvSpPr/>
          <p:nvPr/>
        </p:nvSpPr>
        <p:spPr>
          <a:xfrm>
            <a:off x="4919472" y="1508760"/>
            <a:ext cx="1773936" cy="868680"/>
          </a:xfrm>
          <a:prstGeom prst="rect">
            <a:avLst/>
          </a:prstGeom>
          <a:noFill/>
          <a:ln/>
        </p:spPr>
        <p:txBody>
          <a:bodyPr wrap="square" rtlCol="0" anchor="ctr"/>
          <a:lstStyle/>
          <a:p>
            <a:pPr marL="0" indent="0">
              <a:lnSpc>
                <a:spcPts val="900"/>
              </a:lnSpc>
              <a:buNone/>
            </a:pPr>
            <a:r>
              <a:rPr lang="en-US" sz="750" dirty="0">
                <a:solidFill>
                  <a:srgbClr val="2D3748"/>
                </a:solidFill>
                <a:latin typeface="Arial" pitchFamily="34" charset="0"/>
                <a:ea typeface="Arial" pitchFamily="34" charset="-122"/>
                <a:cs typeface="Arial" pitchFamily="34" charset="-120"/>
              </a:rPr>
              <a:t>n8n workflows, GenAI reasoners, logistics route optimization, payment gateway integration.</a:t>
            </a:r>
            <a:endParaRPr lang="en-US" sz="750" dirty="0"/>
          </a:p>
        </p:txBody>
      </p:sp>
      <p:sp>
        <p:nvSpPr>
          <p:cNvPr id="25" name="Shape 23"/>
          <p:cNvSpPr/>
          <p:nvPr/>
        </p:nvSpPr>
        <p:spPr>
          <a:xfrm>
            <a:off x="7680960" y="2487168"/>
            <a:ext cx="237744" cy="237744"/>
          </a:xfrm>
          <a:prstGeom prst="ellipse">
            <a:avLst/>
          </a:prstGeom>
          <a:solidFill>
            <a:srgbClr val="10B981"/>
          </a:solidFill>
          <a:ln w="25400">
            <a:solidFill>
              <a:srgbClr val="FFFFFF"/>
            </a:solidFill>
            <a:prstDash val="solid"/>
          </a:ln>
        </p:spPr>
      </p:sp>
      <p:sp>
        <p:nvSpPr>
          <p:cNvPr id="26" name="Shape 24"/>
          <p:cNvSpPr/>
          <p:nvPr/>
        </p:nvSpPr>
        <p:spPr>
          <a:xfrm>
            <a:off x="6400800" y="2948940"/>
            <a:ext cx="1920240" cy="1371600"/>
          </a:xfrm>
          <a:prstGeom prst="roundRect">
            <a:avLst>
              <a:gd name="adj" fmla="val 2667"/>
            </a:avLst>
          </a:prstGeom>
          <a:solidFill>
            <a:srgbClr val="F1F5F9"/>
          </a:solidFill>
          <a:ln w="19050">
            <a:solidFill>
              <a:srgbClr val="10B981"/>
            </a:solidFill>
            <a:prstDash val="solid"/>
          </a:ln>
        </p:spPr>
      </p:sp>
      <p:sp>
        <p:nvSpPr>
          <p:cNvPr id="27" name="Text 25"/>
          <p:cNvSpPr/>
          <p:nvPr/>
        </p:nvSpPr>
        <p:spPr>
          <a:xfrm>
            <a:off x="6500080" y="2980944"/>
            <a:ext cx="1773936" cy="201168"/>
          </a:xfrm>
          <a:prstGeom prst="rect">
            <a:avLst/>
          </a:prstGeom>
          <a:noFill/>
          <a:ln/>
        </p:spPr>
        <p:txBody>
          <a:bodyPr wrap="square" rtlCol="0" anchor="ctr"/>
          <a:lstStyle/>
          <a:p>
            <a:pPr marL="0" indent="0">
              <a:buNone/>
            </a:pPr>
            <a:r>
              <a:rPr lang="en-US" sz="900" b="1" dirty="0">
                <a:solidFill>
                  <a:srgbClr val="10B981"/>
                </a:solidFill>
                <a:latin typeface="Arial" pitchFamily="34" charset="0"/>
                <a:ea typeface="Arial" pitchFamily="34" charset="-122"/>
                <a:cs typeface="Arial" pitchFamily="34" charset="-120"/>
              </a:rPr>
              <a:t>Phase 4 (18-24M)</a:t>
            </a:r>
            <a:endParaRPr lang="en-US" sz="900" dirty="0"/>
          </a:p>
        </p:txBody>
      </p:sp>
      <p:sp>
        <p:nvSpPr>
          <p:cNvPr id="28" name="Text 26"/>
          <p:cNvSpPr/>
          <p:nvPr/>
        </p:nvSpPr>
        <p:spPr>
          <a:xfrm>
            <a:off x="6500081" y="3182112"/>
            <a:ext cx="1773936" cy="182880"/>
          </a:xfrm>
          <a:prstGeom prst="rect">
            <a:avLst/>
          </a:prstGeom>
          <a:noFill/>
          <a:ln/>
        </p:spPr>
        <p:txBody>
          <a:bodyPr wrap="square" rtlCol="0" anchor="ctr"/>
          <a:lstStyle/>
          <a:p>
            <a:pPr marL="0" indent="0">
              <a:buNone/>
            </a:pPr>
            <a:r>
              <a:rPr lang="en-US" sz="800" b="1" dirty="0">
                <a:solidFill>
                  <a:srgbClr val="0B1D35"/>
                </a:solidFill>
                <a:latin typeface="Arial" pitchFamily="34" charset="0"/>
                <a:ea typeface="Arial" pitchFamily="34" charset="-122"/>
                <a:cs typeface="Arial" pitchFamily="34" charset="-120"/>
              </a:rPr>
              <a:t>Scale &amp; Expand</a:t>
            </a:r>
            <a:endParaRPr lang="en-US" sz="800" dirty="0"/>
          </a:p>
        </p:txBody>
      </p:sp>
      <p:sp>
        <p:nvSpPr>
          <p:cNvPr id="29" name="Text 27"/>
          <p:cNvSpPr/>
          <p:nvPr/>
        </p:nvSpPr>
        <p:spPr>
          <a:xfrm>
            <a:off x="6504162" y="3383280"/>
            <a:ext cx="1773936" cy="868680"/>
          </a:xfrm>
          <a:prstGeom prst="rect">
            <a:avLst/>
          </a:prstGeom>
          <a:noFill/>
          <a:ln/>
        </p:spPr>
        <p:txBody>
          <a:bodyPr wrap="square" rtlCol="0" anchor="ctr"/>
          <a:lstStyle/>
          <a:p>
            <a:pPr marL="0" indent="0">
              <a:lnSpc>
                <a:spcPts val="900"/>
              </a:lnSpc>
              <a:buNone/>
            </a:pPr>
            <a:r>
              <a:rPr lang="en-US" sz="750" dirty="0">
                <a:solidFill>
                  <a:srgbClr val="2D3748"/>
                </a:solidFill>
                <a:latin typeface="Arial" pitchFamily="34" charset="0"/>
                <a:ea typeface="Arial" pitchFamily="34" charset="-122"/>
                <a:cs typeface="Arial" pitchFamily="34" charset="-120"/>
              </a:rPr>
              <a:t>Multi-site rollout, WhatsApp integration, dealer stock automation, ML demand forecasting.</a:t>
            </a:r>
            <a:endParaRPr lang="en-US" sz="7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250" fill="hold"/>
                                        <p:tgtEl>
                                          <p:spTgt spid="11"/>
                                        </p:tgtEl>
                                        <p:attrNameLst>
                                          <p:attrName>ppt_w</p:attrName>
                                        </p:attrNameLst>
                                      </p:cBhvr>
                                      <p:tavLst>
                                        <p:tav tm="0">
                                          <p:val>
                                            <p:fltVal val="0"/>
                                          </p:val>
                                        </p:tav>
                                        <p:tav tm="100000">
                                          <p:val>
                                            <p:strVal val="#ppt_w"/>
                                          </p:val>
                                        </p:tav>
                                      </p:tavLst>
                                    </p:anim>
                                    <p:anim calcmode="lin" valueType="num">
                                      <p:cBhvr>
                                        <p:cTn id="8" dur="250" fill="hold"/>
                                        <p:tgtEl>
                                          <p:spTgt spid="11"/>
                                        </p:tgtEl>
                                        <p:attrNameLst>
                                          <p:attrName>ppt_h</p:attrName>
                                        </p:attrNameLst>
                                      </p:cBhvr>
                                      <p:tavLst>
                                        <p:tav tm="0">
                                          <p:val>
                                            <p:fltVal val="0"/>
                                          </p:val>
                                        </p:tav>
                                        <p:tav tm="100000">
                                          <p:val>
                                            <p:strVal val="#ppt_h"/>
                                          </p:val>
                                        </p:tav>
                                      </p:tavLst>
                                    </p:anim>
                                    <p:animEffect transition="in" filter="fade">
                                      <p:cBhvr>
                                        <p:cTn id="9" dur="250"/>
                                        <p:tgtEl>
                                          <p:spTgt spid="11"/>
                                        </p:tgtEl>
                                      </p:cBhvr>
                                    </p:animEffect>
                                  </p:childTnLst>
                                </p:cTn>
                              </p:par>
                            </p:childTnLst>
                          </p:cTn>
                        </p:par>
                        <p:par>
                          <p:cTn id="10" fill="hold">
                            <p:stCondLst>
                              <p:cond delay="250"/>
                            </p:stCondLst>
                            <p:childTnLst>
                              <p:par>
                                <p:cTn id="11" presetID="53" presetClass="entr" presetSubtype="16"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250" fill="hold"/>
                                        <p:tgtEl>
                                          <p:spTgt spid="16"/>
                                        </p:tgtEl>
                                        <p:attrNameLst>
                                          <p:attrName>ppt_w</p:attrName>
                                        </p:attrNameLst>
                                      </p:cBhvr>
                                      <p:tavLst>
                                        <p:tav tm="0">
                                          <p:val>
                                            <p:fltVal val="0"/>
                                          </p:val>
                                        </p:tav>
                                        <p:tav tm="100000">
                                          <p:val>
                                            <p:strVal val="#ppt_w"/>
                                          </p:val>
                                        </p:tav>
                                      </p:tavLst>
                                    </p:anim>
                                    <p:anim calcmode="lin" valueType="num">
                                      <p:cBhvr>
                                        <p:cTn id="14" dur="250" fill="hold"/>
                                        <p:tgtEl>
                                          <p:spTgt spid="16"/>
                                        </p:tgtEl>
                                        <p:attrNameLst>
                                          <p:attrName>ppt_h</p:attrName>
                                        </p:attrNameLst>
                                      </p:cBhvr>
                                      <p:tavLst>
                                        <p:tav tm="0">
                                          <p:val>
                                            <p:fltVal val="0"/>
                                          </p:val>
                                        </p:tav>
                                        <p:tav tm="100000">
                                          <p:val>
                                            <p:strVal val="#ppt_h"/>
                                          </p:val>
                                        </p:tav>
                                      </p:tavLst>
                                    </p:anim>
                                    <p:animEffect transition="in" filter="fade">
                                      <p:cBhvr>
                                        <p:cTn id="15" dur="250"/>
                                        <p:tgtEl>
                                          <p:spTgt spid="16"/>
                                        </p:tgtEl>
                                      </p:cBhvr>
                                    </p:animEffect>
                                  </p:childTnLst>
                                </p:cTn>
                              </p:par>
                            </p:childTnLst>
                          </p:cTn>
                        </p:par>
                        <p:par>
                          <p:cTn id="16" fill="hold">
                            <p:stCondLst>
                              <p:cond delay="500"/>
                            </p:stCondLst>
                            <p:childTnLst>
                              <p:par>
                                <p:cTn id="17" presetID="53" presetClass="entr" presetSubtype="16"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250" fill="hold"/>
                                        <p:tgtEl>
                                          <p:spTgt spid="21"/>
                                        </p:tgtEl>
                                        <p:attrNameLst>
                                          <p:attrName>ppt_w</p:attrName>
                                        </p:attrNameLst>
                                      </p:cBhvr>
                                      <p:tavLst>
                                        <p:tav tm="0">
                                          <p:val>
                                            <p:fltVal val="0"/>
                                          </p:val>
                                        </p:tav>
                                        <p:tav tm="100000">
                                          <p:val>
                                            <p:strVal val="#ppt_w"/>
                                          </p:val>
                                        </p:tav>
                                      </p:tavLst>
                                    </p:anim>
                                    <p:anim calcmode="lin" valueType="num">
                                      <p:cBhvr>
                                        <p:cTn id="20" dur="250" fill="hold"/>
                                        <p:tgtEl>
                                          <p:spTgt spid="21"/>
                                        </p:tgtEl>
                                        <p:attrNameLst>
                                          <p:attrName>ppt_h</p:attrName>
                                        </p:attrNameLst>
                                      </p:cBhvr>
                                      <p:tavLst>
                                        <p:tav tm="0">
                                          <p:val>
                                            <p:fltVal val="0"/>
                                          </p:val>
                                        </p:tav>
                                        <p:tav tm="100000">
                                          <p:val>
                                            <p:strVal val="#ppt_h"/>
                                          </p:val>
                                        </p:tav>
                                      </p:tavLst>
                                    </p:anim>
                                    <p:animEffect transition="in" filter="fade">
                                      <p:cBhvr>
                                        <p:cTn id="21" dur="250"/>
                                        <p:tgtEl>
                                          <p:spTgt spid="21"/>
                                        </p:tgtEl>
                                      </p:cBhvr>
                                    </p:animEffect>
                                  </p:childTnLst>
                                </p:cTn>
                              </p:par>
                            </p:childTnLst>
                          </p:cTn>
                        </p:par>
                        <p:par>
                          <p:cTn id="22" fill="hold">
                            <p:stCondLst>
                              <p:cond delay="750"/>
                            </p:stCondLst>
                            <p:childTnLst>
                              <p:par>
                                <p:cTn id="23" presetID="53" presetClass="entr" presetSubtype="16" fill="hold" nodeType="after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p:cTn id="25" dur="250" fill="hold"/>
                                        <p:tgtEl>
                                          <p:spTgt spid="26"/>
                                        </p:tgtEl>
                                        <p:attrNameLst>
                                          <p:attrName>ppt_w</p:attrName>
                                        </p:attrNameLst>
                                      </p:cBhvr>
                                      <p:tavLst>
                                        <p:tav tm="0">
                                          <p:val>
                                            <p:fltVal val="0"/>
                                          </p:val>
                                        </p:tav>
                                        <p:tav tm="100000">
                                          <p:val>
                                            <p:strVal val="#ppt_w"/>
                                          </p:val>
                                        </p:tav>
                                      </p:tavLst>
                                    </p:anim>
                                    <p:anim calcmode="lin" valueType="num">
                                      <p:cBhvr>
                                        <p:cTn id="26" dur="250" fill="hold"/>
                                        <p:tgtEl>
                                          <p:spTgt spid="26"/>
                                        </p:tgtEl>
                                        <p:attrNameLst>
                                          <p:attrName>ppt_h</p:attrName>
                                        </p:attrNameLst>
                                      </p:cBhvr>
                                      <p:tavLst>
                                        <p:tav tm="0">
                                          <p:val>
                                            <p:fltVal val="0"/>
                                          </p:val>
                                        </p:tav>
                                        <p:tav tm="100000">
                                          <p:val>
                                            <p:strVal val="#ppt_h"/>
                                          </p:val>
                                        </p:tav>
                                      </p:tavLst>
                                    </p:anim>
                                    <p:animEffect transition="in" filter="fade">
                                      <p:cBhvr>
                                        <p:cTn id="27" dur="2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8220"/>
          </a:solidFill>
          <a:ln w="12700">
            <a:solidFill>
              <a:srgbClr val="F58220"/>
            </a:solidFill>
            <a:prstDash val="solid"/>
          </a:ln>
        </p:spPr>
      </p:sp>
      <p:sp>
        <p:nvSpPr>
          <p:cNvPr id="3" name="Text 1"/>
          <p:cNvSpPr/>
          <p:nvPr/>
        </p:nvSpPr>
        <p:spPr>
          <a:xfrm>
            <a:off x="457200" y="201168"/>
            <a:ext cx="6858000" cy="438912"/>
          </a:xfrm>
          <a:prstGeom prst="rect">
            <a:avLst/>
          </a:prstGeom>
          <a:noFill/>
          <a:ln/>
        </p:spPr>
        <p:txBody>
          <a:bodyPr wrap="square" rtlCol="0" anchor="ctr"/>
          <a:lstStyle/>
          <a:p>
            <a:pPr marL="0" indent="0">
              <a:buNone/>
            </a:pPr>
            <a:r>
              <a:rPr lang="en-US" sz="2000" b="1" dirty="0">
                <a:solidFill>
                  <a:srgbClr val="0B1D35"/>
                </a:solidFill>
                <a:latin typeface="Arial" pitchFamily="34" charset="0"/>
                <a:ea typeface="Arial" pitchFamily="34" charset="-122"/>
                <a:cs typeface="Arial" pitchFamily="34" charset="-120"/>
              </a:rPr>
              <a:t>Risk Framework &amp; Project Reflections</a:t>
            </a:r>
            <a:endParaRPr lang="en-US" sz="2000" dirty="0"/>
          </a:p>
        </p:txBody>
      </p:sp>
      <p:sp>
        <p:nvSpPr>
          <p:cNvPr id="4" name="Text 2"/>
          <p:cNvSpPr/>
          <p:nvPr/>
        </p:nvSpPr>
        <p:spPr>
          <a:xfrm>
            <a:off x="6400800" y="228600"/>
            <a:ext cx="2560320" cy="182880"/>
          </a:xfrm>
          <a:prstGeom prst="rect">
            <a:avLst/>
          </a:prstGeom>
          <a:noFill/>
          <a:ln/>
        </p:spPr>
        <p:txBody>
          <a:bodyPr wrap="square" rtlCol="0" anchor="ctr"/>
          <a:lstStyle/>
          <a:p>
            <a:pPr marL="0" indent="0" algn="r">
              <a:buNone/>
            </a:pPr>
            <a:r>
              <a:rPr lang="en-US" sz="800" b="1" dirty="0">
                <a:solidFill>
                  <a:srgbClr val="3EA6FF"/>
                </a:solidFill>
                <a:latin typeface="Arial" pitchFamily="34" charset="0"/>
                <a:ea typeface="Arial" pitchFamily="34" charset="-122"/>
                <a:cs typeface="Arial" pitchFamily="34" charset="-120"/>
              </a:rPr>
              <a:t>GOVERNANCE</a:t>
            </a:r>
            <a:endParaRPr lang="en-US" sz="800" dirty="0"/>
          </a:p>
        </p:txBody>
      </p:sp>
      <p:sp>
        <p:nvSpPr>
          <p:cNvPr id="5" name="Shape 3"/>
          <p:cNvSpPr/>
          <p:nvPr/>
        </p:nvSpPr>
        <p:spPr>
          <a:xfrm>
            <a:off x="457200" y="685800"/>
            <a:ext cx="8229600" cy="13716"/>
          </a:xfrm>
          <a:prstGeom prst="rect">
            <a:avLst/>
          </a:prstGeom>
          <a:solidFill>
            <a:srgbClr val="E2E8F0"/>
          </a:solidFill>
          <a:ln w="12700">
            <a:solidFill>
              <a:srgbClr val="E2E8F0"/>
            </a:solidFill>
            <a:prstDash val="solid"/>
          </a:ln>
        </p:spPr>
      </p:sp>
      <p:sp>
        <p:nvSpPr>
          <p:cNvPr id="6" name="Text 4"/>
          <p:cNvSpPr/>
          <p:nvPr/>
        </p:nvSpPr>
        <p:spPr>
          <a:xfrm>
            <a:off x="457200" y="4846320"/>
            <a:ext cx="6400800" cy="182880"/>
          </a:xfrm>
          <a:prstGeom prst="rect">
            <a:avLst/>
          </a:prstGeom>
          <a:noFill/>
          <a:ln/>
        </p:spPr>
        <p:txBody>
          <a:bodyPr wrap="square" rtlCol="0" anchor="ctr"/>
          <a:lstStyle/>
          <a:p>
            <a:pPr marL="0" indent="0">
              <a:buNone/>
            </a:pPr>
            <a:r>
              <a:rPr lang="en-US" sz="700" dirty="0">
                <a:solidFill>
                  <a:srgbClr val="64748B"/>
                </a:solidFill>
                <a:latin typeface="Arial" pitchFamily="34" charset="0"/>
                <a:ea typeface="Arial" pitchFamily="34" charset="-122"/>
                <a:cs typeface="Arial" pitchFamily="34" charset="-120"/>
              </a:rPr>
              <a:t>TATA MOTORS  |  Integrated Operations Analysis  |  May 2026</a:t>
            </a:r>
            <a:endParaRPr lang="en-US" sz="700" dirty="0"/>
          </a:p>
        </p:txBody>
      </p:sp>
      <p:sp>
        <p:nvSpPr>
          <p:cNvPr id="7" name="Text 5"/>
          <p:cNvSpPr/>
          <p:nvPr/>
        </p:nvSpPr>
        <p:spPr>
          <a:xfrm>
            <a:off x="7772400" y="4846320"/>
            <a:ext cx="914400" cy="182880"/>
          </a:xfrm>
          <a:prstGeom prst="rect">
            <a:avLst/>
          </a:prstGeom>
          <a:noFill/>
          <a:ln/>
        </p:spPr>
        <p:txBody>
          <a:bodyPr wrap="square" rtlCol="0" anchor="ctr"/>
          <a:lstStyle/>
          <a:p>
            <a:pPr marL="0" indent="0" algn="r">
              <a:buNone/>
            </a:pPr>
            <a:r>
              <a:rPr lang="en-US" sz="700" dirty="0">
                <a:solidFill>
                  <a:srgbClr val="64748B"/>
                </a:solidFill>
                <a:latin typeface="Arial" pitchFamily="34" charset="0"/>
                <a:ea typeface="Arial" pitchFamily="34" charset="-122"/>
                <a:cs typeface="Arial" pitchFamily="34" charset="-120"/>
              </a:rPr>
              <a:t>Slide 29</a:t>
            </a:r>
            <a:endParaRPr lang="en-US" sz="700" dirty="0"/>
          </a:p>
        </p:txBody>
      </p:sp>
      <p:sp>
        <p:nvSpPr>
          <p:cNvPr id="8" name="Shape 6"/>
          <p:cNvSpPr/>
          <p:nvPr/>
        </p:nvSpPr>
        <p:spPr>
          <a:xfrm>
            <a:off x="365760" y="868680"/>
            <a:ext cx="4572000" cy="3794760"/>
          </a:xfrm>
          <a:prstGeom prst="roundRect">
            <a:avLst>
              <a:gd name="adj" fmla="val 1446"/>
            </a:avLst>
          </a:prstGeom>
          <a:solidFill>
            <a:srgbClr val="FFFFFF"/>
          </a:solidFill>
          <a:ln w="9525">
            <a:solidFill>
              <a:srgbClr val="E2E8F0"/>
            </a:solidFill>
            <a:prstDash val="solid"/>
          </a:ln>
        </p:spPr>
      </p:sp>
      <p:sp>
        <p:nvSpPr>
          <p:cNvPr id="9" name="Text 7"/>
          <p:cNvSpPr/>
          <p:nvPr/>
        </p:nvSpPr>
        <p:spPr>
          <a:xfrm>
            <a:off x="502920" y="960120"/>
            <a:ext cx="4297680" cy="201168"/>
          </a:xfrm>
          <a:prstGeom prst="rect">
            <a:avLst/>
          </a:prstGeom>
          <a:noFill/>
          <a:ln/>
        </p:spPr>
        <p:txBody>
          <a:bodyPr wrap="square" rtlCol="0" anchor="ctr"/>
          <a:lstStyle/>
          <a:p>
            <a:pPr marL="0" indent="0">
              <a:buNone/>
            </a:pPr>
            <a:r>
              <a:rPr lang="en-US" sz="1100" b="1" dirty="0">
                <a:solidFill>
                  <a:srgbClr val="0B1D35"/>
                </a:solidFill>
                <a:latin typeface="Arial" pitchFamily="34" charset="0"/>
                <a:ea typeface="Arial" pitchFamily="34" charset="-122"/>
                <a:cs typeface="Arial" pitchFamily="34" charset="-120"/>
              </a:rPr>
              <a:t>Risk Mitigation Register</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4297680" cy="3200400"/>
        </p:xfrm>
        <a:graphic>
          <a:graphicData uri="http://schemas.openxmlformats.org/drawingml/2006/table">
            <a:tbl>
              <a:tblPr/>
              <a:tblGrid>
                <a:gridCol w="10972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640080">
                <a:tc>
                  <a:txBody>
                    <a:bodyPr/>
                    <a:lstStyle/>
                    <a:p>
                      <a:pPr marL="0" indent="0">
                        <a:buNone/>
                      </a:pPr>
                      <a:r>
                        <a:rPr lang="en-US" sz="800" b="1" dirty="0">
                          <a:solidFill>
                            <a:srgbClr val="FFFFFF"/>
                          </a:solidFill>
                          <a:latin typeface="Arial" pitchFamily="34" charset="0"/>
                          <a:ea typeface="Arial" pitchFamily="34" charset="-122"/>
                          <a:cs typeface="Arial" pitchFamily="34" charset="-120"/>
                        </a:rPr>
                        <a:t>Risk</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D35"/>
                    </a:solidFill>
                  </a:tcPr>
                </a:tc>
                <a:tc>
                  <a:txBody>
                    <a:bodyPr/>
                    <a:lstStyle/>
                    <a:p>
                      <a:pPr marL="0" indent="0">
                        <a:buNone/>
                      </a:pPr>
                      <a:r>
                        <a:rPr lang="en-US" sz="800" b="1" dirty="0">
                          <a:solidFill>
                            <a:srgbClr val="FFFFFF"/>
                          </a:solidFill>
                          <a:latin typeface="Arial" pitchFamily="34" charset="0"/>
                          <a:ea typeface="Arial" pitchFamily="34" charset="-122"/>
                          <a:cs typeface="Arial" pitchFamily="34" charset="-120"/>
                        </a:rPr>
                        <a:t>Impact</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D35"/>
                    </a:solidFill>
                  </a:tcPr>
                </a:tc>
                <a:tc>
                  <a:txBody>
                    <a:bodyPr/>
                    <a:lstStyle/>
                    <a:p>
                      <a:pPr marL="0" indent="0">
                        <a:buNone/>
                      </a:pPr>
                      <a:r>
                        <a:rPr lang="en-US" sz="800" b="1" dirty="0">
                          <a:solidFill>
                            <a:srgbClr val="FFFFFF"/>
                          </a:solidFill>
                          <a:latin typeface="Arial" pitchFamily="34" charset="0"/>
                          <a:ea typeface="Arial" pitchFamily="34" charset="-122"/>
                          <a:cs typeface="Arial" pitchFamily="34" charset="-120"/>
                        </a:rPr>
                        <a:t>Mitigation</a:t>
                      </a:r>
                      <a:endParaRPr lang="en-US" sz="80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B1D35"/>
                    </a:solidFill>
                  </a:tcPr>
                </a:tc>
                <a:extLst>
                  <a:ext uri="{0D108BD9-81ED-4DB2-BD59-A6C34878D82A}">
                    <a16:rowId xmlns:a16="http://schemas.microsoft.com/office/drawing/2014/main" val="10000"/>
                  </a:ext>
                </a:extLst>
              </a:tr>
              <a:tr h="640080">
                <a:tc>
                  <a:txBody>
                    <a:bodyPr/>
                    <a:lstStyle/>
                    <a:p>
                      <a:pPr marL="0" indent="0">
                        <a:buNone/>
                      </a:pPr>
                      <a:r>
                        <a:rPr lang="en-US" sz="750" dirty="0">
                          <a:solidFill>
                            <a:srgbClr val="000000"/>
                          </a:solidFill>
                          <a:latin typeface="Arial" pitchFamily="34" charset="0"/>
                          <a:ea typeface="Arial" pitchFamily="34" charset="-122"/>
                          <a:cs typeface="Arial" pitchFamily="34" charset="-120"/>
                        </a:rPr>
                        <a:t>High Integration CAPEX</a:t>
                      </a:r>
                      <a:endParaRPr lang="en-US" sz="7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750" dirty="0">
                          <a:solidFill>
                            <a:srgbClr val="000000"/>
                          </a:solidFill>
                          <a:latin typeface="Arial" pitchFamily="34" charset="0"/>
                          <a:ea typeface="Arial" pitchFamily="34" charset="-122"/>
                          <a:cs typeface="Arial" pitchFamily="34" charset="-120"/>
                        </a:rPr>
                        <a:t>Budget spike on sensors &amp; automation</a:t>
                      </a:r>
                      <a:endParaRPr lang="en-US" sz="7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750" dirty="0">
                          <a:solidFill>
                            <a:srgbClr val="000000"/>
                          </a:solidFill>
                          <a:latin typeface="Arial" pitchFamily="34" charset="0"/>
                          <a:ea typeface="Arial" pitchFamily="34" charset="-122"/>
                          <a:cs typeface="Arial" pitchFamily="34" charset="-120"/>
                        </a:rPr>
                        <a:t>Phased 24-month rollout with intermediate ROI milestones</a:t>
                      </a:r>
                      <a:endParaRPr lang="en-US" sz="7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750" dirty="0">
                          <a:solidFill>
                            <a:srgbClr val="000000"/>
                          </a:solidFill>
                          <a:latin typeface="Arial" pitchFamily="34" charset="0"/>
                          <a:ea typeface="Arial" pitchFamily="34" charset="-122"/>
                          <a:cs typeface="Arial" pitchFamily="34" charset="-120"/>
                        </a:rPr>
                        <a:t>Supplier Transition Lags</a:t>
                      </a:r>
                      <a:endParaRPr lang="en-US" sz="7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750" dirty="0">
                          <a:solidFill>
                            <a:srgbClr val="000000"/>
                          </a:solidFill>
                          <a:latin typeface="Arial" pitchFamily="34" charset="0"/>
                          <a:ea typeface="Arial" pitchFamily="34" charset="-122"/>
                          <a:cs typeface="Arial" pitchFamily="34" charset="-120"/>
                        </a:rPr>
                        <a:t>Short-term delivery disruptions</a:t>
                      </a:r>
                      <a:endParaRPr lang="en-US" sz="7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750" dirty="0">
                          <a:solidFill>
                            <a:srgbClr val="000000"/>
                          </a:solidFill>
                          <a:latin typeface="Arial" pitchFamily="34" charset="0"/>
                          <a:ea typeface="Arial" pitchFamily="34" charset="-122"/>
                          <a:cs typeface="Arial" pitchFamily="34" charset="-120"/>
                        </a:rPr>
                        <a:t>Backup fleet SLA agreements for overflow demand</a:t>
                      </a:r>
                      <a:endParaRPr lang="en-US" sz="7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750" dirty="0">
                          <a:solidFill>
                            <a:srgbClr val="000000"/>
                          </a:solidFill>
                          <a:latin typeface="Arial" pitchFamily="34" charset="0"/>
                          <a:ea typeface="Arial" pitchFamily="34" charset="-122"/>
                          <a:cs typeface="Arial" pitchFamily="34" charset="-120"/>
                        </a:rPr>
                        <a:t>Staff Adoption Friction</a:t>
                      </a:r>
                      <a:endParaRPr lang="en-US" sz="7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750" dirty="0">
                          <a:solidFill>
                            <a:srgbClr val="000000"/>
                          </a:solidFill>
                          <a:latin typeface="Arial" pitchFamily="34" charset="0"/>
                          <a:ea typeface="Arial" pitchFamily="34" charset="-122"/>
                          <a:cs typeface="Arial" pitchFamily="34" charset="-120"/>
                        </a:rPr>
                        <a:t>Manual double-work bypassing digital tools</a:t>
                      </a:r>
                      <a:endParaRPr lang="en-US" sz="7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750" dirty="0">
                          <a:solidFill>
                            <a:srgbClr val="000000"/>
                          </a:solidFill>
                          <a:latin typeface="Arial" pitchFamily="34" charset="0"/>
                          <a:ea typeface="Arial" pitchFamily="34" charset="-122"/>
                          <a:cs typeface="Arial" pitchFamily="34" charset="-120"/>
                        </a:rPr>
                        <a:t>Mandatory workshops + n8n email alerts combating dashboard fatigue</a:t>
                      </a:r>
                      <a:endParaRPr lang="en-US" sz="7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buNone/>
                      </a:pPr>
                      <a:r>
                        <a:rPr lang="en-US" sz="750" dirty="0">
                          <a:solidFill>
                            <a:srgbClr val="000000"/>
                          </a:solidFill>
                          <a:latin typeface="Arial" pitchFamily="34" charset="0"/>
                          <a:ea typeface="Arial" pitchFamily="34" charset="-122"/>
                          <a:cs typeface="Arial" pitchFamily="34" charset="-120"/>
                        </a:rPr>
                        <a:t>Data Quality Drift</a:t>
                      </a:r>
                      <a:endParaRPr lang="en-US" sz="7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750" dirty="0">
                          <a:solidFill>
                            <a:srgbClr val="000000"/>
                          </a:solidFill>
                          <a:latin typeface="Arial" pitchFamily="34" charset="0"/>
                          <a:ea typeface="Arial" pitchFamily="34" charset="-122"/>
                          <a:cs typeface="Arial" pitchFamily="34" charset="-120"/>
                        </a:rPr>
                        <a:t>Inconsistent records corrupting analytics</a:t>
                      </a:r>
                      <a:endParaRPr lang="en-US" sz="7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750" dirty="0">
                          <a:solidFill>
                            <a:srgbClr val="000000"/>
                          </a:solidFill>
                          <a:latin typeface="Arial" pitchFamily="34" charset="0"/>
                          <a:ea typeface="Arial" pitchFamily="34" charset="-122"/>
                          <a:cs typeface="Arial" pitchFamily="34" charset="-120"/>
                        </a:rPr>
                        <a:t>Automated ETL validation checks + weekly data audits</a:t>
                      </a:r>
                      <a:endParaRPr lang="en-US" sz="750" dirty="0">
                        <a:latin typeface="Arial" charset="0"/>
                        <a:ea typeface="Arial" charset="0"/>
                        <a:cs typeface="Arial"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Shape 8"/>
          <p:cNvSpPr/>
          <p:nvPr/>
        </p:nvSpPr>
        <p:spPr>
          <a:xfrm>
            <a:off x="5074920" y="868680"/>
            <a:ext cx="3657600" cy="3794760"/>
          </a:xfrm>
          <a:prstGeom prst="roundRect">
            <a:avLst>
              <a:gd name="adj" fmla="val 1500"/>
            </a:avLst>
          </a:prstGeom>
          <a:solidFill>
            <a:srgbClr val="FFFFFF"/>
          </a:solidFill>
          <a:ln w="9525">
            <a:solidFill>
              <a:srgbClr val="E2E8F0"/>
            </a:solidFill>
            <a:prstDash val="solid"/>
          </a:ln>
        </p:spPr>
      </p:sp>
      <p:sp>
        <p:nvSpPr>
          <p:cNvPr id="12" name="Text 9"/>
          <p:cNvSpPr/>
          <p:nvPr/>
        </p:nvSpPr>
        <p:spPr>
          <a:xfrm>
            <a:off x="5212080" y="960120"/>
            <a:ext cx="3383280" cy="201168"/>
          </a:xfrm>
          <a:prstGeom prst="rect">
            <a:avLst/>
          </a:prstGeom>
          <a:noFill/>
          <a:ln/>
        </p:spPr>
        <p:txBody>
          <a:bodyPr wrap="square" rtlCol="0" anchor="ctr"/>
          <a:lstStyle/>
          <a:p>
            <a:pPr marL="0" indent="0">
              <a:buNone/>
            </a:pPr>
            <a:r>
              <a:rPr lang="en-US" sz="1100" b="1" dirty="0">
                <a:solidFill>
                  <a:srgbClr val="0B1D35"/>
                </a:solidFill>
                <a:latin typeface="Arial" pitchFamily="34" charset="0"/>
                <a:ea typeface="Arial" pitchFamily="34" charset="-122"/>
                <a:cs typeface="Arial" pitchFamily="34" charset="-120"/>
              </a:rPr>
              <a:t>Project Reflections</a:t>
            </a:r>
            <a:endParaRPr lang="en-US" sz="1100" dirty="0"/>
          </a:p>
        </p:txBody>
      </p:sp>
      <p:sp>
        <p:nvSpPr>
          <p:cNvPr id="13" name="Text 10"/>
          <p:cNvSpPr/>
          <p:nvPr/>
        </p:nvSpPr>
        <p:spPr>
          <a:xfrm>
            <a:off x="5212080" y="1234440"/>
            <a:ext cx="3383280" cy="3291840"/>
          </a:xfrm>
          <a:prstGeom prst="rect">
            <a:avLst/>
          </a:prstGeom>
          <a:noFill/>
          <a:ln/>
        </p:spPr>
        <p:txBody>
          <a:bodyPr wrap="square" rtlCol="0" anchor="ctr"/>
          <a:lstStyle/>
          <a:p>
            <a:pPr marL="0" indent="0">
              <a:lnSpc>
                <a:spcPts val="1100"/>
              </a:lnSpc>
              <a:buNone/>
            </a:pPr>
            <a:r>
              <a:rPr lang="en-US" sz="900" b="1" dirty="0">
                <a:solidFill>
                  <a:srgbClr val="3EA6FF"/>
                </a:solidFill>
                <a:latin typeface="Arial" pitchFamily="34" charset="0"/>
                <a:ea typeface="Arial" pitchFamily="34" charset="-122"/>
                <a:cs typeface="Arial" pitchFamily="34" charset="-120"/>
              </a:rPr>
              <a:t>• Unified Pipeline Value
</a:t>
            </a:r>
            <a:r>
              <a:rPr lang="en-US" sz="900" dirty="0">
                <a:solidFill>
                  <a:srgbClr val="2D3748"/>
                </a:solidFill>
                <a:latin typeface="Arial" pitchFamily="34" charset="0"/>
                <a:ea typeface="Arial" pitchFamily="34" charset="-122"/>
                <a:cs typeface="Arial" pitchFamily="34" charset="-120"/>
              </a:rPr>
              <a:t>Integrating PostgreSQL, Excel, and Power BI into a single pipeline accelerates operational reporting dramatically.
</a:t>
            </a:r>
            <a:r>
              <a:rPr lang="en-US" sz="900" b="1" dirty="0">
                <a:solidFill>
                  <a:srgbClr val="F58220"/>
                </a:solidFill>
                <a:latin typeface="Arial" pitchFamily="34" charset="0"/>
                <a:ea typeface="Arial" pitchFamily="34" charset="-122"/>
                <a:cs typeface="Arial" pitchFamily="34" charset="-120"/>
              </a:rPr>
              <a:t>• Actionable AI
</a:t>
            </a:r>
            <a:r>
              <a:rPr lang="en-US" sz="900" dirty="0">
                <a:solidFill>
                  <a:srgbClr val="2D3748"/>
                </a:solidFill>
                <a:latin typeface="Arial" pitchFamily="34" charset="0"/>
                <a:ea typeface="Arial" pitchFamily="34" charset="-122"/>
                <a:cs typeface="Arial" pitchFamily="34" charset="-120"/>
              </a:rPr>
              <a:t>GenAI translating database states into clear text alerts bridges the gap for non-technical teams.
</a:t>
            </a:r>
            <a:r>
              <a:rPr lang="en-US" sz="900" b="1" dirty="0">
                <a:solidFill>
                  <a:srgbClr val="10B981"/>
                </a:solidFill>
                <a:latin typeface="Arial" pitchFamily="34" charset="0"/>
                <a:ea typeface="Arial" pitchFamily="34" charset="-122"/>
                <a:cs typeface="Arial" pitchFamily="34" charset="-120"/>
              </a:rPr>
              <a:t>• Schema-First Design
</a:t>
            </a:r>
            <a:r>
              <a:rPr lang="en-US" sz="900" dirty="0">
                <a:solidFill>
                  <a:srgbClr val="2D3748"/>
                </a:solidFill>
                <a:latin typeface="Arial" pitchFamily="34" charset="0"/>
                <a:ea typeface="Arial" pitchFamily="34" charset="-122"/>
                <a:cs typeface="Arial" pitchFamily="34" charset="-120"/>
              </a:rPr>
              <a:t>Enforcing relational constraints early keeps the system stable as data volume grows.
</a:t>
            </a:r>
            <a:r>
              <a:rPr lang="en-US" sz="900" b="1" dirty="0">
                <a:solidFill>
                  <a:srgbClr val="2D3748"/>
                </a:solidFill>
                <a:latin typeface="Arial" pitchFamily="34" charset="0"/>
                <a:ea typeface="Arial" pitchFamily="34" charset="-122"/>
                <a:cs typeface="Arial" pitchFamily="34" charset="-120"/>
              </a:rPr>
              <a:t>• ETL Resilience
</a:t>
            </a:r>
            <a:r>
              <a:rPr lang="en-US" sz="900" dirty="0">
                <a:solidFill>
                  <a:srgbClr val="2D3748"/>
                </a:solidFill>
                <a:latin typeface="Arial" pitchFamily="34" charset="0"/>
                <a:ea typeface="Arial" pitchFamily="34" charset="-122"/>
                <a:cs typeface="Arial" pitchFamily="34" charset="-120"/>
              </a:rPr>
              <a:t>Rollback checkpoints and NULLIF safeguards prevent data corruption during transformations.</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0B1D35"/>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F58220"/>
          </a:solidFill>
          <a:ln w="12700">
            <a:solidFill>
              <a:srgbClr val="F58220"/>
            </a:solidFill>
            <a:prstDash val="solid"/>
          </a:ln>
        </p:spPr>
      </p:sp>
      <p:sp>
        <p:nvSpPr>
          <p:cNvPr id="3" name="Shape 1"/>
          <p:cNvSpPr/>
          <p:nvPr/>
        </p:nvSpPr>
        <p:spPr>
          <a:xfrm>
            <a:off x="0" y="0"/>
            <a:ext cx="9144000" cy="54864"/>
          </a:xfrm>
          <a:prstGeom prst="rect">
            <a:avLst/>
          </a:prstGeom>
          <a:solidFill>
            <a:srgbClr val="F58220"/>
          </a:solidFill>
          <a:ln w="12700">
            <a:solidFill>
              <a:srgbClr val="F58220"/>
            </a:solidFill>
            <a:prstDash val="solid"/>
          </a:ln>
        </p:spPr>
      </p:sp>
      <p:sp>
        <p:nvSpPr>
          <p:cNvPr id="4" name="Text 2"/>
          <p:cNvSpPr/>
          <p:nvPr/>
        </p:nvSpPr>
        <p:spPr>
          <a:xfrm>
            <a:off x="731520" y="1371600"/>
            <a:ext cx="7772400" cy="640080"/>
          </a:xfrm>
          <a:prstGeom prst="rect">
            <a:avLst/>
          </a:prstGeom>
          <a:noFill/>
          <a:ln/>
        </p:spPr>
        <p:txBody>
          <a:bodyPr wrap="square" rtlCol="0" anchor="ctr"/>
          <a:lstStyle/>
          <a:p>
            <a:pPr marL="0" indent="0">
              <a:buNone/>
            </a:pPr>
            <a:r>
              <a:rPr lang="en-US" sz="3600" b="1" dirty="0">
                <a:solidFill>
                  <a:srgbClr val="FFFFFF"/>
                </a:solidFill>
                <a:latin typeface="Arial" pitchFamily="34" charset="0"/>
                <a:ea typeface="Arial" pitchFamily="34" charset="-122"/>
                <a:cs typeface="Arial" pitchFamily="34" charset="-120"/>
              </a:rPr>
              <a:t>THANK YOU</a:t>
            </a:r>
            <a:endParaRPr lang="en-US" sz="3600" dirty="0"/>
          </a:p>
        </p:txBody>
      </p:sp>
      <p:sp>
        <p:nvSpPr>
          <p:cNvPr id="5" name="Shape 3"/>
          <p:cNvSpPr/>
          <p:nvPr/>
        </p:nvSpPr>
        <p:spPr>
          <a:xfrm>
            <a:off x="731520" y="2103120"/>
            <a:ext cx="1828800" cy="36576"/>
          </a:xfrm>
          <a:prstGeom prst="rect">
            <a:avLst/>
          </a:prstGeom>
          <a:solidFill>
            <a:srgbClr val="F58220"/>
          </a:solidFill>
          <a:ln w="12700">
            <a:solidFill>
              <a:srgbClr val="F58220"/>
            </a:solidFill>
            <a:prstDash val="solid"/>
          </a:ln>
        </p:spPr>
      </p:sp>
      <p:sp>
        <p:nvSpPr>
          <p:cNvPr id="6" name="Text 4"/>
          <p:cNvSpPr/>
          <p:nvPr/>
        </p:nvSpPr>
        <p:spPr>
          <a:xfrm>
            <a:off x="731520" y="2377440"/>
            <a:ext cx="7315200" cy="1828800"/>
          </a:xfrm>
          <a:prstGeom prst="rect">
            <a:avLst/>
          </a:prstGeom>
          <a:noFill/>
          <a:ln/>
        </p:spPr>
        <p:txBody>
          <a:bodyPr wrap="square" rtlCol="0" anchor="ctr"/>
          <a:lstStyle/>
          <a:p>
            <a:pPr marL="0" indent="0">
              <a:lnSpc>
                <a:spcPts val="1600"/>
              </a:lnSpc>
              <a:buNone/>
            </a:pPr>
            <a:r>
              <a:rPr lang="en-US" sz="1200" dirty="0">
                <a:solidFill>
                  <a:srgbClr val="3EA6FF"/>
                </a:solidFill>
                <a:latin typeface="Arial" pitchFamily="34" charset="0"/>
                <a:ea typeface="Arial" pitchFamily="34" charset="-122"/>
                <a:cs typeface="Arial" pitchFamily="34" charset="-120"/>
              </a:rPr>
              <a:t>Questions &amp; Discussion</a:t>
            </a:r>
            <a:endParaRPr lang="en-US" sz="1200" dirty="0"/>
          </a:p>
          <a:p>
            <a:pPr marL="0" indent="0">
              <a:lnSpc>
                <a:spcPts val="1600"/>
              </a:lnSpc>
              <a:buNone/>
            </a:pPr>
            <a:endParaRPr lang="en-US" sz="1200" dirty="0"/>
          </a:p>
          <a:p>
            <a:pPr marL="0" indent="0">
              <a:lnSpc>
                <a:spcPts val="1600"/>
              </a:lnSpc>
              <a:buNone/>
            </a:pPr>
            <a:r>
              <a:rPr lang="en-US" sz="1200" dirty="0">
                <a:solidFill>
                  <a:srgbClr val="3EA6FF"/>
                </a:solidFill>
                <a:latin typeface="Arial" pitchFamily="34" charset="0"/>
                <a:ea typeface="Arial" pitchFamily="34" charset="-122"/>
                <a:cs typeface="Arial" pitchFamily="34" charset="-120"/>
              </a:rPr>
              <a:t>Team: Husnain Khan  ·  Neha Lahene  ·  Nithin V Anil  ·  Ruchi Nailwal  ·  Sachin Singh  ·  Sayeed Ahmed</a:t>
            </a:r>
            <a:endParaRPr lang="en-US" sz="1200" dirty="0"/>
          </a:p>
          <a:p>
            <a:pPr marL="0" indent="0">
              <a:lnSpc>
                <a:spcPts val="1600"/>
              </a:lnSpc>
              <a:buNone/>
            </a:pPr>
            <a:r>
              <a:rPr lang="en-US" sz="1200" dirty="0">
                <a:solidFill>
                  <a:srgbClr val="3EA6FF"/>
                </a:solidFill>
                <a:latin typeface="Arial" pitchFamily="34" charset="0"/>
                <a:ea typeface="Arial" pitchFamily="34" charset="-122"/>
                <a:cs typeface="Arial" pitchFamily="34" charset="-120"/>
              </a:rPr>
              <a:t>Tata Motors Integrated Operations Analysis</a:t>
            </a:r>
            <a:endParaRPr lang="en-US" sz="1200" dirty="0"/>
          </a:p>
          <a:p>
            <a:pPr marL="0" indent="0">
              <a:lnSpc>
                <a:spcPts val="1600"/>
              </a:lnSpc>
              <a:buNone/>
            </a:pPr>
            <a:r>
              <a:rPr lang="en-US" sz="1200" dirty="0">
                <a:solidFill>
                  <a:srgbClr val="3EA6FF"/>
                </a:solidFill>
                <a:latin typeface="Arial" pitchFamily="34" charset="0"/>
                <a:ea typeface="Arial" pitchFamily="34" charset="-122"/>
                <a:cs typeface="Arial" pitchFamily="34" charset="-120"/>
              </a:rPr>
              <a:t>May 2026</a:t>
            </a:r>
            <a:endParaRPr lang="en-US" sz="1200" dirty="0"/>
          </a:p>
        </p:txBody>
      </p:sp>
      <p:sp>
        <p:nvSpPr>
          <p:cNvPr id="7" name="Text 5"/>
          <p:cNvSpPr/>
          <p:nvPr/>
        </p:nvSpPr>
        <p:spPr>
          <a:xfrm>
            <a:off x="731520" y="4572000"/>
            <a:ext cx="7315200" cy="228600"/>
          </a:xfrm>
          <a:prstGeom prst="rect">
            <a:avLst/>
          </a:prstGeom>
          <a:noFill/>
          <a:ln/>
        </p:spPr>
        <p:txBody>
          <a:bodyPr wrap="square" rtlCol="0" anchor="ctr"/>
          <a:lstStyle/>
          <a:p>
            <a:pPr marL="0" indent="0">
              <a:buNone/>
            </a:pPr>
            <a:r>
              <a:rPr lang="en-US" sz="800" b="1" dirty="0">
                <a:solidFill>
                  <a:srgbClr val="64748B"/>
                </a:solidFill>
                <a:latin typeface="Arial" pitchFamily="34" charset="0"/>
                <a:ea typeface="Arial" pitchFamily="34" charset="-122"/>
                <a:cs typeface="Arial" pitchFamily="34" charset="-120"/>
              </a:rPr>
              <a:t>DOMAIN: MANUFACTURING &amp; LOGISTICS  |  DA05 PROJECT</a:t>
            </a:r>
            <a:endParaRPr lang="en-US" sz="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298</TotalTime>
  <Words>6343</Words>
  <Application>Microsoft Office PowerPoint</Application>
  <PresentationFormat>On-screen Show (16:9)</PresentationFormat>
  <Paragraphs>522</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Sayeed Ahmed</cp:lastModifiedBy>
  <cp:revision>6</cp:revision>
  <dcterms:created xsi:type="dcterms:W3CDTF">2026-05-29T06:35:34Z</dcterms:created>
  <dcterms:modified xsi:type="dcterms:W3CDTF">2026-05-29T11:42:06Z</dcterms:modified>
</cp:coreProperties>
</file>